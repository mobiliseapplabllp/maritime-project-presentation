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This presentation covers what the portal is for, the twelve modules and what each one delivers, a simple process flow for every module, and then the technical section — stack, architecture, environments and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One system for the whole port, replacing scattered registers and calls; live visibility for management; statutory routine standardised; and the port stays in control of its own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Twelve applications behind one launcher. Each person sees only the ones their role allows. The next slides take each module — what is delivered, then its process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Command Centre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Harbour Operations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Fleet Manager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Crew &amp; Manning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Notices &amp; Circulars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Incident Desk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Survey &amp; Audit Cell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Port Companies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Revenue &amp; Billing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MIS Reports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Data Studio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Administration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mainstream, hiring-friendly stack — React with Material UI in front, Node and Express APIs, MongoDB behind, all containerised with Docker. The AI assistant uses Anthropic Claude, and the model is switchable from admin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clean three-tier separation. The browser talks only to the API; the API enforces identity and permissions on every request; only the API touches the database. Each tier scales and is secured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Three separated environments. Work happens in Dev, the port accepts releases in UAT, and only signed-off builds are promoted to Production. The same container image moves through all three, so there are no surprises at go-live.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Security is designed in, not added later — deny-by-default permissions, hashed credentials, audited actions. Vulnerability assessment and penetration testing against the OWASP Top 10 closed with zero open vulnerabilities.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assistant is useful and safe: it answers only from the port’s own data, shows its source screen, and the admin controls the model, the budget, and the on/off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delivery in numbers — twelve modules, forty-eight-plus screens, twenty-four reports, nineteen masters, RBAC with twelve roles, and a hundred and twenty-eight seeded users. Everything exportable, everything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Thank you. The whole portal runs on one laptop — happy to do a live walkthrough with your team whenever convenient.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3" name="Image 0" descr="/home/user/maritime-project-presentation/build/assets/ada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548640"/>
            <a:ext cx="1728216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280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Mundra Port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Portal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· Modules &amp; functionality delivered · Process flows · Technology, architecture &amp; security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300" dirty="0"/>
          </a:p>
        </p:txBody>
      </p:sp>
      <p:pic>
        <p:nvPicPr>
          <p:cNvPr id="8" name="Image 1" descr="/home/user/maritime-project-presentation/build/assets/mobilise-bad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8064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57607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App Lab</a:t>
            </a:r>
            <a:pPr indent="0" marL="0">
              <a:buNone/>
            </a:pPr>
            <a:r>
              <a:rPr lang="en-US" sz="1000" dirty="0">
                <a:solidFill>
                  <a:srgbClr val="7F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mobilise.co.in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PORTAL EXISTS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600200"/>
            <a:ext cx="10728655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port’s daily work — vessels, berths, crew, incidents, inspections, companies and billing — into one system with one login.</a:t>
            </a:r>
            <a:endParaRPr lang="en-US" sz="18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registers, spreadsheets and phone-call coordination with structured workflows and a single source of truth.</a:t>
            </a:r>
            <a:endParaRPr lang="en-US" sz="18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management a live picture: berth occupancy, traffic, cargo, safety response and revenue on one screen.</a:t>
            </a:r>
            <a:endParaRPr lang="en-US" sz="18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statutory routine — the daily berthing report, notices with acknowledgments, survey checklists, GST invoices.</a:t>
            </a:r>
            <a:endParaRPr lang="en-US" sz="18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port in control of its own system: masters, settings, roles and reports are managed by port staff, not the vendor.</a:t>
            </a:r>
            <a:endParaRPr lang="en-US" sz="18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8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grounded AI assistant that answers from the port’s own records.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PORTAL · TWELVE APPLICATIONS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delivered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481328"/>
            <a:ext cx="82296" cy="1261872"/>
          </a:xfrm>
          <a:prstGeom prst="rect">
            <a:avLst/>
          </a:prstGeom>
          <a:solidFill>
            <a:srgbClr val="0B74B0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591056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1956816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KPIs, berth board and charts the moment you sign 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3938" y="1481328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3938" y="1481328"/>
            <a:ext cx="82296" cy="1261872"/>
          </a:xfrm>
          <a:prstGeom prst="rect">
            <a:avLst/>
          </a:prstGeom>
          <a:solidFill>
            <a:srgbClr val="0797A5"/>
          </a:solidFill>
          <a:ln/>
        </p:spPr>
      </p:sp>
      <p:sp>
        <p:nvSpPr>
          <p:cNvPr id="11" name="Text 9"/>
          <p:cNvSpPr/>
          <p:nvPr/>
        </p:nvSpPr>
        <p:spPr>
          <a:xfrm>
            <a:off x="4585106" y="1591056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Harbour Operations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5106" y="1956816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calls end-to-end — VCN to sailing, berth planning, live traffic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3517" y="1481328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3517" y="1481328"/>
            <a:ext cx="82296" cy="1261872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15" name="Text 13"/>
          <p:cNvSpPr/>
          <p:nvPr/>
        </p:nvSpPr>
        <p:spPr>
          <a:xfrm>
            <a:off x="8374685" y="1591056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74685" y="1956816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registry, certificates, voyages and risk profiles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2889504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" y="2889504"/>
            <a:ext cx="82296" cy="1261872"/>
          </a:xfrm>
          <a:prstGeom prst="rect">
            <a:avLst/>
          </a:prstGeom>
          <a:solidFill>
            <a:srgbClr val="75479C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" y="2999232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&amp; Manning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95528" y="3364992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Seafarer records, documents, sign-on/off and expiry watch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3938" y="2889504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83938" y="2889504"/>
            <a:ext cx="82296" cy="1261872"/>
          </a:xfrm>
          <a:prstGeom prst="rect">
            <a:avLst/>
          </a:prstGeom>
          <a:solidFill>
            <a:srgbClr val="8A5A2B"/>
          </a:solidFill>
          <a:ln/>
        </p:spPr>
      </p:sp>
      <p:sp>
        <p:nvSpPr>
          <p:cNvPr id="23" name="Text 21"/>
          <p:cNvSpPr/>
          <p:nvPr/>
        </p:nvSpPr>
        <p:spPr>
          <a:xfrm>
            <a:off x="4585106" y="2999232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&amp; Circulars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5106" y="3364992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instruments and track organisation-wide acknowledgment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73517" y="2889504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73517" y="2889504"/>
            <a:ext cx="82296" cy="1261872"/>
          </a:xfrm>
          <a:prstGeom prst="rect">
            <a:avLst/>
          </a:prstGeom>
          <a:solidFill>
            <a:srgbClr val="B3452E"/>
          </a:solidFill>
          <a:ln/>
        </p:spPr>
      </p:sp>
      <p:sp>
        <p:nvSpPr>
          <p:cNvPr id="27" name="Text 25"/>
          <p:cNvSpPr/>
          <p:nvPr/>
        </p:nvSpPr>
        <p:spPr>
          <a:xfrm>
            <a:off x="8374685" y="2999232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Desk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374685" y="3364992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 &amp; marine incidents as numbered case files to closure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94360" y="4297680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94360" y="4297680"/>
            <a:ext cx="82296" cy="1261872"/>
          </a:xfrm>
          <a:prstGeom prst="rect">
            <a:avLst/>
          </a:prstGeom>
          <a:solidFill>
            <a:srgbClr val="9C6412"/>
          </a:solidFill>
          <a:ln/>
        </p:spPr>
      </p:sp>
      <p:sp>
        <p:nvSpPr>
          <p:cNvPr id="31" name="Text 29"/>
          <p:cNvSpPr/>
          <p:nvPr/>
        </p:nvSpPr>
        <p:spPr>
          <a:xfrm>
            <a:off x="795528" y="4407408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&amp; Audit Cell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95528" y="4773168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checklists, surveys, findings, detentions and dashboards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3938" y="4297680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3938" y="4297680"/>
            <a:ext cx="82296" cy="1261872"/>
          </a:xfrm>
          <a:prstGeom prst="rect">
            <a:avLst/>
          </a:prstGeom>
          <a:solidFill>
            <a:srgbClr val="2C6E52"/>
          </a:solidFill>
          <a:ln/>
        </p:spPr>
      </p:sp>
      <p:sp>
        <p:nvSpPr>
          <p:cNvPr id="35" name="Text 33"/>
          <p:cNvSpPr/>
          <p:nvPr/>
        </p:nvSpPr>
        <p:spPr>
          <a:xfrm>
            <a:off x="4585106" y="4407408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Companies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5106" y="4773168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directory and the full licence lifecycle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73517" y="4297680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73517" y="4297680"/>
            <a:ext cx="82296" cy="1261872"/>
          </a:xfrm>
          <a:prstGeom prst="rect">
            <a:avLst/>
          </a:prstGeom>
          <a:solidFill>
            <a:srgbClr val="BD3861"/>
          </a:solidFill>
          <a:ln/>
        </p:spPr>
      </p:sp>
      <p:sp>
        <p:nvSpPr>
          <p:cNvPr id="39" name="Text 37"/>
          <p:cNvSpPr/>
          <p:nvPr/>
        </p:nvSpPr>
        <p:spPr>
          <a:xfrm>
            <a:off x="8374685" y="4407408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74685" y="4773168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Tariff-driven GST invoices, collections and ageing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94360" y="5705856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94360" y="5705856"/>
            <a:ext cx="82296" cy="1261872"/>
          </a:xfrm>
          <a:prstGeom prst="rect">
            <a:avLst/>
          </a:prstGeom>
          <a:solidFill>
            <a:srgbClr val="0B5D8A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" y="5815584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Reports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95528" y="6181344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pre-seeded reports incl. the Daily Berthing Report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383938" y="5705856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83938" y="5705856"/>
            <a:ext cx="82296" cy="1261872"/>
          </a:xfrm>
          <a:prstGeom prst="rect">
            <a:avLst/>
          </a:prstGeom>
          <a:solidFill>
            <a:srgbClr val="5A6B78"/>
          </a:solidFill>
          <a:ln/>
        </p:spPr>
      </p:sp>
      <p:sp>
        <p:nvSpPr>
          <p:cNvPr id="47" name="Text 45"/>
          <p:cNvSpPr/>
          <p:nvPr/>
        </p:nvSpPr>
        <p:spPr>
          <a:xfrm>
            <a:off x="4585106" y="5815584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Studio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585106" y="6181344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configuration masters with full CRUD and exports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173517" y="5705856"/>
            <a:ext cx="342381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173517" y="5705856"/>
            <a:ext cx="82296" cy="1261872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51" name="Text 49"/>
          <p:cNvSpPr/>
          <p:nvPr/>
        </p:nvSpPr>
        <p:spPr>
          <a:xfrm>
            <a:off x="8374685" y="5815584"/>
            <a:ext cx="3103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8374685" y="6181344"/>
            <a:ext cx="3103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users, audit trail and platform settings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74B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KPI cards — vessels at berth, anchorage, cargo MTD, arrivals 72 h, open detentions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throughput chart by cargo group (12 months)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revenue trend and berth board with live vessel/ETD per berth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and safety snapshots with drill-down into modules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Role-aware: each user’s launcher and dashboard show only permitted areas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/ light theme, Adani-style branding, responsive layout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213421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from all modules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57170" y="6263640"/>
            <a:ext cx="213421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visibility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92547" y="6263640"/>
            <a:ext cx="213421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One-glance operations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74B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 across modules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boards computed live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 renders role view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visible (waiting, overdue, open cases)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drill-down to the module screen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taken on live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the dashboard is computed from the same records the modules write — there is no separate reporting database to reconcile.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797A5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Harbour Operations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call lifecycle: announce (auto VCN) → confirm → anchorage → berth → sail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 board (24 berths) with conflict detection and berth CRUD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schedule board and expected line-up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quay view of who is on every berth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traffic map with AIS-style positions and zone alerts (side menu)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craft &amp; pilot roster — tugs, launches, current tasking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operations per call: load/discharge lines with quantities and UOMs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settings: VCN prefix, tug defaults, anchorage alert, speed limits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10276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berths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5726" y="6263640"/>
            <a:ext cx="2563978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vessel calls preloaded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90872" y="6263640"/>
            <a:ext cx="1876349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VCN auto-numbering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797A5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Harbour Operations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announces call — VCN issued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&amp; scheduled to a berth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anchorage — waiting tracked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&amp; tugs assigned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Berthed — cargo operations recorded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/ delay flagged on the board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Sailed — actuals captured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045638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handed to Billing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changes follow a controlled workflow — a call cannot jump states, and every transition is audit-logged.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Manager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registry with particulars, ownership, class society and agent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dashboard: composition, age profile, certificate health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8-tab vessel file: overview, certificates, voyages, movements, crew, incidents, inspections, risk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tracking with EXPIRING window (driven by module settings)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history and port movements with trade-lane summary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score per vessel and survey targeting list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export on registers and certificate reports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18872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vessels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6263640"/>
            <a:ext cx="2478024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expiry alerts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90872" y="6263640"/>
            <a:ext cx="1360627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Manager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registered with particulars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recorded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watch — EXPIRING / EXPIRED flags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voyages &amp; movements accumulate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computed (explainable factors)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vessels on targeting list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planned in Audit Cell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 window (days) is a crew-of-one change in Fleet settings — statuses, stat cards and reports update immediately.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5479C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&amp; Manning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Seafarer register — identity, rank, CDC, INDoS, nationality, contact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per seafarer: CoC, GMDSS, medical (ILO/MLC), STCW, CDC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Sign-on / sign-off to vessels with verified sea-service records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dashboard: roll strength, rank mix, document expiry funnel, needs-attention list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crew reports incl. medical fitness register, CoC register, sea-service summary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expiry window and rest-hour rules from module settings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876349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ranks supported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99309" y="6263640"/>
            <a:ext cx="1446581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funnel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47058" y="6263640"/>
            <a:ext cx="1532534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crew reports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5479C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&amp; Manning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Seafarer enrolled on the roll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certificates recorded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on to a vessel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watch — medical / CoC / STCW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completed, record updated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— sea service verified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roster, medicals, sea service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dashboard’s "needs attention first" list orders people by flagged documents, so renewals happen before a lapse — not after.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A5A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&amp; Circulars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library: acts, rules, circulars, notices, orders, conventions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Lifecycle: draft → in force → superseded / withdrawn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 flow — publish with "acknowledgment required"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Per-instrument acknowledgment status with user list and % coverage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Acknowledgment Status report in the MIS library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(ack required, reminder days) from module settings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876349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instrument types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99309" y="6263640"/>
            <a:ext cx="239207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acknowledgments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92547" y="6263640"/>
            <a:ext cx="1360627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%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A5A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&amp; Circulars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drafted with reference no.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— in force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 required?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acknowledge in the portal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tracked (% of users)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Superseded / archived with history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 are individually recorded — the register shows exactly who has and has not read a mandatory circular.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3452E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Desk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files with auto numbering (INC-YYYY-NNNN) across 15 incident types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Lifecycle: open → acknowledged → responding → monitoring → resolved → closed (+ controlled reopen)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case: communications log, documents, task assignments, status timeline, RCA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dispatch — tugs, pilot launches, patrol assets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MTTA / MTTR against targets, severity and category mix, hotspots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and document types come from Data Studio masters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targets and auto-notify severity set in module settings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96230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cases preloaded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85262" y="6263640"/>
            <a:ext cx="196230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MTTA / MTTR tracked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48733" y="6263640"/>
            <a:ext cx="1532534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RCA trail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3452E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Desk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reported (VHF / phone / patrol / portal)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opened — INC number, severity, priority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 — MTTA clock stops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Response: tasks, comms, resources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if SLA breached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— MTTR recorded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 captured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045638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(reopen window applies)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on a case lands in its timeline, so the file reads like a complete story during review or investigation.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C641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&amp; Audit Cell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Builder: create checklist types, add / edit / delete / reorder questions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options: answer type, weightage, critical flag, guidance text; template versioning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register across PSC / FSI / ISM / ISPS / MLC with findings and action codes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Detention handling with grounds and release tracking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dashboard: open surveys, satisfaction %, detention rate, checklist compliance %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dedicated reports: deficiency analysis, detention register, checklist compliance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score and rectification defaults from module settings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213421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checklist templates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57170" y="6263640"/>
            <a:ext cx="196230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Question-level CRUD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6263640"/>
            <a:ext cx="213421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dashboards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C641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&amp; Audit Cell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type created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added — weightage &amp; critical flags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planned against a vessel / facility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Conducted — answers &amp; findings recorded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Detainable finding?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Rectification tracked to due date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closed with result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045638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update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are versioned — editing a checklist bumps its version, and past surveys keep the version they were conducted with.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E5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Companies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of agencies, terminal operators, service providers and suppliers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file: contacts, GSTIN / PAN, rating, licences held, active vessel calls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lifecycle: applied → under review → issued → suspended / revoked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licence types (shipping agency, bunker supplier, surveyor, stevedore…)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rating per company; blacklist / suspension status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Register report with validity and ratings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222016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companies preloaded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43123" y="6263640"/>
            <a:ext cx="170444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licence types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48733" y="6263640"/>
            <a:ext cx="222016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licence lifecycle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E5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Companies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onboarded to the directory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application filed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Scrutiny — documents &amp; fitness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Approved? (issue / reject)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issued with validity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rated over time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— or suspension / revocation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company’s file brings its licences and current vessel calls together, so scrutiny and renewals happen with full context.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D3861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master (11 heads) driving invoice lines — port dues, pilotage, berth hire, cargo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lifecycle: draft → issued → paid / cancelled with payment references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applied per settings (rate, place of supply, SAC code); amounts in ₹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invoice numbering with configurable prefix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outstanding ageing (0–30 / 31–60 / 61–90 / 90+), collections, revenue by head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terms and reminder cadence from module settings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222016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263 invoices preloaded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43123" y="6263640"/>
            <a:ext cx="110276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GST-ready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47058" y="6263640"/>
            <a:ext cx="239207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Ageing &amp; collections MIS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D3861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consumed on a vessel call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drafted from tariff heads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computed per settings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to the agent / company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Overdue? — ageing bucket &amp; reminder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recorded with reference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&amp; revenue MIS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GST rate or invoice prefix in settings and every new invoice uses it — no code change involved.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5D8A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Reports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Library — 24 pre-seeded reports across every module on one page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Berthing Report in the published Mundra format: 7-day tide table, vessels at berth incl. vacant berths with FWD/AFT drafts, sailed 48 h, anchorage, expected line-up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Operations, fleet, crew, notices, incidents, surveys, companies, finance and admin reports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with Re-run, Excel, PDF (branded) and Print on every report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MIS report with cargo, revenue and compliance charts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period and export footer from module settings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18872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reports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6263640"/>
            <a:ext cx="2306117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Berthing report replica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18965" y="6263640"/>
            <a:ext cx="222016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PDF everywhere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5D8A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Reports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picked from the library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live operational data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Sectioned view rendered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any time — always current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Excel / PDF / Print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berthing report follows the same section order as the port’s published daily report, so recipients read it without retraining.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A6B7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Studio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masters: countries, states, cities, ports, UOMs, currencies, agents, vessel &amp; cargo types, equipment types, equipment &amp; assets, departments, designations, shifts, holidays, document types, incident locations, deficiency &amp; PSC action codes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hub (geography / commercial / marine / assets / organisation / compliance) with live counts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on every master with icons, stat cards and meta fields (e.g. equipment capacity, make)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/ CSV export on every master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Masters feed module dropdowns and validation — incl. incident locations &amp; document types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Berths, tariffs and checklist templates managed alongside as dedicated masters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18872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masters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6263640"/>
            <a:ext cx="2134210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entries preloaded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47058" y="6263640"/>
            <a:ext cx="2306117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across all modules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A6B7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Studio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entry added / edited by port staff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label validated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across modules instantly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forms, filters &amp; reports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register (Excel / PDF)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rules or geography change, the port edits a master — every dependent screen picks it up without a release.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OF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delivered functionality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0820095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12 roles over 21 permission groups (view / create / edit / approve…)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management: 128 seeded users with department, designation and role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— who did what, when, on which record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settings: organisation, operations, billing &amp; tax, notifications, SMTP (with test), AI assistant</a:t>
            </a:r>
            <a:endParaRPr lang="en-US" sz="15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Per-module settings pages that loop back into module behaviour instantly</a:t>
            </a:r>
            <a:endParaRPr lang="en-US" sz="15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masked in the UI (SMTP password, AI key); JWT session management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01681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roles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39773" y="6263640"/>
            <a:ext cx="204825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permission groups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89197" y="6263640"/>
            <a:ext cx="170444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users seeded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OF 12 · PROCESS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defined with permissions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created — dept, designation, role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sign-in (JWT + refresh)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audit-logged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tuned (global + per module)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updates live — no restart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deny-by-default: a screen, action or API is available only when the signed-in role carries that exact permission.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600200"/>
            <a:ext cx="2510714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95528" y="2240280"/>
            <a:ext cx="214495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(Vite)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UI design system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Toolkit state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visualisation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export — SheetJS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export — jsPDF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425114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5114" y="1600200"/>
            <a:ext cx="2510714" cy="457200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11" name="Text 9"/>
          <p:cNvSpPr/>
          <p:nvPr/>
        </p:nvSpPr>
        <p:spPr>
          <a:xfrm>
            <a:off x="3425114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API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626282" y="2240280"/>
            <a:ext cx="214495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APIs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(access + refresh)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permission middleware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error &amp; audit layer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55868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55868" y="1600200"/>
            <a:ext cx="2510714" cy="457200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15" name="Text 13"/>
          <p:cNvSpPr/>
          <p:nvPr/>
        </p:nvSpPr>
        <p:spPr>
          <a:xfrm>
            <a:off x="6255868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57036" y="2240280"/>
            <a:ext cx="214495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ODM &amp; schemas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lookups (masters)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&amp; demo-data automation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registers &amp; searches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86621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86621" y="1600200"/>
            <a:ext cx="2510714" cy="457200"/>
          </a:xfrm>
          <a:prstGeom prst="rect">
            <a:avLst/>
          </a:prstGeom>
          <a:solidFill>
            <a:srgbClr val="B77817"/>
          </a:solidFill>
          <a:ln/>
        </p:spPr>
      </p:sp>
      <p:sp>
        <p:nvSpPr>
          <p:cNvPr id="19" name="Text 17"/>
          <p:cNvSpPr/>
          <p:nvPr/>
        </p:nvSpPr>
        <p:spPr>
          <a:xfrm>
            <a:off x="9086621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AI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287789" y="2240280"/>
            <a:ext cx="214495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Docker Compose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TLS (production)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Env-var configuration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assistant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switch from settings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1600" y="1645920"/>
            <a:ext cx="7436815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22225">
            <a:solidFill>
              <a:srgbClr val="0E7C8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1645920"/>
            <a:ext cx="109728" cy="1188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1627632" y="175564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PRESENTATION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2084832"/>
            <a:ext cx="6979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single-page application — served over HTTPS; role-aware UI renders only permitted modules and actions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90008" y="2871216"/>
            <a:ext cx="0" cy="310896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371600" y="3218688"/>
            <a:ext cx="7436815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22225">
            <a:solidFill>
              <a:srgbClr val="0A2239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71600" y="3218688"/>
            <a:ext cx="109728" cy="1188720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12" name="Text 10"/>
          <p:cNvSpPr/>
          <p:nvPr/>
        </p:nvSpPr>
        <p:spPr>
          <a:xfrm>
            <a:off x="1627632" y="332841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150" kern="0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APPLICATION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657600"/>
            <a:ext cx="6979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 REST API — JWT verification, RBAC permission checks, business workflows, audit logging, report engine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90008" y="4443984"/>
            <a:ext cx="0" cy="310896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371600" y="4791456"/>
            <a:ext cx="7436815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22225">
            <a:solidFill>
              <a:srgbClr val="3B6FB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371600" y="4791456"/>
            <a:ext cx="109728" cy="1188720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17" name="Text 15"/>
          <p:cNvSpPr/>
          <p:nvPr/>
        </p:nvSpPr>
        <p:spPr>
          <a:xfrm>
            <a:off x="1627632" y="4901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150" kern="0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DATA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627632" y="5230368"/>
            <a:ext cx="6979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operational collections, configuration masters, settings and audit trail; access only via the API tier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037015" y="16916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JSON
</a:t>
            </a:r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to API — stateless REST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037015" y="3264408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
</a:t>
            </a:r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authenticated and permission-checked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037015" y="4837176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 only
</a:t>
            </a:r>
            <a:pPr indent="0" marL="0">
              <a:buNone/>
            </a:pPr>
            <a:r>
              <a:rPr lang="en-US" sz="120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database access from clients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environments — Dev, UAT, Production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783080"/>
            <a:ext cx="3200400" cy="5669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42032"/>
            <a:ext cx="2788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development &amp; integration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Auto-seeded realistic demo data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 runs here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 builds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50792" y="3566160"/>
            <a:ext cx="548640" cy="0"/>
          </a:xfrm>
          <a:prstGeom prst="line">
            <a:avLst/>
          </a:prstGeom>
          <a:noFill/>
          <a:ln w="3175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178308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783080"/>
            <a:ext cx="3200400" cy="566928"/>
          </a:xfrm>
          <a:prstGeom prst="rect">
            <a:avLst/>
          </a:prstGeom>
          <a:solidFill>
            <a:srgbClr val="B77817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2542032"/>
            <a:ext cx="2788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acceptance environment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candidates only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team validates workflows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gates production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936992" y="3566160"/>
            <a:ext cx="548640" cy="0"/>
          </a:xfrm>
          <a:prstGeom prst="line">
            <a:avLst/>
          </a:prstGeom>
          <a:noFill/>
          <a:ln w="3175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49640" y="178308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9640" y="1783080"/>
            <a:ext cx="3200400" cy="566928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17" name="Text 15"/>
          <p:cNvSpPr/>
          <p:nvPr/>
        </p:nvSpPr>
        <p:spPr>
          <a:xfrm>
            <a:off x="85496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778240" y="2542032"/>
            <a:ext cx="2788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production deployment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TLS, rotated secrets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backups &amp; monitoring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only via approved releases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Docker images promoted Dev → UAT → Production; only environment variables differ. What is accepted in UAT is exactly what runs in production.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VAPT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built into the platform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6035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21 permission groups, deny by default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short-lived access + refresh tokens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with bcrypt; no plain-text credentials stored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validation on every API; controlled workflow transitions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audit trail of user actions with timestamps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masked in the UI and never re-echoed (SMTP, AI keys)</a:t>
            </a:r>
            <a:endParaRPr lang="en-US" sz="14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termination and rotated secrets in production (Nginx)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040880" y="1481328"/>
            <a:ext cx="4556455" cy="4526280"/>
          </a:xfrm>
          <a:prstGeom prst="roundRect">
            <a:avLst>
              <a:gd name="adj" fmla="val 1616"/>
            </a:avLst>
          </a:prstGeom>
          <a:solidFill>
            <a:srgbClr val="0E3A2C"/>
          </a:solidFill>
          <a:ln/>
          <a:effectLst>
            <a:outerShdw sx="100000" sy="100000" kx="0" ky="0" algn="bl" rotWithShape="0" blurRad="76200" dist="12700" dir="5400000">
              <a:srgbClr val="0A2239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60920" y="175564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VAPT ASSESSMENT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60920" y="2011680"/>
            <a:ext cx="3916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7379208" y="3090672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D8E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vulnerabilities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379208" y="3611880"/>
            <a:ext cx="3916375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against OWASP Top 10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broken auth &amp; access control: no findings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Sensitive-data exposure: none — secrets masked &amp; hashed</a:t>
            </a:r>
            <a:endParaRPr lang="en-US" sz="13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0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Re-tested after fixes; clean report at delivery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 grounded in port 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600200"/>
            <a:ext cx="1082009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Port Assistant available in every module (permission-controlled)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only from the port’s own records — berths, calls, crew, incidents, invoices — never invented content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links to the exact screen behind it ("Open berth board")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selectable from Admin settings: Claude Opus 5 / Sonnet 5 / Haiku 4.5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Grounded-only mode, temperature and daily token budget are admin-controlled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stored masked; assistant can be disabled centrally at any time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in plain language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045638" y="535838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493694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grounded on live port records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99252" y="535838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6347308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figures + source screen link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752865" y="535838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200921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 the actual register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— in numbers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89280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275234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behind one launcher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5114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5114" y="189280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48+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3562274" y="275234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delivered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55868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55868" y="189280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700" dirty="0"/>
          </a:p>
        </p:txBody>
      </p:sp>
      <p:sp>
        <p:nvSpPr>
          <p:cNvPr id="13" name="Text 11"/>
          <p:cNvSpPr/>
          <p:nvPr/>
        </p:nvSpPr>
        <p:spPr>
          <a:xfrm>
            <a:off x="6393028" y="275234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pre-seeded reports incl. berthing report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86621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86621" y="189280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3700" dirty="0"/>
          </a:p>
        </p:txBody>
      </p:sp>
      <p:sp>
        <p:nvSpPr>
          <p:cNvPr id="16" name="Text 14"/>
          <p:cNvSpPr/>
          <p:nvPr/>
        </p:nvSpPr>
        <p:spPr>
          <a:xfrm>
            <a:off x="9223781" y="275234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masters, full CRUD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399592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3700" dirty="0"/>
          </a:p>
        </p:txBody>
      </p:sp>
      <p:sp>
        <p:nvSpPr>
          <p:cNvPr id="19" name="Text 17"/>
          <p:cNvSpPr/>
          <p:nvPr/>
        </p:nvSpPr>
        <p:spPr>
          <a:xfrm>
            <a:off x="731520" y="485546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/ permission groups (RBAC)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425114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25114" y="399592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3700" dirty="0"/>
          </a:p>
        </p:txBody>
      </p:sp>
      <p:sp>
        <p:nvSpPr>
          <p:cNvPr id="22" name="Text 20"/>
          <p:cNvSpPr/>
          <p:nvPr/>
        </p:nvSpPr>
        <p:spPr>
          <a:xfrm>
            <a:off x="3562274" y="485546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seeded across departments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55868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55868" y="399592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3700" dirty="0"/>
          </a:p>
        </p:txBody>
      </p:sp>
      <p:sp>
        <p:nvSpPr>
          <p:cNvPr id="25" name="Text 23"/>
          <p:cNvSpPr/>
          <p:nvPr/>
        </p:nvSpPr>
        <p:spPr>
          <a:xfrm>
            <a:off x="6393028" y="485546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case files preloaded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086621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086621" y="3995928"/>
            <a:ext cx="251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3700" dirty="0"/>
          </a:p>
        </p:txBody>
      </p:sp>
      <p:sp>
        <p:nvSpPr>
          <p:cNvPr id="28" name="Text 26"/>
          <p:cNvSpPr/>
          <p:nvPr/>
        </p:nvSpPr>
        <p:spPr>
          <a:xfrm>
            <a:off x="9223781" y="4855464"/>
            <a:ext cx="22363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PDF export across masters, registers and reports · settings loop back into behaviour without restarts · full audit trail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itime-project-presentation/build/assets/ada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548640"/>
            <a:ext cx="1728216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868680" y="3429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Mundra Port Operations Portal — ready for a live walkthrough on one laptop.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868680" y="4160520"/>
            <a:ext cx="2011680" cy="45720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6" name="Image 1" descr="/home/user/maritime-project-presentation/build/assets/mobilise-bad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43484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43891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App Lab</a:t>
            </a:r>
            <a:pPr indent="0" marL="0">
              <a:buNone/>
            </a:pPr>
            <a:r>
              <a:rPr lang="en-US" sz="1000" dirty="0">
                <a:solidFill>
                  <a:srgbClr val="7F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mobilise.co.in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Mundra Port Operations Portal — project presentation</dc:title>
  <dc:subject>PptxGenJS Presentation</dc:subject>
  <dc:creator>Mobilise App Lab</dc:creator>
  <cp:lastModifiedBy>Mobilise App Lab</cp:lastModifiedBy>
  <cp:revision>1</cp:revision>
  <dcterms:created xsi:type="dcterms:W3CDTF">2026-08-23T14:17:45Z</dcterms:created>
  <dcterms:modified xsi:type="dcterms:W3CDTF">2026-08-23T14:17:45Z</dcterms:modified>
</cp:coreProperties>
</file>