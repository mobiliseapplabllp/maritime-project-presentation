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presentation covers what the portal is for, the twelve modules and what each one delivers, a simple process flow for every module, and then the technical section — stack, architecture, environments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system for the whole port, replacing scattered registers and calls; live visibility for management; statutory routine standardised; and the port stays in control of its own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Twelve applications behind one launcher. Each person sees only the ones their role allows. The next slides take each module — what is delivered, then its process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Command Centre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Harbour Operations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Fleet Manager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Crew &amp; Manning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Notices &amp; Circulars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Incident Desk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Survey &amp; Audit Cell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Port Companies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Revenue &amp; Billing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MIS Reports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Data Studio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Administration — read two or three bullets that matter to this audience, then move to the flow. All of this is delivered and working in the portal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the boxes left to right. Amber boxes are the checks or alerts the system raises on its own; the dark box is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mainstream, hiring-friendly stack — React with Material UI in front, Node and Express APIs, MongoDB behind, all containerised with Docker. The AI assistant uses Anthropic Claude, and the model is switchable from admin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clean three-tier separation. The browser talks only to the API; the API enforces identity and permissions on every request; only the API touches the database. Each tier scales and is secured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Three separated environments. Work happens in Dev, the port accepts releases in UAT, and only signed-off builds are promoted to Production. The same container image moves through all three, so there are no surprises at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Security is designed in, not added later — deny-by-default permissions, hashed credentials, audited actions. Vulnerability assessment and penetration testing against the OWASP Top 10 closed with zero open vulnerabilities.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assistant is useful and safe: it answers only from the port’s own data, shows its source screen, and the admin controls the model, the budget, and the on/off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delivery in numbers — twelve modules, forty-eight-plus screens, twenty-four reports, nineteen masters, RBAC with twelve roles, and a hundred and twenty-eight seeded users. Everything exportable, everything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Thank you. The whole portal runs on one laptop — happy to do a live walkthrough with your team whenever convenient.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APP LAB · PROJECT 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Mundra Port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Portal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Modules &amp; functionality delivered · Process flows · Technology, architecture &amp;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PORTAL EXISTS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07286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port’s daily work — vessels, berths, crew, incidents, inspections, companies and billing — into one system with one login.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registers, spreadsheets and phone-call coordination with structured workflows and a single source of truth.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management a live picture: berth occupancy, traffic, cargo, safety response and revenue on one screen.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statutory routine — the daily berthing report, notices with acknowledgments, survey checklists, GST invoices.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port in control of its own system: masters, settings, roles and reports are managed by port staff, not the vendor.</a:t>
            </a:r>
            <a:endParaRPr lang="en-US" sz="16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grounded AI assistant that answers from the port’s own records.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 · TWELVE APPLICATIONS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delivered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81328"/>
            <a:ext cx="82296" cy="1170432"/>
          </a:xfrm>
          <a:prstGeom prst="rect">
            <a:avLst/>
          </a:prstGeom>
          <a:solidFill>
            <a:srgbClr val="0B74B0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591056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1911096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berth board and charts the moment you sign in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3938" y="1481328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3938" y="1481328"/>
            <a:ext cx="82296" cy="1170432"/>
          </a:xfrm>
          <a:prstGeom prst="rect">
            <a:avLst/>
          </a:prstGeom>
          <a:solidFill>
            <a:srgbClr val="0797A5"/>
          </a:solidFill>
          <a:ln/>
        </p:spPr>
      </p:sp>
      <p:sp>
        <p:nvSpPr>
          <p:cNvPr id="11" name="Text 9"/>
          <p:cNvSpPr/>
          <p:nvPr/>
        </p:nvSpPr>
        <p:spPr>
          <a:xfrm>
            <a:off x="4585106" y="1591056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Operations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5106" y="1911096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calls end-to-end — VCN to sailing, berth planning, live traffic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73517" y="1481328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3517" y="1481328"/>
            <a:ext cx="82296" cy="1170432"/>
          </a:xfrm>
          <a:prstGeom prst="rect">
            <a:avLst/>
          </a:prstGeom>
          <a:solidFill>
            <a:srgbClr val="3B6FB6"/>
          </a:solidFill>
          <a:ln/>
        </p:spPr>
      </p:sp>
      <p:sp>
        <p:nvSpPr>
          <p:cNvPr id="15" name="Text 13"/>
          <p:cNvSpPr/>
          <p:nvPr/>
        </p:nvSpPr>
        <p:spPr>
          <a:xfrm>
            <a:off x="8374685" y="1591056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74685" y="1911096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registry, certificates, voyages and risk profiles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2816352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816352"/>
            <a:ext cx="82296" cy="1170432"/>
          </a:xfrm>
          <a:prstGeom prst="rect">
            <a:avLst/>
          </a:prstGeom>
          <a:solidFill>
            <a:srgbClr val="75479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2926080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&amp; Manning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95528" y="3246120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Seafarer records, documents, sign-on/off and expiry watch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383938" y="2816352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3938" y="2816352"/>
            <a:ext cx="82296" cy="1170432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85106" y="2926080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Circulars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85106" y="3246120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instruments and track organisation-wide acknowledgment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173517" y="2816352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3517" y="2816352"/>
            <a:ext cx="82296" cy="1170432"/>
          </a:xfrm>
          <a:prstGeom prst="rect">
            <a:avLst/>
          </a:prstGeom>
          <a:solidFill>
            <a:srgbClr val="B3452E"/>
          </a:solidFill>
          <a:ln/>
        </p:spPr>
      </p:sp>
      <p:sp>
        <p:nvSpPr>
          <p:cNvPr id="27" name="Text 25"/>
          <p:cNvSpPr/>
          <p:nvPr/>
        </p:nvSpPr>
        <p:spPr>
          <a:xfrm>
            <a:off x="8374685" y="2926080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Desk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74685" y="3246120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&amp; marine incidents as numbered case files to closure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94360" y="4151376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4151376"/>
            <a:ext cx="82296" cy="1170432"/>
          </a:xfrm>
          <a:prstGeom prst="rect">
            <a:avLst/>
          </a:prstGeom>
          <a:solidFill>
            <a:srgbClr val="9C6412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" y="4261104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&amp; Audit Cell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95528" y="4581144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checklists, surveys, findings, detentions and dashboards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383938" y="4151376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3938" y="4151376"/>
            <a:ext cx="82296" cy="1170432"/>
          </a:xfrm>
          <a:prstGeom prst="rect">
            <a:avLst/>
          </a:prstGeom>
          <a:solidFill>
            <a:srgbClr val="2C6E52"/>
          </a:solidFill>
          <a:ln/>
        </p:spPr>
      </p:sp>
      <p:sp>
        <p:nvSpPr>
          <p:cNvPr id="35" name="Text 33"/>
          <p:cNvSpPr/>
          <p:nvPr/>
        </p:nvSpPr>
        <p:spPr>
          <a:xfrm>
            <a:off x="4585106" y="4261104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Companies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85106" y="4581144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directory and the full licence lifecycle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173517" y="4151376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73517" y="4151376"/>
            <a:ext cx="82296" cy="1170432"/>
          </a:xfrm>
          <a:prstGeom prst="rect">
            <a:avLst/>
          </a:prstGeom>
          <a:solidFill>
            <a:srgbClr val="BD3861"/>
          </a:solidFill>
          <a:ln/>
        </p:spPr>
      </p:sp>
      <p:sp>
        <p:nvSpPr>
          <p:cNvPr id="39" name="Text 37"/>
          <p:cNvSpPr/>
          <p:nvPr/>
        </p:nvSpPr>
        <p:spPr>
          <a:xfrm>
            <a:off x="8374685" y="4261104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Billing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374685" y="4581144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Tariff-driven GST invoices, collections and ageing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94360" y="5486400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" y="5486400"/>
            <a:ext cx="82296" cy="1170432"/>
          </a:xfrm>
          <a:prstGeom prst="rect">
            <a:avLst/>
          </a:prstGeom>
          <a:solidFill>
            <a:srgbClr val="0B5D8A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" y="5596128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Reports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795528" y="5916168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pre-seeded reports incl. the Daily Berthing Report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4383938" y="5486400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83938" y="5486400"/>
            <a:ext cx="82296" cy="1170432"/>
          </a:xfrm>
          <a:prstGeom prst="rect">
            <a:avLst/>
          </a:prstGeom>
          <a:solidFill>
            <a:srgbClr val="5A6B78"/>
          </a:solidFill>
          <a:ln/>
        </p:spPr>
      </p:sp>
      <p:sp>
        <p:nvSpPr>
          <p:cNvPr id="47" name="Text 45"/>
          <p:cNvSpPr/>
          <p:nvPr/>
        </p:nvSpPr>
        <p:spPr>
          <a:xfrm>
            <a:off x="4585106" y="5596128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85106" y="5916168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configuration masters with full CRUD and exports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173517" y="5486400"/>
            <a:ext cx="34238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50800" dist="12700" dir="5400000">
              <a:srgbClr val="0A2239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73517" y="5486400"/>
            <a:ext cx="82296" cy="1170432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51" name="Text 49"/>
          <p:cNvSpPr/>
          <p:nvPr/>
        </p:nvSpPr>
        <p:spPr>
          <a:xfrm>
            <a:off x="8374685" y="5596128"/>
            <a:ext cx="310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374685" y="5916168"/>
            <a:ext cx="3103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users, audit trail and platform settings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4B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B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 — vessels at berth, anchorage, cargo MTD, arrivals 72 h, open detentions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throughput chart by cargo group (12 months)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revenue trend and berth board with live vessel/ETD per berth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safety snapshots with drill-down into modules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Role-aware: each user’s launcher and dashboard show only permitted areas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theme, Adani-style branding, responsive layout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all modules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90165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visibility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8538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One-glance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4B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B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recorded across 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boards computed live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renders role 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visible (waiting, overdue, open cases)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drill-down to the module 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taken on live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on the dashboard is computed from the same records the modules write — there is no separate reporting database to reconcile.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797A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7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Operations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call lifecycle: announce (auto VCN) → confirm → anchorage → berth → sail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 board (24 berths) with conflict detection and berth CRUD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schedule board and expected line-up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quay view of who is on every berth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map with AIS-style positions and zone alerts (side menu)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craft &amp; pilot roster — tugs, launches, current tasking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operations per call: load/discharge lines with quantities and UOMs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settings: VCN prefix, tug defaults, anchorage alert, speed limits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96743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berths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90395" y="6263640"/>
            <a:ext cx="2242109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vessel calls preloaded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33672" y="6263640"/>
            <a:ext cx="1642262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VCN auto-numbering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797A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7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Operations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announces call — VCN issued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scheduled to a berth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anchorage — waiting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tugs assigned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Berthed — cargo operations recorded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/ delay flagged on the 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Sailed — actuals captured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45638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handed to Billing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follow a controlled workflow — a call cannot jump states, and every transition is audit-logged.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6FB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registry with particulars, ownership, class society and agent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dashboard: composition, age profile, certificate health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 vessel file: overview, certificates, voyages, movements, crew, incidents, inspections, risk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tracking with EXPIRING window (driven by module settings)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history and port movements with trade-lane summary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 per vessel and survey targeting list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export on registers and certificate reports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vessels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65376" y="6263640"/>
            <a:ext cx="2167128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expiry alerts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33672" y="6263640"/>
            <a:ext cx="1192378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6FB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registered with particulars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recorded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watch — EXPIRING / EXPIRED flags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voyages &amp; movements accumulate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computed (explainable factors)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vessels on targeting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planned in Audit Cell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window (days) is a crew-of-one change in Fleet settings — statuses, stat cards and reports update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5479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754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&amp; Manning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Seafarer register — identity, rank, CDC, INDoS, nationality, contact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per seafarer: CoC, GMDSS, medical (ILO/MLC), STCW, CDC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Sign-on / sign-off to vessels with verified sea-service records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dashboard: roll strength, rank mix, document expiry funnel, needs-attention list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crew reports incl. medical fitness register, CoC register, sea-service summary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expiry window and rest-hour rules from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642262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54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ranks supported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5222" y="6263640"/>
            <a:ext cx="1267358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54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funnel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3749" y="6263640"/>
            <a:ext cx="1342339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54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crew reports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5479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754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&amp; Manning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Seafarer enrolled on the roll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certificates recorded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on to a vessel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watch — medical / CoC / STCW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completed, record updated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— sea service verified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roster, medicals, sea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dashboard’s "needs attention first" list orders people by flagged documents, so renewals happen before a lapse — not after.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Circulars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library: acts, rules, circulars, notices, orders, conventions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draft → in force → superseded / withdrawn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flow — publish with "acknowledgment required"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Per-instrument acknowledgment status with user list and % coverage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Acknowledgment Status report in the MIS library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(ack required, reminder days) from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642262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instrument types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5222" y="6263640"/>
            <a:ext cx="2092147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acknowledgments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8538" y="6263640"/>
            <a:ext cx="1192378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%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Circulars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drafted with reference no.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— in force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required?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acknowledge in the portal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(% of users)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/ archived with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 are individually recorded — the register shows exactly who has and has not read a mandatory circular.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3452E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3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Desk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files with auto numbering (INC-YYYY-NNNN) across 15 incident types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open → acknowledged → responding → monitoring → resolved → closed (+ controlled reopen)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case: communications log, documents, task assignments, status timeline, RCA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dispatch — tugs, pilot launches, patrol assets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MTTA / MTTR against targets, severity and category mix, hotspots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and document types come from Data Studio masters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targets and auto-notify severity set in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717243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cases preloaded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40203" y="6263640"/>
            <a:ext cx="1717243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 / MTTR tracked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58614" y="6263640"/>
            <a:ext cx="1342339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RCA trail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3452E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3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Desk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reported (VHF / phone / patrol / portal)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opened — INC number, severity, priority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— MTTA clock stops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tasks, comms,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if SLA breached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— MTTR recorded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captured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45638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(reopen window applies)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on a case lands in its timeline, so the file reads like a complete story during review or investigation.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641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C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&amp; Audit Cell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Builder: create checklist types, add / edit / delete / reorder questions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options: answer type, weightage, critical flag, guidance text; template versioning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register across PSC / FSI / ISM / ISPS / MLC with findings and action codes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handling with grounds and release tracking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dashboard: open surveys, satisfaction %, detention rate, checklist compliance %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dedicated reports: deficiency analysis, detention register, checklist compliance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score and rectification defaults from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C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checklist templates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90165" y="6263640"/>
            <a:ext cx="1717243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C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Question-level CRUD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08576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C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641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C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&amp; Audit Cell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type created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added — weightage &amp; critical flags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planned against a vessel / facility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— answers &amp; findings recorded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Detainable finding?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Rectification tracked to due 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closed with 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45638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 update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versioned — editing a checklist bumps its version, and past surveys keep the version they were conducted with.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E5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C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Companies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of agencies, terminal operators, service providers and suppliers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file: contacts, GSTIN / PAN, rating, licences held, active vessel calls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lifecycle: applied → under review → issued → suspended / revoked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licence types (shipping agency, bunker supplier, surveyor, stevedore…)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per company; blacklist / suspension status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Register report with validity and ratings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94218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companies preloaded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65146" y="6263640"/>
            <a:ext cx="1492301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licence types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58614" y="6263640"/>
            <a:ext cx="194218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licence lifecycle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E5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C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Companies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onboarded to the directory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application filed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 — documents &amp; fitness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Approved? (issue / reject)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issued with validity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rated over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— or suspension / revocation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company’s file brings its licences and current vessel calls together, so scrutiny and renewals happen with full context.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D386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D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Billing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master (11 heads) driving invoice lines — port dues, pilotage, berth hire, cargo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lifecycle: draft → issued → paid / cancelled with payment references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applied per settings (rate, place of supply, SAC code); amounts in ₹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invoice numbering with configurable prefix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outstanding ageing (0–30 / 31–60 / 61–90 / 90+), collections, revenue by head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and reminder cadence from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94218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invoices preloaded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65146" y="6263640"/>
            <a:ext cx="96743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3749" y="6263640"/>
            <a:ext cx="2092147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&amp; collections MIS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D386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D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Billing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consumed on a vessel call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drafted from tariff heads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computed per settings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to the agent / company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BEEDA"/>
          </a:solidFill>
          <a:ln>
            <a:solidFill>
              <a:srgbClr val="D9A94E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Overdue? — ageing bucket &amp; reminder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recorded with reference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9252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493694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revenue MIS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GST rate or invoice prefix in settings and every new invoice uses it — no code change involved.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D8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Reports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Library — 24 pre-seeded reports across every module on one page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Berthing Report in the published Mundra format: 7-day tide table, vessels at berth incl. vacant berths with FWD/AFT drafts, sailed 48 h, anchorage, expected line-up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fleet, crew, notices, incidents, surveys, companies, finance and admin reports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with Re-run, Excel, PDF (branded) and Print on every report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MIS report with cargo, revenue and compliance charts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period and export footer from module settings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reports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65376" y="6263640"/>
            <a:ext cx="201716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Berthing report replica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3710" y="6263640"/>
            <a:ext cx="194218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PDF everywhere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D8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Reports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picked from the library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live operational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Sectioned view rendered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time — always current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Excel / PDF / Print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berthing report follows the same section order as the port’s published daily report, so recipients read it without retraining.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A6B7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masters: countries, states, cities, ports, UOMs, currencies, agents, vessel &amp; cargo types, equipment types, equipment &amp; assets, departments, designations, shifts, holidays, document types, incident locations, deficiency &amp; PSC action codes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hub (geography / commercial / marine / assets / organisation / compliance) with live counts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every master with icons, stat cards and meta fields (e.g. equipment capacity, make)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/ CSV export on every master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feed module dropdowns and validation — incl. incident locations &amp; document types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Berths, tariffs and checklist templates managed alongside as dedicated masters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masters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65376" y="6263640"/>
            <a:ext cx="1867205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entries preloaded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3749" y="6263640"/>
            <a:ext cx="2017166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all modules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A6B7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entry added / edited by port staff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label validated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across modules instantly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forms, filters &amp; reports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register (Excel / PDF)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rules or geography change, the port edits a master — every dependent screen picks it up without a release.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OF 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delivered functionality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08200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12 roles over 21 permission groups (view / create / edit / approve…)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management: 128 seeded users with department, designation and role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who did what, when, on which record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settings: organisation, operations, billing &amp; tax, notifications, SMTP (with test), AI assistant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settings pages that loop back into module behaviour instantly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masked in the UI (SMTP password, AI key); JWT session management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C8D4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263640"/>
            <a:ext cx="892454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15414" y="6263640"/>
            <a:ext cx="1792224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permission groups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8806" y="6263640"/>
            <a:ext cx="1492301" cy="365760"/>
          </a:xfrm>
          <a:prstGeom prst="roundRect">
            <a:avLst>
              <a:gd name="adj" fmla="val 22500"/>
            </a:avLst>
          </a:prstGeom>
          <a:solidFill>
            <a:srgbClr val="F6F8F8"/>
          </a:solidFill>
          <a:ln w="12700">
            <a:solidFill>
              <a:srgbClr val="C8D4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users seeded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OF 12 · PROCESS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defined with permissions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5638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93694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created — dept, designation, role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252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47308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(JWT + refresh)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2865" y="243230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00921" y="196596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audit-logged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76268" y="2944368"/>
            <a:ext cx="0" cy="667512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00921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tuned (global + per module)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52865" y="412394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6347308" y="365760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updates live — no restart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59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alert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62636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A2239"/>
          </a:solidFill>
          <a:ln w="9525">
            <a:solidFill>
              <a:srgbClr val="9FB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deny-by-default: a screen, action or API is available only when the signed-in role carries that exact permission.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510714" cy="42062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2510714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240280"/>
            <a:ext cx="214495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(Vite)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design system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state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visualisation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— SheetJS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— jsPDF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5114" y="1600200"/>
            <a:ext cx="2510714" cy="42062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5114" y="1600200"/>
            <a:ext cx="2510714" cy="457200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1" name="Text 9"/>
          <p:cNvSpPr/>
          <p:nvPr/>
        </p:nvSpPr>
        <p:spPr>
          <a:xfrm>
            <a:off x="3425114" y="160020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6282" y="2240280"/>
            <a:ext cx="214495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APIs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(access + refresh)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permission middleware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error &amp; audit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600200"/>
            <a:ext cx="2510714" cy="42062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600200"/>
            <a:ext cx="2510714" cy="457200"/>
          </a:xfrm>
          <a:prstGeom prst="rect">
            <a:avLst/>
          </a:prstGeom>
          <a:solidFill>
            <a:srgbClr val="3B6F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55868" y="160020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7036" y="2240280"/>
            <a:ext cx="214495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&amp; schemas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lookups (masters)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demo-data automation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registers &amp; searches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86621" y="1600200"/>
            <a:ext cx="2510714" cy="42062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86621" y="1600200"/>
            <a:ext cx="2510714" cy="457200"/>
          </a:xfrm>
          <a:prstGeom prst="rect">
            <a:avLst/>
          </a:prstGeom>
          <a:solidFill>
            <a:srgbClr val="B77817"/>
          </a:solidFill>
          <a:ln/>
        </p:spPr>
      </p:sp>
      <p:sp>
        <p:nvSpPr>
          <p:cNvPr id="19" name="Text 17"/>
          <p:cNvSpPr/>
          <p:nvPr/>
        </p:nvSpPr>
        <p:spPr>
          <a:xfrm>
            <a:off x="9086621" y="160020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7789" y="2240280"/>
            <a:ext cx="214495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TLS (production)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Env-var configuration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assistant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switch from settings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743681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222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45920"/>
            <a:ext cx="109728" cy="1188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627632" y="1755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single-page application — served over HTTPS; role-aware UI renders only permitted modules and 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90008" y="2871216"/>
            <a:ext cx="0" cy="310896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71600" y="3218688"/>
            <a:ext cx="743681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2225">
            <a:solidFill>
              <a:srgbClr val="0A2239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218688"/>
            <a:ext cx="109728" cy="1188720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2" name="Text 10"/>
          <p:cNvSpPr/>
          <p:nvPr/>
        </p:nvSpPr>
        <p:spPr>
          <a:xfrm>
            <a:off x="1627632" y="3328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A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7632" y="3630168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 — JWT verification, RBAC permission checks, business workflows, audit logging, report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90008" y="4443984"/>
            <a:ext cx="0" cy="310896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71600" y="4791456"/>
            <a:ext cx="743681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2225">
            <a:solidFill>
              <a:srgbClr val="3B6FB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4791456"/>
            <a:ext cx="109728" cy="1188720"/>
          </a:xfrm>
          <a:prstGeom prst="rect">
            <a:avLst/>
          </a:prstGeom>
          <a:solidFill>
            <a:srgbClr val="3B6FB6"/>
          </a:solidFill>
          <a:ln/>
        </p:spPr>
      </p:sp>
      <p:sp>
        <p:nvSpPr>
          <p:cNvPr id="17" name="Text 15"/>
          <p:cNvSpPr/>
          <p:nvPr/>
        </p:nvSpPr>
        <p:spPr>
          <a:xfrm>
            <a:off x="1627632" y="49011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27632" y="5202936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operational collections, configuration masters, settings and audit trail; access only via the API 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37015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JSON
</a:t>
            </a:r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API — stateless 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37015" y="326440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
</a:t>
            </a:r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authenticated and permission-checked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37015" y="483717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only
</a:t>
            </a:r>
            <a:pPr indent="0" marL="0">
              <a:buNone/>
            </a:pPr>
            <a:r>
              <a:rPr lang="en-US" sz="10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database access from clients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 — Dev, UAT, Production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3200400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788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development &amp; integration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Auto-seeded realistic demo data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runs here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builds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50792" y="3566160"/>
            <a:ext cx="548640" cy="0"/>
          </a:xfrm>
          <a:prstGeom prst="line">
            <a:avLst/>
          </a:prstGeom>
          <a:noFill/>
          <a:ln w="3175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178308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83080"/>
            <a:ext cx="3200400" cy="566928"/>
          </a:xfrm>
          <a:prstGeom prst="rect">
            <a:avLst/>
          </a:prstGeom>
          <a:solidFill>
            <a:srgbClr val="B7781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2560320"/>
            <a:ext cx="2788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acceptance environment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candidates only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team validates workflows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gates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3566160"/>
            <a:ext cx="548640" cy="0"/>
          </a:xfrm>
          <a:prstGeom prst="line">
            <a:avLst/>
          </a:prstGeom>
          <a:noFill/>
          <a:ln w="3175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178308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783080"/>
            <a:ext cx="3200400" cy="566928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2560320"/>
            <a:ext cx="2788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production deployment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TLS, rotated secrets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 &amp; monitoring</a:t>
            </a:r>
            <a:endParaRPr lang="en-US" sz="12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via approved releases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Docker images promoted Dev → UAT → Production; only environment variables differ. What is accepted in UAT is exactly what runs in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VAPT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built into the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943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21 permission groups, deny by default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short-lived access + refresh tokens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bcrypt; no plain-text credentials stored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on every API; controlled workflow transitions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of user actions with timestamps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masked in the UI and never re-echoed (SMTP, AI keys)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and rotated secrets in production (Nginx)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40880" y="1481328"/>
            <a:ext cx="4556455" cy="4526280"/>
          </a:xfrm>
          <a:prstGeom prst="roundRect">
            <a:avLst>
              <a:gd name="adj" fmla="val 1616"/>
            </a:avLst>
          </a:prstGeom>
          <a:solidFill>
            <a:srgbClr val="0E3A2C"/>
          </a:solidFill>
          <a:ln/>
          <a:effectLst>
            <a:outerShdw sx="100000" sy="100000" kx="0" ky="0" algn="bl" rotWithShape="0" blurRad="76200" dist="12700" dir="5400000">
              <a:srgbClr val="0A2239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0920" y="1755648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ASSESSMENT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0920" y="2011680"/>
            <a:ext cx="3916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79208" y="3090672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vulnerabilities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79208" y="3611880"/>
            <a:ext cx="391637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9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OWASP Top 10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9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XSS, broken auth &amp; access control: no findings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9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Sensitive-data exposure: none — secrets masked &amp; hashed</a:t>
            </a:r>
            <a:endParaRPr lang="en-US" sz="11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C9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Re-tested after fixes; clean report at delivery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— grounded in port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08200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Port Assistant available in every module (permission-controlled)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the port’s own records — berths, calls, crew, incidents, invoices — never invented content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links to the exact screen behind it ("Open berth board")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selectable from Admin settings: Claude Opus 5 / Sonnet 5 / Haiku 4.5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Grounded-only mode, temperature and daily token budget are admin-controlled</a:t>
            </a:r>
            <a:endParaRPr lang="en-US" sz="14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masked; assistant can be disabled centrally at any time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E7C86"/>
          </a:solidFill>
          <a:ln>
            <a:solidFill>
              <a:srgbClr val="0E7C86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in plain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45638" y="535838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93694" y="489204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grounded on live port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9252" y="535838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347308" y="489204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9FB4BC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figures + source screen link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52865" y="5358384"/>
            <a:ext cx="393192" cy="0"/>
          </a:xfrm>
          <a:prstGeom prst="line">
            <a:avLst/>
          </a:prstGeom>
          <a:noFill/>
          <a:ln w="27940">
            <a:solidFill>
              <a:srgbClr val="76909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200921" y="4892040"/>
            <a:ext cx="2350694" cy="932688"/>
          </a:xfrm>
          <a:prstGeom prst="roundRect">
            <a:avLst>
              <a:gd name="adj" fmla="val 6863"/>
            </a:avLst>
          </a:prstGeom>
          <a:solidFill>
            <a:srgbClr val="0A2239"/>
          </a:solidFill>
          <a:ln>
            <a:solidFill>
              <a:srgbClr val="0A2239"/>
            </a:solidFill>
          </a:ln>
          <a:effectLst>
            <a:outerShdw sx="100000" sy="100000" kx="0" ky="0" algn="bl" rotWithShape="0" blurRad="63500" dist="12700" dir="5400000">
              <a:srgbClr val="0A2239">
                <a:alpha val="14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the actual register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— in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92024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behind one launcher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5114" y="169164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5114" y="192024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2274" y="274320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delivered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169164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5868" y="192024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93028" y="274320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pre-seeded reports incl. berthing report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86621" y="169164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6621" y="192024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23781" y="274320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masters, full CRUD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79476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02336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/ permission groups (RBAC)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25114" y="379476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5114" y="402336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562274" y="484632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seeded across departments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55868" y="379476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5868" y="402336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393028" y="484632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case files preloaded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86621" y="3794760"/>
            <a:ext cx="251071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4D6"/>
            </a:solidFill>
            <a:prstDash val="solid"/>
          </a:ln>
          <a:effectLst>
            <a:outerShdw sx="100000" sy="100000" kx="0" ky="0" algn="bl" rotWithShape="0" blurRad="63500" dist="12700" dir="5400000">
              <a:srgbClr val="0A2239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86621" y="4023360"/>
            <a:ext cx="2510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23781" y="484632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PDF export across masters, registers and reports · settings loop back into behaviour without restarts · full 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Mundra Port Operations Portal — ready for a live walkthrough on one laptop.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01168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389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App Lab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Mundra Port Operations Portal — project presentation</dc:title>
  <dc:subject>PptxGenJS Presentation</dc:subject>
  <dc:creator>Mobilise App Lab</dc:creator>
  <cp:lastModifiedBy>Mobilise App Lab</cp:lastModifiedBy>
  <cp:revision>1</cp:revision>
  <dcterms:created xsi:type="dcterms:W3CDTF">2026-08-23T14:02:34Z</dcterms:created>
  <dcterms:modified xsi:type="dcterms:W3CDTF">2026-08-23T14:02:34Z</dcterms:modified>
</cp:coreProperties>
</file>