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Thank you for the time. I will keep this very simple — about ten pictures. Everything you will see is a real, running software we built for port operations, filled with realistic Mundra data. At the end I will show it live if you like.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is one portal for the whole port. Instead of registers, Excel sheets and phone calls, every department works in the same place. Operations, vessels, crew, incidents, inspections, billing, reports — all inside. And the important part: this is not a concept. It is already built and running — every slide from here is a screenshot of the actual software.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is what you see after signing in. Twelve applications. A berth planner sees berthing, an HSE officer sees incidents, a billing clerk sees finance. One login, and each person gets only what their role allows. Access is controlled by you, from the admin application.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command centre. Vessels at berth, at anchorage, cargo handled this month, arrivals in the next seventy-two hours, cargo throughput month by month, billed revenue, the berth board — live. A director opens this and knows the state of the port in ten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is the quay in picture form. Every berth along the quay, which vessel is on it, which berths are free, who is arriving next. Marine control sees this instead of maintaining a whiteboard or a register.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one is special. This is the same daily berthing report Mundra publishes today — same format: seven days of tide timings, vessels at berth including vacant berths, drafts forward and aft, vessels sailed in the last forty-eight hours, anchorage, and the expected line-up. Today somebody compiles this by hand. Here it is generated in one click, and exported to Excel or 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Beyond the berthing report there is a full report library — vessel line-up, berth occupancy, waiting time, certificate expiry, crew reports, incident registers, outstanding payments, revenue. Twenty-four reports ready today, and new ones can be added. Every one exports to Excel and 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Safety and marine incidents. Every incident becomes a numbered case file — who reported it, who is handling it, what actions were taken, documents, and root cause. Management sees response times against targets on this dashboard. Nothing gets lost in phone calls.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For inspections and audits, your team builds the checklists themselves — safety walkabouts, terminal audits, ship inspections. Add questions, set which ones are critical, and every inspection then follows the checklist. When rules change, you change the checklist — no vendor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Crew documents — medicals, competency certificates, licences. The software watches expiry dates and shows who needs attention first, before a document lapses, not after. Same idea for ship certificates on the vessel 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And there is an assistant. You ask in plain language — here I asked which berths are occupied right now — and it answers from the port’s own live records, with a button to open the actual screen. It only answers from your data, it does not make things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Last picture. Everything that drives the software — berths, equipment, departments, units, holidays, document types — is editable by your own team, with Excel and PDF export. Settings too: every application has its own settings page. The port stays in control, not the vendor.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Three things to take away. First, this exists — you can click through it today, in this meeting. Second, it is built around real port routine — the berthing report, tide tables, vessel call numbers, GST on invoices. Third, this is a starting point: we sit with your team, pick the areas that matter most, and shape a pilot around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next step is simple — thirty minutes with the people who run these areas. The software runs on one laptop, no installation on your side. You click through it yourselves, and at the end we agree together what a pilot should cover.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2239"/>
        </a:solidFill>
      </p:bgPr>
    </p:bg>
    <p:spTree>
      <p:nvGrpSpPr>
        <p:cNvPr id="1" name=""/>
        <p:cNvGrpSpPr/>
        <p:nvPr/>
      </p:nvGrpSpPr>
      <p:grpSpPr>
        <a:xfrm>
          <a:off x="0" y="0"/>
          <a:ext cx="0" cy="0"/>
          <a:chOff x="0" y="0"/>
          <a:chExt cx="0" cy="0"/>
        </a:xfrm>
      </p:grpSpPr>
      <p:sp>
        <p:nvSpPr>
          <p:cNvPr id="2" name="Shape 0"/>
          <p:cNvSpPr/>
          <p:nvPr/>
        </p:nvSpPr>
        <p:spPr>
          <a:xfrm>
            <a:off x="0" y="4617720"/>
            <a:ext cx="12191695" cy="54864"/>
          </a:xfrm>
          <a:prstGeom prst="rect">
            <a:avLst/>
          </a:prstGeom>
          <a:solidFill>
            <a:srgbClr val="0E7C86"/>
          </a:solidFill>
          <a:ln/>
        </p:spPr>
      </p:sp>
      <p:sp>
        <p:nvSpPr>
          <p:cNvPr id="3" name="Text 1"/>
          <p:cNvSpPr/>
          <p:nvPr/>
        </p:nvSpPr>
        <p:spPr>
          <a:xfrm>
            <a:off x="868680" y="1371600"/>
            <a:ext cx="7315200" cy="365760"/>
          </a:xfrm>
          <a:prstGeom prst="rect">
            <a:avLst/>
          </a:prstGeom>
          <a:noFill/>
          <a:ln/>
        </p:spPr>
        <p:txBody>
          <a:bodyPr wrap="square" lIns="0" tIns="0" rIns="0" bIns="0" rtlCol="0" anchor="ctr"/>
          <a:lstStyle/>
          <a:p>
            <a:pPr indent="0" marL="0">
              <a:buNone/>
            </a:pPr>
            <a:r>
              <a:rPr lang="en-US" sz="1300" b="1" spc="400" kern="0" dirty="0">
                <a:solidFill>
                  <a:srgbClr val="7FC7CC"/>
                </a:solidFill>
                <a:latin typeface="Calibri" pitchFamily="34" charset="0"/>
                <a:ea typeface="Calibri" pitchFamily="34" charset="-122"/>
                <a:cs typeface="Calibri" pitchFamily="34" charset="-120"/>
              </a:rPr>
              <a:t>MOBILISE APP LAB</a:t>
            </a:r>
            <a:endParaRPr lang="en-US" sz="1300" dirty="0"/>
          </a:p>
        </p:txBody>
      </p:sp>
      <p:sp>
        <p:nvSpPr>
          <p:cNvPr id="4" name="Text 2"/>
          <p:cNvSpPr/>
          <p:nvPr/>
        </p:nvSpPr>
        <p:spPr>
          <a:xfrm>
            <a:off x="822960" y="1874520"/>
            <a:ext cx="10515600" cy="2011680"/>
          </a:xfrm>
          <a:prstGeom prst="rect">
            <a:avLst/>
          </a:prstGeom>
          <a:noFill/>
          <a:ln/>
        </p:spPr>
        <p:txBody>
          <a:bodyPr wrap="square" lIns="0" tIns="0" rIns="0" bIns="0" rtlCol="0" anchor="ctr"/>
          <a:lstStyle/>
          <a:p>
            <a:pPr indent="0" marL="0">
              <a:lnSpc>
                <a:spcPct val="102000"/>
              </a:lnSpc>
              <a:buNone/>
            </a:pPr>
            <a:r>
              <a:rPr lang="en-US" sz="4800" b="1" dirty="0">
                <a:solidFill>
                  <a:srgbClr val="FFFFFF"/>
                </a:solidFill>
                <a:latin typeface="Calibri" pitchFamily="34" charset="0"/>
                <a:ea typeface="Calibri" pitchFamily="34" charset="-122"/>
                <a:cs typeface="Calibri" pitchFamily="34" charset="-120"/>
              </a:rPr>
              <a:t>Mundra Port</a:t>
            </a:r>
            <a:endParaRPr lang="en-US" sz="4800" dirty="0"/>
          </a:p>
          <a:p>
            <a:pPr indent="0" marL="0">
              <a:lnSpc>
                <a:spcPct val="102000"/>
              </a:lnSpc>
              <a:buNone/>
            </a:pPr>
            <a:r>
              <a:rPr lang="en-US" sz="4800" b="1" dirty="0">
                <a:solidFill>
                  <a:srgbClr val="FFFFFF"/>
                </a:solidFill>
                <a:latin typeface="Calibri" pitchFamily="34" charset="0"/>
                <a:ea typeface="Calibri" pitchFamily="34" charset="-122"/>
                <a:cs typeface="Calibri" pitchFamily="34" charset="-120"/>
              </a:rPr>
              <a:t>Operations Portal</a:t>
            </a:r>
            <a:endParaRPr lang="en-US" sz="4800" dirty="0"/>
          </a:p>
        </p:txBody>
      </p:sp>
      <p:sp>
        <p:nvSpPr>
          <p:cNvPr id="5" name="Text 3"/>
          <p:cNvSpPr/>
          <p:nvPr/>
        </p:nvSpPr>
        <p:spPr>
          <a:xfrm>
            <a:off x="868680" y="3977640"/>
            <a:ext cx="9601200" cy="457200"/>
          </a:xfrm>
          <a:prstGeom prst="rect">
            <a:avLst/>
          </a:prstGeom>
          <a:noFill/>
          <a:ln/>
        </p:spPr>
        <p:txBody>
          <a:bodyPr wrap="square" lIns="0" tIns="0" rIns="0" bIns="0" rtlCol="0" anchor="ctr"/>
          <a:lstStyle/>
          <a:p>
            <a:pPr indent="0" marL="0">
              <a:buNone/>
            </a:pPr>
            <a:r>
              <a:rPr lang="en-US" sz="1700" dirty="0">
                <a:solidFill>
                  <a:srgbClr val="B9CBD3"/>
                </a:solidFill>
                <a:latin typeface="Calibri" pitchFamily="34" charset="0"/>
                <a:ea typeface="Calibri" pitchFamily="34" charset="-122"/>
                <a:cs typeface="Calibri" pitchFamily="34" charset="-120"/>
              </a:rPr>
              <a:t>A short walkthrough of working software — every picture is a real screen.</a:t>
            </a:r>
            <a:endParaRPr lang="en-US" sz="1700" dirty="0"/>
          </a:p>
        </p:txBody>
      </p:sp>
      <p:sp>
        <p:nvSpPr>
          <p:cNvPr id="6" name="Text 4"/>
          <p:cNvSpPr/>
          <p:nvPr/>
        </p:nvSpPr>
        <p:spPr>
          <a:xfrm>
            <a:off x="868680" y="4892040"/>
            <a:ext cx="5486400" cy="365760"/>
          </a:xfrm>
          <a:prstGeom prst="rect">
            <a:avLst/>
          </a:prstGeom>
          <a:noFill/>
          <a:ln/>
        </p:spPr>
        <p:txBody>
          <a:bodyPr wrap="square" lIns="0" tIns="0" rIns="0" bIns="0" rtlCol="0" anchor="ctr"/>
          <a:lstStyle/>
          <a:p>
            <a:pPr indent="0" marL="0">
              <a:buNone/>
            </a:pPr>
            <a:r>
              <a:rPr lang="en-US" sz="1300" dirty="0">
                <a:solidFill>
                  <a:srgbClr val="7A93A0"/>
                </a:solidFill>
                <a:latin typeface="Calibri" pitchFamily="34" charset="0"/>
                <a:ea typeface="Calibri" pitchFamily="34" charset="-122"/>
                <a:cs typeface="Calibri" pitchFamily="34" charset="-120"/>
              </a:rPr>
              <a:t>August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777240"/>
            <a:ext cx="10545775" cy="914400"/>
          </a:xfrm>
          <a:prstGeom prst="rect">
            <a:avLst/>
          </a:prstGeom>
          <a:noFill/>
          <a:ln/>
        </p:spPr>
        <p:txBody>
          <a:bodyPr wrap="square" lIns="0" tIns="0" rIns="0" bIns="0" rtlCol="0" anchor="ctr"/>
          <a:lstStyle/>
          <a:p>
            <a:pPr indent="0" marL="0">
              <a:buNone/>
            </a:pPr>
            <a:r>
              <a:rPr lang="en-US" sz="3400" b="1" dirty="0">
                <a:solidFill>
                  <a:srgbClr val="15242E"/>
                </a:solidFill>
                <a:latin typeface="Calibri" pitchFamily="34" charset="0"/>
                <a:ea typeface="Calibri" pitchFamily="34" charset="-122"/>
                <a:cs typeface="Calibri" pitchFamily="34" charset="-120"/>
              </a:rPr>
              <a:t>What is this?</a:t>
            </a:r>
            <a:endParaRPr lang="en-US" sz="3400" dirty="0"/>
          </a:p>
        </p:txBody>
      </p:sp>
      <p:sp>
        <p:nvSpPr>
          <p:cNvPr id="3" name="Shape 1"/>
          <p:cNvSpPr/>
          <p:nvPr/>
        </p:nvSpPr>
        <p:spPr>
          <a:xfrm>
            <a:off x="868680" y="1691640"/>
            <a:ext cx="2011680" cy="45720"/>
          </a:xfrm>
          <a:prstGeom prst="rect">
            <a:avLst/>
          </a:prstGeom>
          <a:solidFill>
            <a:srgbClr val="0E7C86"/>
          </a:solidFill>
          <a:ln/>
        </p:spPr>
      </p:sp>
      <p:sp>
        <p:nvSpPr>
          <p:cNvPr id="4" name="Text 2"/>
          <p:cNvSpPr/>
          <p:nvPr/>
        </p:nvSpPr>
        <p:spPr>
          <a:xfrm>
            <a:off x="914400" y="2240280"/>
            <a:ext cx="10088575" cy="3840480"/>
          </a:xfrm>
          <a:prstGeom prst="rect">
            <a:avLst/>
          </a:prstGeom>
          <a:noFill/>
          <a:ln/>
        </p:spPr>
        <p:txBody>
          <a:bodyPr wrap="square" rtlCol="0" anchor="t"/>
          <a:lstStyle/>
          <a:p>
            <a:pPr marL="279400" indent="-279400">
              <a:lnSpc>
                <a:spcPct val="112000"/>
              </a:lnSpc>
              <a:spcAft>
                <a:spcPts val="1800"/>
              </a:spcAft>
              <a:buSzPct val="100000"/>
              <a:buChar char="•"/>
            </a:pPr>
            <a:r>
              <a:rPr lang="en-US" sz="2000" dirty="0">
                <a:solidFill>
                  <a:srgbClr val="2E4450"/>
                </a:solidFill>
                <a:latin typeface="Calibri" pitchFamily="34" charset="0"/>
                <a:ea typeface="Calibri" pitchFamily="34" charset="-122"/>
                <a:cs typeface="Calibri" pitchFamily="34" charset="-120"/>
              </a:rPr>
              <a:t>One software where the whole port works — every department, one login.</a:t>
            </a:r>
            <a:endParaRPr lang="en-US" sz="2000" dirty="0"/>
          </a:p>
          <a:p>
            <a:pPr marL="279400" indent="-279400">
              <a:lnSpc>
                <a:spcPct val="112000"/>
              </a:lnSpc>
              <a:spcAft>
                <a:spcPts val="1800"/>
              </a:spcAft>
              <a:buSzPct val="100000"/>
              <a:buChar char="•"/>
            </a:pPr>
            <a:r>
              <a:rPr lang="en-US" sz="2000" dirty="0">
                <a:solidFill>
                  <a:srgbClr val="2E4450"/>
                </a:solidFill>
                <a:latin typeface="Calibri" pitchFamily="34" charset="0"/>
                <a:ea typeface="Calibri" pitchFamily="34" charset="-122"/>
                <a:cs typeface="Calibri" pitchFamily="34" charset="-120"/>
              </a:rPr>
              <a:t>It covers daily harbour operations, vessels, crew, incidents, inspections, port companies, billing and reports.</a:t>
            </a:r>
            <a:endParaRPr lang="en-US" sz="2000" dirty="0"/>
          </a:p>
          <a:p>
            <a:pPr marL="279400" indent="-279400">
              <a:lnSpc>
                <a:spcPct val="112000"/>
              </a:lnSpc>
              <a:buSzPct val="100000"/>
              <a:buChar char="•"/>
            </a:pPr>
            <a:r>
              <a:rPr lang="en-US" sz="2000" dirty="0">
                <a:solidFill>
                  <a:srgbClr val="2E4450"/>
                </a:solidFill>
                <a:latin typeface="Calibri" pitchFamily="34" charset="0"/>
                <a:ea typeface="Calibri" pitchFamily="34" charset="-122"/>
                <a:cs typeface="Calibri" pitchFamily="34" charset="-120"/>
              </a:rPr>
              <a:t>It is already built and running. This deck is just pictures of it.</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8F8"/>
        </a:solidFill>
      </p:bgPr>
    </p:bg>
    <p:spTree>
      <p:nvGrpSpPr>
        <p:cNvPr id="1" name=""/>
        <p:cNvGrpSpPr/>
        <p:nvPr/>
      </p:nvGrpSpPr>
      <p:grpSpPr>
        <a:xfrm>
          <a:off x="0" y="0"/>
          <a:ext cx="0" cy="0"/>
          <a:chOff x="0" y="0"/>
          <a:chExt cx="0" cy="0"/>
        </a:xfrm>
      </p:grpSpPr>
      <p:sp>
        <p:nvSpPr>
          <p:cNvPr id="2" name="Text 0"/>
          <p:cNvSpPr/>
          <p:nvPr/>
        </p:nvSpPr>
        <p:spPr>
          <a:xfrm>
            <a:off x="502920" y="384048"/>
            <a:ext cx="566928" cy="566928"/>
          </a:xfrm>
          <a:prstGeom prst="roundRect">
            <a:avLst>
              <a:gd name="adj" fmla="val 14516"/>
            </a:avLst>
          </a:prstGeom>
          <a:solidFill>
            <a:srgbClr val="0A2239"/>
          </a:solid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3" name="Text 1"/>
          <p:cNvSpPr/>
          <p:nvPr/>
        </p:nvSpPr>
        <p:spPr>
          <a:xfrm>
            <a:off x="1261872" y="329184"/>
            <a:ext cx="10426903" cy="676656"/>
          </a:xfrm>
          <a:prstGeom prst="rect">
            <a:avLst/>
          </a:prstGeom>
          <a:noFill/>
          <a:ln/>
        </p:spPr>
        <p:txBody>
          <a:bodyPr wrap="square" lIns="0" tIns="0" rIns="0" bIns="0" rtlCol="0" anchor="ctr"/>
          <a:lstStyle/>
          <a:p>
            <a:pPr indent="0" marL="0">
              <a:buNone/>
            </a:pPr>
            <a:r>
              <a:rPr lang="en-US" sz="2100" b="1" dirty="0">
                <a:solidFill>
                  <a:srgbClr val="15242E"/>
                </a:solidFill>
                <a:latin typeface="Calibri" pitchFamily="34" charset="0"/>
                <a:ea typeface="Calibri" pitchFamily="34" charset="-122"/>
                <a:cs typeface="Calibri" pitchFamily="34" charset="-120"/>
              </a:rPr>
              <a:t>Sign in once — each person sees only the applications their role needs.</a:t>
            </a:r>
            <a:endParaRPr lang="en-US" sz="2100" dirty="0"/>
          </a:p>
        </p:txBody>
      </p:sp>
      <p:sp>
        <p:nvSpPr>
          <p:cNvPr id="4" name="Shape 2"/>
          <p:cNvSpPr/>
          <p:nvPr/>
        </p:nvSpPr>
        <p:spPr>
          <a:xfrm>
            <a:off x="1280160" y="987552"/>
            <a:ext cx="2011680" cy="41148"/>
          </a:xfrm>
          <a:prstGeom prst="rect">
            <a:avLst/>
          </a:prstGeom>
          <a:solidFill>
            <a:srgbClr val="0E7C86"/>
          </a:solidFill>
          <a:ln/>
        </p:spPr>
      </p:sp>
      <p:pic>
        <p:nvPicPr>
          <p:cNvPr id="5" name="Image 0" descr="/home/user/maritime-project-presentation/portal/.dev/shots/v6-01-launcher.png">    </p:cNvPr>
          <p:cNvPicPr>
            <a:picLocks noChangeAspect="1"/>
          </p:cNvPicPr>
          <p:nvPr/>
        </p:nvPicPr>
        <p:blipFill>
          <a:blip r:embed="rId1"/>
          <a:stretch>
            <a:fillRect/>
          </a:stretch>
        </p:blipFill>
        <p:spPr>
          <a:xfrm>
            <a:off x="1706728" y="1143000"/>
            <a:ext cx="8778240" cy="5486400"/>
          </a:xfrm>
          <a:prstGeom prst="ellipse">
            <a:avLst/>
          </a:prstGeom>
          <a:effectLst>
            <a:outerShdw sx="100000" sy="100000" kx="0" ky="0" algn="bl" rotWithShape="0" blurRad="127000" dist="25400" dir="5400000">
              <a:srgbClr val="0A2239">
                <a:alpha val="28000"/>
              </a:srgbClr>
            </a:outerShdw>
          </a:effec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8F8"/>
        </a:solidFill>
      </p:bgPr>
    </p:bg>
    <p:spTree>
      <p:nvGrpSpPr>
        <p:cNvPr id="1" name=""/>
        <p:cNvGrpSpPr/>
        <p:nvPr/>
      </p:nvGrpSpPr>
      <p:grpSpPr>
        <a:xfrm>
          <a:off x="0" y="0"/>
          <a:ext cx="0" cy="0"/>
          <a:chOff x="0" y="0"/>
          <a:chExt cx="0" cy="0"/>
        </a:xfrm>
      </p:grpSpPr>
      <p:sp>
        <p:nvSpPr>
          <p:cNvPr id="2" name="Text 0"/>
          <p:cNvSpPr/>
          <p:nvPr/>
        </p:nvSpPr>
        <p:spPr>
          <a:xfrm>
            <a:off x="502920" y="384048"/>
            <a:ext cx="566928" cy="566928"/>
          </a:xfrm>
          <a:prstGeom prst="roundRect">
            <a:avLst>
              <a:gd name="adj" fmla="val 14516"/>
            </a:avLst>
          </a:prstGeom>
          <a:solidFill>
            <a:srgbClr val="0A2239"/>
          </a:solid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3" name="Text 1"/>
          <p:cNvSpPr/>
          <p:nvPr/>
        </p:nvSpPr>
        <p:spPr>
          <a:xfrm>
            <a:off x="1261872" y="329184"/>
            <a:ext cx="10426903" cy="676656"/>
          </a:xfrm>
          <a:prstGeom prst="rect">
            <a:avLst/>
          </a:prstGeom>
          <a:noFill/>
          <a:ln/>
        </p:spPr>
        <p:txBody>
          <a:bodyPr wrap="square" lIns="0" tIns="0" rIns="0" bIns="0" rtlCol="0" anchor="ctr"/>
          <a:lstStyle/>
          <a:p>
            <a:pPr indent="0" marL="0">
              <a:buNone/>
            </a:pPr>
            <a:r>
              <a:rPr lang="en-US" sz="2100" b="1" dirty="0">
                <a:solidFill>
                  <a:srgbClr val="15242E"/>
                </a:solidFill>
                <a:latin typeface="Calibri" pitchFamily="34" charset="0"/>
                <a:ea typeface="Calibri" pitchFamily="34" charset="-122"/>
                <a:cs typeface="Calibri" pitchFamily="34" charset="-120"/>
              </a:rPr>
              <a:t>The whole port on one screen, the moment you sign in.</a:t>
            </a:r>
            <a:endParaRPr lang="en-US" sz="2100" dirty="0"/>
          </a:p>
        </p:txBody>
      </p:sp>
      <p:sp>
        <p:nvSpPr>
          <p:cNvPr id="4" name="Shape 2"/>
          <p:cNvSpPr/>
          <p:nvPr/>
        </p:nvSpPr>
        <p:spPr>
          <a:xfrm>
            <a:off x="1280160" y="987552"/>
            <a:ext cx="2011680" cy="41148"/>
          </a:xfrm>
          <a:prstGeom prst="rect">
            <a:avLst/>
          </a:prstGeom>
          <a:solidFill>
            <a:srgbClr val="0E7C86"/>
          </a:solidFill>
          <a:ln/>
        </p:spPr>
      </p:sp>
      <p:pic>
        <p:nvPicPr>
          <p:cNvPr id="5" name="Image 0" descr="/home/user/maritime-project-presentation/portal/.dev/shots/v6-17-dashboard.png">    </p:cNvPr>
          <p:cNvPicPr>
            <a:picLocks noChangeAspect="1"/>
          </p:cNvPicPr>
          <p:nvPr/>
        </p:nvPicPr>
        <p:blipFill>
          <a:blip r:embed="rId1"/>
          <a:stretch>
            <a:fillRect/>
          </a:stretch>
        </p:blipFill>
        <p:spPr>
          <a:xfrm>
            <a:off x="1706728" y="1143000"/>
            <a:ext cx="8778240" cy="5486400"/>
          </a:xfrm>
          <a:prstGeom prst="ellipse">
            <a:avLst/>
          </a:prstGeom>
          <a:effectLst>
            <a:outerShdw sx="100000" sy="100000" kx="0" ky="0" algn="bl" rotWithShape="0" blurRad="127000" dist="25400" dir="5400000">
              <a:srgbClr val="0A2239">
                <a:alpha val="28000"/>
              </a:srgbClr>
            </a:outerShdw>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8F8"/>
        </a:solidFill>
      </p:bgPr>
    </p:bg>
    <p:spTree>
      <p:nvGrpSpPr>
        <p:cNvPr id="1" name=""/>
        <p:cNvGrpSpPr/>
        <p:nvPr/>
      </p:nvGrpSpPr>
      <p:grpSpPr>
        <a:xfrm>
          <a:off x="0" y="0"/>
          <a:ext cx="0" cy="0"/>
          <a:chOff x="0" y="0"/>
          <a:chExt cx="0" cy="0"/>
        </a:xfrm>
      </p:grpSpPr>
      <p:sp>
        <p:nvSpPr>
          <p:cNvPr id="2" name="Text 0"/>
          <p:cNvSpPr/>
          <p:nvPr/>
        </p:nvSpPr>
        <p:spPr>
          <a:xfrm>
            <a:off x="502920" y="384048"/>
            <a:ext cx="566928" cy="566928"/>
          </a:xfrm>
          <a:prstGeom prst="roundRect">
            <a:avLst>
              <a:gd name="adj" fmla="val 14516"/>
            </a:avLst>
          </a:prstGeom>
          <a:solidFill>
            <a:srgbClr val="0A2239"/>
          </a:solid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3" name="Text 1"/>
          <p:cNvSpPr/>
          <p:nvPr/>
        </p:nvSpPr>
        <p:spPr>
          <a:xfrm>
            <a:off x="1261872" y="329184"/>
            <a:ext cx="10426903" cy="676656"/>
          </a:xfrm>
          <a:prstGeom prst="rect">
            <a:avLst/>
          </a:prstGeom>
          <a:noFill/>
          <a:ln/>
        </p:spPr>
        <p:txBody>
          <a:bodyPr wrap="square" lIns="0" tIns="0" rIns="0" bIns="0" rtlCol="0" anchor="ctr"/>
          <a:lstStyle/>
          <a:p>
            <a:pPr indent="0" marL="0">
              <a:buNone/>
            </a:pPr>
            <a:r>
              <a:rPr lang="en-US" sz="2100" b="1" dirty="0">
                <a:solidFill>
                  <a:srgbClr val="15242E"/>
                </a:solidFill>
                <a:latin typeface="Calibri" pitchFamily="34" charset="0"/>
                <a:ea typeface="Calibri" pitchFamily="34" charset="-122"/>
                <a:cs typeface="Calibri" pitchFamily="34" charset="-120"/>
              </a:rPr>
              <a:t>Every berth and every vessel — who is where, right now.</a:t>
            </a:r>
            <a:endParaRPr lang="en-US" sz="2100" dirty="0"/>
          </a:p>
        </p:txBody>
      </p:sp>
      <p:sp>
        <p:nvSpPr>
          <p:cNvPr id="4" name="Shape 2"/>
          <p:cNvSpPr/>
          <p:nvPr/>
        </p:nvSpPr>
        <p:spPr>
          <a:xfrm>
            <a:off x="1280160" y="987552"/>
            <a:ext cx="2011680" cy="41148"/>
          </a:xfrm>
          <a:prstGeom prst="rect">
            <a:avLst/>
          </a:prstGeom>
          <a:solidFill>
            <a:srgbClr val="0E7C86"/>
          </a:solidFill>
          <a:ln/>
        </p:spPr>
      </p:sp>
      <p:pic>
        <p:nvPicPr>
          <p:cNvPr id="5" name="Image 0" descr="/home/user/maritime-project-presentation/portal/.dev/shots/v5-14-quay-twin.png">    </p:cNvPr>
          <p:cNvPicPr>
            <a:picLocks noChangeAspect="1"/>
          </p:cNvPicPr>
          <p:nvPr/>
        </p:nvPicPr>
        <p:blipFill>
          <a:blip r:embed="rId1"/>
          <a:stretch>
            <a:fillRect/>
          </a:stretch>
        </p:blipFill>
        <p:spPr>
          <a:xfrm>
            <a:off x="1706728" y="1143000"/>
            <a:ext cx="8778240" cy="5486400"/>
          </a:xfrm>
          <a:prstGeom prst="ellipse">
            <a:avLst/>
          </a:prstGeom>
          <a:effectLst>
            <a:outerShdw sx="100000" sy="100000" kx="0" ky="0" algn="bl" rotWithShape="0" blurRad="127000" dist="25400" dir="5400000">
              <a:srgbClr val="0A2239">
                <a:alpha val="28000"/>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8F8"/>
        </a:solidFill>
      </p:bgPr>
    </p:bg>
    <p:spTree>
      <p:nvGrpSpPr>
        <p:cNvPr id="1" name=""/>
        <p:cNvGrpSpPr/>
        <p:nvPr/>
      </p:nvGrpSpPr>
      <p:grpSpPr>
        <a:xfrm>
          <a:off x="0" y="0"/>
          <a:ext cx="0" cy="0"/>
          <a:chOff x="0" y="0"/>
          <a:chExt cx="0" cy="0"/>
        </a:xfrm>
      </p:grpSpPr>
      <p:sp>
        <p:nvSpPr>
          <p:cNvPr id="2" name="Text 0"/>
          <p:cNvSpPr/>
          <p:nvPr/>
        </p:nvSpPr>
        <p:spPr>
          <a:xfrm>
            <a:off x="502920" y="384048"/>
            <a:ext cx="566928" cy="566928"/>
          </a:xfrm>
          <a:prstGeom prst="roundRect">
            <a:avLst>
              <a:gd name="adj" fmla="val 14516"/>
            </a:avLst>
          </a:prstGeom>
          <a:solidFill>
            <a:srgbClr val="0A2239"/>
          </a:solid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3" name="Text 1"/>
          <p:cNvSpPr/>
          <p:nvPr/>
        </p:nvSpPr>
        <p:spPr>
          <a:xfrm>
            <a:off x="1261872" y="329184"/>
            <a:ext cx="10426903" cy="676656"/>
          </a:xfrm>
          <a:prstGeom prst="rect">
            <a:avLst/>
          </a:prstGeom>
          <a:noFill/>
          <a:ln/>
        </p:spPr>
        <p:txBody>
          <a:bodyPr wrap="square" lIns="0" tIns="0" rIns="0" bIns="0" rtlCol="0" anchor="ctr"/>
          <a:lstStyle/>
          <a:p>
            <a:pPr indent="0" marL="0">
              <a:buNone/>
            </a:pPr>
            <a:r>
              <a:rPr lang="en-US" sz="2100" b="1" dirty="0">
                <a:solidFill>
                  <a:srgbClr val="15242E"/>
                </a:solidFill>
                <a:latin typeface="Calibri" pitchFamily="34" charset="0"/>
                <a:ea typeface="Calibri" pitchFamily="34" charset="-122"/>
                <a:cs typeface="Calibri" pitchFamily="34" charset="-120"/>
              </a:rPr>
              <a:t>The daily berthing report you already publish — generated automatically.</a:t>
            </a:r>
            <a:endParaRPr lang="en-US" sz="2100" dirty="0"/>
          </a:p>
        </p:txBody>
      </p:sp>
      <p:sp>
        <p:nvSpPr>
          <p:cNvPr id="4" name="Shape 2"/>
          <p:cNvSpPr/>
          <p:nvPr/>
        </p:nvSpPr>
        <p:spPr>
          <a:xfrm>
            <a:off x="1280160" y="987552"/>
            <a:ext cx="2011680" cy="41148"/>
          </a:xfrm>
          <a:prstGeom prst="rect">
            <a:avLst/>
          </a:prstGeom>
          <a:solidFill>
            <a:srgbClr val="0E7C86"/>
          </a:solidFill>
          <a:ln/>
        </p:spPr>
      </p:sp>
      <p:pic>
        <p:nvPicPr>
          <p:cNvPr id="5" name="Image 0" descr="/home/user/maritime-project-presentation/portal/.dev/shots/v6-05-berthing-report.png">    </p:cNvPr>
          <p:cNvPicPr>
            <a:picLocks noChangeAspect="1"/>
          </p:cNvPicPr>
          <p:nvPr/>
        </p:nvPicPr>
        <p:blipFill>
          <a:blip r:embed="rId1"/>
          <a:stretch>
            <a:fillRect/>
          </a:stretch>
        </p:blipFill>
        <p:spPr>
          <a:xfrm>
            <a:off x="1706728" y="1143000"/>
            <a:ext cx="8778240" cy="5486400"/>
          </a:xfrm>
          <a:prstGeom prst="ellipse">
            <a:avLst/>
          </a:prstGeom>
          <a:effectLst>
            <a:outerShdw sx="100000" sy="100000" kx="0" ky="0" algn="bl" rotWithShape="0" blurRad="127000" dist="25400" dir="5400000">
              <a:srgbClr val="0A2239">
                <a:alpha val="28000"/>
              </a:srgbClr>
            </a:outerShdw>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8F8"/>
        </a:solidFill>
      </p:bgPr>
    </p:bg>
    <p:spTree>
      <p:nvGrpSpPr>
        <p:cNvPr id="1" name=""/>
        <p:cNvGrpSpPr/>
        <p:nvPr/>
      </p:nvGrpSpPr>
      <p:grpSpPr>
        <a:xfrm>
          <a:off x="0" y="0"/>
          <a:ext cx="0" cy="0"/>
          <a:chOff x="0" y="0"/>
          <a:chExt cx="0" cy="0"/>
        </a:xfrm>
      </p:grpSpPr>
      <p:sp>
        <p:nvSpPr>
          <p:cNvPr id="2" name="Text 0"/>
          <p:cNvSpPr/>
          <p:nvPr/>
        </p:nvSpPr>
        <p:spPr>
          <a:xfrm>
            <a:off x="502920" y="384048"/>
            <a:ext cx="566928" cy="566928"/>
          </a:xfrm>
          <a:prstGeom prst="roundRect">
            <a:avLst>
              <a:gd name="adj" fmla="val 14516"/>
            </a:avLst>
          </a:prstGeom>
          <a:solidFill>
            <a:srgbClr val="0A2239"/>
          </a:solid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5</a:t>
            </a:r>
            <a:endParaRPr lang="en-US" sz="2000" dirty="0"/>
          </a:p>
        </p:txBody>
      </p:sp>
      <p:sp>
        <p:nvSpPr>
          <p:cNvPr id="3" name="Text 1"/>
          <p:cNvSpPr/>
          <p:nvPr/>
        </p:nvSpPr>
        <p:spPr>
          <a:xfrm>
            <a:off x="1261872" y="329184"/>
            <a:ext cx="10426903" cy="676656"/>
          </a:xfrm>
          <a:prstGeom prst="rect">
            <a:avLst/>
          </a:prstGeom>
          <a:noFill/>
          <a:ln/>
        </p:spPr>
        <p:txBody>
          <a:bodyPr wrap="square" lIns="0" tIns="0" rIns="0" bIns="0" rtlCol="0" anchor="ctr"/>
          <a:lstStyle/>
          <a:p>
            <a:pPr indent="0" marL="0">
              <a:buNone/>
            </a:pPr>
            <a:r>
              <a:rPr lang="en-US" sz="2100" b="1" dirty="0">
                <a:solidFill>
                  <a:srgbClr val="15242E"/>
                </a:solidFill>
                <a:latin typeface="Calibri" pitchFamily="34" charset="0"/>
                <a:ea typeface="Calibri" pitchFamily="34" charset="-122"/>
                <a:cs typeface="Calibri" pitchFamily="34" charset="-120"/>
              </a:rPr>
              <a:t>Twenty-four ready reports — Excel and PDF in one click.</a:t>
            </a:r>
            <a:endParaRPr lang="en-US" sz="2100" dirty="0"/>
          </a:p>
        </p:txBody>
      </p:sp>
      <p:sp>
        <p:nvSpPr>
          <p:cNvPr id="4" name="Shape 2"/>
          <p:cNvSpPr/>
          <p:nvPr/>
        </p:nvSpPr>
        <p:spPr>
          <a:xfrm>
            <a:off x="1280160" y="987552"/>
            <a:ext cx="2011680" cy="41148"/>
          </a:xfrm>
          <a:prstGeom prst="rect">
            <a:avLst/>
          </a:prstGeom>
          <a:solidFill>
            <a:srgbClr val="0E7C86"/>
          </a:solidFill>
          <a:ln/>
        </p:spPr>
      </p:sp>
      <p:pic>
        <p:nvPicPr>
          <p:cNvPr id="5" name="Image 0" descr="/home/user/maritime-project-presentation/portal/.dev/shots/v6-04-report-library.png">    </p:cNvPr>
          <p:cNvPicPr>
            <a:picLocks noChangeAspect="1"/>
          </p:cNvPicPr>
          <p:nvPr/>
        </p:nvPicPr>
        <p:blipFill>
          <a:blip r:embed="rId1"/>
          <a:stretch>
            <a:fillRect/>
          </a:stretch>
        </p:blipFill>
        <p:spPr>
          <a:xfrm>
            <a:off x="1706728" y="1143000"/>
            <a:ext cx="8778240" cy="5486400"/>
          </a:xfrm>
          <a:prstGeom prst="ellipse">
            <a:avLst/>
          </a:prstGeom>
          <a:effectLst>
            <a:outerShdw sx="100000" sy="100000" kx="0" ky="0" algn="bl" rotWithShape="0" blurRad="127000" dist="25400" dir="5400000">
              <a:srgbClr val="0A2239">
                <a:alpha val="28000"/>
              </a:srgbClr>
            </a:outerShdw>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8F8"/>
        </a:solidFill>
      </p:bgPr>
    </p:bg>
    <p:spTree>
      <p:nvGrpSpPr>
        <p:cNvPr id="1" name=""/>
        <p:cNvGrpSpPr/>
        <p:nvPr/>
      </p:nvGrpSpPr>
      <p:grpSpPr>
        <a:xfrm>
          <a:off x="0" y="0"/>
          <a:ext cx="0" cy="0"/>
          <a:chOff x="0" y="0"/>
          <a:chExt cx="0" cy="0"/>
        </a:xfrm>
      </p:grpSpPr>
      <p:sp>
        <p:nvSpPr>
          <p:cNvPr id="2" name="Text 0"/>
          <p:cNvSpPr/>
          <p:nvPr/>
        </p:nvSpPr>
        <p:spPr>
          <a:xfrm>
            <a:off x="502920" y="384048"/>
            <a:ext cx="566928" cy="566928"/>
          </a:xfrm>
          <a:prstGeom prst="roundRect">
            <a:avLst>
              <a:gd name="adj" fmla="val 14516"/>
            </a:avLst>
          </a:prstGeom>
          <a:solidFill>
            <a:srgbClr val="0A2239"/>
          </a:solid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6</a:t>
            </a:r>
            <a:endParaRPr lang="en-US" sz="2000" dirty="0"/>
          </a:p>
        </p:txBody>
      </p:sp>
      <p:sp>
        <p:nvSpPr>
          <p:cNvPr id="3" name="Text 1"/>
          <p:cNvSpPr/>
          <p:nvPr/>
        </p:nvSpPr>
        <p:spPr>
          <a:xfrm>
            <a:off x="1261872" y="329184"/>
            <a:ext cx="10426903" cy="676656"/>
          </a:xfrm>
          <a:prstGeom prst="rect">
            <a:avLst/>
          </a:prstGeom>
          <a:noFill/>
          <a:ln/>
        </p:spPr>
        <p:txBody>
          <a:bodyPr wrap="square" lIns="0" tIns="0" rIns="0" bIns="0" rtlCol="0" anchor="ctr"/>
          <a:lstStyle/>
          <a:p>
            <a:pPr indent="0" marL="0">
              <a:buNone/>
            </a:pPr>
            <a:r>
              <a:rPr lang="en-US" sz="2100" b="1" dirty="0">
                <a:solidFill>
                  <a:srgbClr val="15242E"/>
                </a:solidFill>
                <a:latin typeface="Calibri" pitchFamily="34" charset="0"/>
                <a:ea typeface="Calibri" pitchFamily="34" charset="-122"/>
                <a:cs typeface="Calibri" pitchFamily="34" charset="-120"/>
              </a:rPr>
              <a:t>Incidents become case files — reported, assigned, resolved, closed.</a:t>
            </a:r>
            <a:endParaRPr lang="en-US" sz="2100" dirty="0"/>
          </a:p>
        </p:txBody>
      </p:sp>
      <p:sp>
        <p:nvSpPr>
          <p:cNvPr id="4" name="Shape 2"/>
          <p:cNvSpPr/>
          <p:nvPr/>
        </p:nvSpPr>
        <p:spPr>
          <a:xfrm>
            <a:off x="1280160" y="987552"/>
            <a:ext cx="2011680" cy="41148"/>
          </a:xfrm>
          <a:prstGeom prst="rect">
            <a:avLst/>
          </a:prstGeom>
          <a:solidFill>
            <a:srgbClr val="0E7C86"/>
          </a:solidFill>
          <a:ln/>
        </p:spPr>
      </p:sp>
      <p:pic>
        <p:nvPicPr>
          <p:cNvPr id="5" name="Image 0" descr="/home/user/maritime-project-presentation/portal/.dev/shots/v5-02-incident-dashboard.png">    </p:cNvPr>
          <p:cNvPicPr>
            <a:picLocks noChangeAspect="1"/>
          </p:cNvPicPr>
          <p:nvPr/>
        </p:nvPicPr>
        <p:blipFill>
          <a:blip r:embed="rId1"/>
          <a:stretch>
            <a:fillRect/>
          </a:stretch>
        </p:blipFill>
        <p:spPr>
          <a:xfrm>
            <a:off x="1706728" y="1143000"/>
            <a:ext cx="8778240" cy="5486400"/>
          </a:xfrm>
          <a:prstGeom prst="ellipse">
            <a:avLst/>
          </a:prstGeom>
          <a:effectLst>
            <a:outerShdw sx="100000" sy="100000" kx="0" ky="0" algn="bl" rotWithShape="0" blurRad="127000" dist="25400" dir="5400000">
              <a:srgbClr val="0A2239">
                <a:alpha val="28000"/>
              </a:srgbClr>
            </a:outerShdw>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8F8"/>
        </a:solidFill>
      </p:bgPr>
    </p:bg>
    <p:spTree>
      <p:nvGrpSpPr>
        <p:cNvPr id="1" name=""/>
        <p:cNvGrpSpPr/>
        <p:nvPr/>
      </p:nvGrpSpPr>
      <p:grpSpPr>
        <a:xfrm>
          <a:off x="0" y="0"/>
          <a:ext cx="0" cy="0"/>
          <a:chOff x="0" y="0"/>
          <a:chExt cx="0" cy="0"/>
        </a:xfrm>
      </p:grpSpPr>
      <p:sp>
        <p:nvSpPr>
          <p:cNvPr id="2" name="Text 0"/>
          <p:cNvSpPr/>
          <p:nvPr/>
        </p:nvSpPr>
        <p:spPr>
          <a:xfrm>
            <a:off x="502920" y="384048"/>
            <a:ext cx="566928" cy="566928"/>
          </a:xfrm>
          <a:prstGeom prst="roundRect">
            <a:avLst>
              <a:gd name="adj" fmla="val 14516"/>
            </a:avLst>
          </a:prstGeom>
          <a:solidFill>
            <a:srgbClr val="0A2239"/>
          </a:solid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7</a:t>
            </a:r>
            <a:endParaRPr lang="en-US" sz="2000" dirty="0"/>
          </a:p>
        </p:txBody>
      </p:sp>
      <p:sp>
        <p:nvSpPr>
          <p:cNvPr id="3" name="Text 1"/>
          <p:cNvSpPr/>
          <p:nvPr/>
        </p:nvSpPr>
        <p:spPr>
          <a:xfrm>
            <a:off x="1261872" y="329184"/>
            <a:ext cx="10426903" cy="676656"/>
          </a:xfrm>
          <a:prstGeom prst="rect">
            <a:avLst/>
          </a:prstGeom>
          <a:noFill/>
          <a:ln/>
        </p:spPr>
        <p:txBody>
          <a:bodyPr wrap="square" lIns="0" tIns="0" rIns="0" bIns="0" rtlCol="0" anchor="ctr"/>
          <a:lstStyle/>
          <a:p>
            <a:pPr indent="0" marL="0">
              <a:buNone/>
            </a:pPr>
            <a:r>
              <a:rPr lang="en-US" sz="2100" b="1" dirty="0">
                <a:solidFill>
                  <a:srgbClr val="15242E"/>
                </a:solidFill>
                <a:latin typeface="Calibri" pitchFamily="34" charset="0"/>
                <a:ea typeface="Calibri" pitchFamily="34" charset="-122"/>
                <a:cs typeface="Calibri" pitchFamily="34" charset="-120"/>
              </a:rPr>
              <a:t>Inspections run on your own checklists — your team writes the questions.</a:t>
            </a:r>
            <a:endParaRPr lang="en-US" sz="2100" dirty="0"/>
          </a:p>
        </p:txBody>
      </p:sp>
      <p:sp>
        <p:nvSpPr>
          <p:cNvPr id="4" name="Shape 2"/>
          <p:cNvSpPr/>
          <p:nvPr/>
        </p:nvSpPr>
        <p:spPr>
          <a:xfrm>
            <a:off x="1280160" y="987552"/>
            <a:ext cx="2011680" cy="41148"/>
          </a:xfrm>
          <a:prstGeom prst="rect">
            <a:avLst/>
          </a:prstGeom>
          <a:solidFill>
            <a:srgbClr val="0E7C86"/>
          </a:solidFill>
          <a:ln/>
        </p:spPr>
      </p:sp>
      <p:pic>
        <p:nvPicPr>
          <p:cNvPr id="5" name="Image 0" descr="/home/user/maritime-project-presentation/portal/.dev/shots/v6-09-checklist-builder.png">    </p:cNvPr>
          <p:cNvPicPr>
            <a:picLocks noChangeAspect="1"/>
          </p:cNvPicPr>
          <p:nvPr/>
        </p:nvPicPr>
        <p:blipFill>
          <a:blip r:embed="rId1"/>
          <a:stretch>
            <a:fillRect/>
          </a:stretch>
        </p:blipFill>
        <p:spPr>
          <a:xfrm>
            <a:off x="1706728" y="1143000"/>
            <a:ext cx="8778240" cy="5486400"/>
          </a:xfrm>
          <a:prstGeom prst="ellipse">
            <a:avLst/>
          </a:prstGeom>
          <a:effectLst>
            <a:outerShdw sx="100000" sy="100000" kx="0" ky="0" algn="bl" rotWithShape="0" blurRad="127000" dist="25400" dir="5400000">
              <a:srgbClr val="0A2239">
                <a:alpha val="28000"/>
              </a:srgbClr>
            </a:outerShdw>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8F8"/>
        </a:solidFill>
      </p:bgPr>
    </p:bg>
    <p:spTree>
      <p:nvGrpSpPr>
        <p:cNvPr id="1" name=""/>
        <p:cNvGrpSpPr/>
        <p:nvPr/>
      </p:nvGrpSpPr>
      <p:grpSpPr>
        <a:xfrm>
          <a:off x="0" y="0"/>
          <a:ext cx="0" cy="0"/>
          <a:chOff x="0" y="0"/>
          <a:chExt cx="0" cy="0"/>
        </a:xfrm>
      </p:grpSpPr>
      <p:sp>
        <p:nvSpPr>
          <p:cNvPr id="2" name="Text 0"/>
          <p:cNvSpPr/>
          <p:nvPr/>
        </p:nvSpPr>
        <p:spPr>
          <a:xfrm>
            <a:off x="502920" y="384048"/>
            <a:ext cx="566928" cy="566928"/>
          </a:xfrm>
          <a:prstGeom prst="roundRect">
            <a:avLst>
              <a:gd name="adj" fmla="val 14516"/>
            </a:avLst>
          </a:prstGeom>
          <a:solidFill>
            <a:srgbClr val="0A2239"/>
          </a:solid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8</a:t>
            </a:r>
            <a:endParaRPr lang="en-US" sz="2000" dirty="0"/>
          </a:p>
        </p:txBody>
      </p:sp>
      <p:sp>
        <p:nvSpPr>
          <p:cNvPr id="3" name="Text 1"/>
          <p:cNvSpPr/>
          <p:nvPr/>
        </p:nvSpPr>
        <p:spPr>
          <a:xfrm>
            <a:off x="1261872" y="329184"/>
            <a:ext cx="10426903" cy="676656"/>
          </a:xfrm>
          <a:prstGeom prst="rect">
            <a:avLst/>
          </a:prstGeom>
          <a:noFill/>
          <a:ln/>
        </p:spPr>
        <p:txBody>
          <a:bodyPr wrap="square" lIns="0" tIns="0" rIns="0" bIns="0" rtlCol="0" anchor="ctr"/>
          <a:lstStyle/>
          <a:p>
            <a:pPr indent="0" marL="0">
              <a:buNone/>
            </a:pPr>
            <a:r>
              <a:rPr lang="en-US" sz="2100" b="1" dirty="0">
                <a:solidFill>
                  <a:srgbClr val="15242E"/>
                </a:solidFill>
                <a:latin typeface="Calibri" pitchFamily="34" charset="0"/>
                <a:ea typeface="Calibri" pitchFamily="34" charset="-122"/>
                <a:cs typeface="Calibri" pitchFamily="34" charset="-120"/>
              </a:rPr>
              <a:t>Crew and certificates tracked — warnings before anything expires.</a:t>
            </a:r>
            <a:endParaRPr lang="en-US" sz="2100" dirty="0"/>
          </a:p>
        </p:txBody>
      </p:sp>
      <p:sp>
        <p:nvSpPr>
          <p:cNvPr id="4" name="Shape 2"/>
          <p:cNvSpPr/>
          <p:nvPr/>
        </p:nvSpPr>
        <p:spPr>
          <a:xfrm>
            <a:off x="1280160" y="987552"/>
            <a:ext cx="2011680" cy="41148"/>
          </a:xfrm>
          <a:prstGeom prst="rect">
            <a:avLst/>
          </a:prstGeom>
          <a:solidFill>
            <a:srgbClr val="0E7C86"/>
          </a:solidFill>
          <a:ln/>
        </p:spPr>
      </p:sp>
      <p:pic>
        <p:nvPicPr>
          <p:cNvPr id="5" name="Image 0" descr="/home/user/maritime-project-presentation/portal/.dev/shots/v6-13-crew-dashboard.png">    </p:cNvPr>
          <p:cNvPicPr>
            <a:picLocks noChangeAspect="1"/>
          </p:cNvPicPr>
          <p:nvPr/>
        </p:nvPicPr>
        <p:blipFill>
          <a:blip r:embed="rId1"/>
          <a:stretch>
            <a:fillRect/>
          </a:stretch>
        </p:blipFill>
        <p:spPr>
          <a:xfrm>
            <a:off x="1706728" y="1143000"/>
            <a:ext cx="8778240" cy="5486400"/>
          </a:xfrm>
          <a:prstGeom prst="ellipse">
            <a:avLst/>
          </a:prstGeom>
          <a:effectLst>
            <a:outerShdw sx="100000" sy="100000" kx="0" ky="0" algn="bl" rotWithShape="0" blurRad="127000" dist="25400" dir="5400000">
              <a:srgbClr val="0A2239">
                <a:alpha val="28000"/>
              </a:srgbClr>
            </a:outerShdw>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8F8"/>
        </a:solidFill>
      </p:bgPr>
    </p:bg>
    <p:spTree>
      <p:nvGrpSpPr>
        <p:cNvPr id="1" name=""/>
        <p:cNvGrpSpPr/>
        <p:nvPr/>
      </p:nvGrpSpPr>
      <p:grpSpPr>
        <a:xfrm>
          <a:off x="0" y="0"/>
          <a:ext cx="0" cy="0"/>
          <a:chOff x="0" y="0"/>
          <a:chExt cx="0" cy="0"/>
        </a:xfrm>
      </p:grpSpPr>
      <p:sp>
        <p:nvSpPr>
          <p:cNvPr id="2" name="Text 0"/>
          <p:cNvSpPr/>
          <p:nvPr/>
        </p:nvSpPr>
        <p:spPr>
          <a:xfrm>
            <a:off x="502920" y="384048"/>
            <a:ext cx="566928" cy="566928"/>
          </a:xfrm>
          <a:prstGeom prst="roundRect">
            <a:avLst>
              <a:gd name="adj" fmla="val 14516"/>
            </a:avLst>
          </a:prstGeom>
          <a:solidFill>
            <a:srgbClr val="0A2239"/>
          </a:solid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9</a:t>
            </a:r>
            <a:endParaRPr lang="en-US" sz="2000" dirty="0"/>
          </a:p>
        </p:txBody>
      </p:sp>
      <p:sp>
        <p:nvSpPr>
          <p:cNvPr id="3" name="Text 1"/>
          <p:cNvSpPr/>
          <p:nvPr/>
        </p:nvSpPr>
        <p:spPr>
          <a:xfrm>
            <a:off x="1261872" y="329184"/>
            <a:ext cx="10426903" cy="676656"/>
          </a:xfrm>
          <a:prstGeom prst="rect">
            <a:avLst/>
          </a:prstGeom>
          <a:noFill/>
          <a:ln/>
        </p:spPr>
        <p:txBody>
          <a:bodyPr wrap="square" lIns="0" tIns="0" rIns="0" bIns="0" rtlCol="0" anchor="ctr"/>
          <a:lstStyle/>
          <a:p>
            <a:pPr indent="0" marL="0">
              <a:buNone/>
            </a:pPr>
            <a:r>
              <a:rPr lang="en-US" sz="2100" b="1" dirty="0">
                <a:solidFill>
                  <a:srgbClr val="15242E"/>
                </a:solidFill>
                <a:latin typeface="Calibri" pitchFamily="34" charset="0"/>
                <a:ea typeface="Calibri" pitchFamily="34" charset="-122"/>
                <a:cs typeface="Calibri" pitchFamily="34" charset="-120"/>
              </a:rPr>
              <a:t>Ask in plain words — it answers from your port’s own records.</a:t>
            </a:r>
            <a:endParaRPr lang="en-US" sz="2100" dirty="0"/>
          </a:p>
        </p:txBody>
      </p:sp>
      <p:sp>
        <p:nvSpPr>
          <p:cNvPr id="4" name="Shape 2"/>
          <p:cNvSpPr/>
          <p:nvPr/>
        </p:nvSpPr>
        <p:spPr>
          <a:xfrm>
            <a:off x="1280160" y="987552"/>
            <a:ext cx="2011680" cy="41148"/>
          </a:xfrm>
          <a:prstGeom prst="rect">
            <a:avLst/>
          </a:prstGeom>
          <a:solidFill>
            <a:srgbClr val="0E7C86"/>
          </a:solidFill>
          <a:ln/>
        </p:spPr>
      </p:sp>
      <p:pic>
        <p:nvPicPr>
          <p:cNvPr id="5" name="Image 0" descr="/home/user/maritime-project-presentation/portal/.dev/shots/v6-18-ai-chat.png">    </p:cNvPr>
          <p:cNvPicPr>
            <a:picLocks noChangeAspect="1"/>
          </p:cNvPicPr>
          <p:nvPr/>
        </p:nvPicPr>
        <p:blipFill>
          <a:blip r:embed="rId1"/>
          <a:stretch>
            <a:fillRect/>
          </a:stretch>
        </p:blipFill>
        <p:spPr>
          <a:xfrm>
            <a:off x="1706728" y="1143000"/>
            <a:ext cx="8778240" cy="5486400"/>
          </a:xfrm>
          <a:prstGeom prst="ellipse">
            <a:avLst/>
          </a:prstGeom>
          <a:effectLst>
            <a:outerShdw sx="100000" sy="100000" kx="0" ky="0" algn="bl" rotWithShape="0" blurRad="127000" dist="25400" dir="5400000">
              <a:srgbClr val="0A2239">
                <a:alpha val="28000"/>
              </a:srgbClr>
            </a:outerShdw>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8F8"/>
        </a:solidFill>
      </p:bgPr>
    </p:bg>
    <p:spTree>
      <p:nvGrpSpPr>
        <p:cNvPr id="1" name=""/>
        <p:cNvGrpSpPr/>
        <p:nvPr/>
      </p:nvGrpSpPr>
      <p:grpSpPr>
        <a:xfrm>
          <a:off x="0" y="0"/>
          <a:ext cx="0" cy="0"/>
          <a:chOff x="0" y="0"/>
          <a:chExt cx="0" cy="0"/>
        </a:xfrm>
      </p:grpSpPr>
      <p:sp>
        <p:nvSpPr>
          <p:cNvPr id="2" name="Text 0"/>
          <p:cNvSpPr/>
          <p:nvPr/>
        </p:nvSpPr>
        <p:spPr>
          <a:xfrm>
            <a:off x="502920" y="384048"/>
            <a:ext cx="566928" cy="566928"/>
          </a:xfrm>
          <a:prstGeom prst="roundRect">
            <a:avLst>
              <a:gd name="adj" fmla="val 14516"/>
            </a:avLst>
          </a:prstGeom>
          <a:solidFill>
            <a:srgbClr val="0A2239"/>
          </a:solid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10</a:t>
            </a:r>
            <a:endParaRPr lang="en-US" sz="2000" dirty="0"/>
          </a:p>
        </p:txBody>
      </p:sp>
      <p:sp>
        <p:nvSpPr>
          <p:cNvPr id="3" name="Text 1"/>
          <p:cNvSpPr/>
          <p:nvPr/>
        </p:nvSpPr>
        <p:spPr>
          <a:xfrm>
            <a:off x="1261872" y="329184"/>
            <a:ext cx="10426903" cy="676656"/>
          </a:xfrm>
          <a:prstGeom prst="rect">
            <a:avLst/>
          </a:prstGeom>
          <a:noFill/>
          <a:ln/>
        </p:spPr>
        <p:txBody>
          <a:bodyPr wrap="square" lIns="0" tIns="0" rIns="0" bIns="0" rtlCol="0" anchor="ctr"/>
          <a:lstStyle/>
          <a:p>
            <a:pPr indent="0" marL="0">
              <a:buNone/>
            </a:pPr>
            <a:r>
              <a:rPr lang="en-US" sz="2100" b="1" dirty="0">
                <a:solidFill>
                  <a:srgbClr val="15242E"/>
                </a:solidFill>
                <a:latin typeface="Calibri" pitchFamily="34" charset="0"/>
                <a:ea typeface="Calibri" pitchFamily="34" charset="-122"/>
                <a:cs typeface="Calibri" pitchFamily="34" charset="-120"/>
              </a:rPr>
              <a:t>Your team controls everything — masters, settings, users.</a:t>
            </a:r>
            <a:endParaRPr lang="en-US" sz="2100" dirty="0"/>
          </a:p>
        </p:txBody>
      </p:sp>
      <p:sp>
        <p:nvSpPr>
          <p:cNvPr id="4" name="Shape 2"/>
          <p:cNvSpPr/>
          <p:nvPr/>
        </p:nvSpPr>
        <p:spPr>
          <a:xfrm>
            <a:off x="1280160" y="987552"/>
            <a:ext cx="2011680" cy="41148"/>
          </a:xfrm>
          <a:prstGeom prst="rect">
            <a:avLst/>
          </a:prstGeom>
          <a:solidFill>
            <a:srgbClr val="0E7C86"/>
          </a:solidFill>
          <a:ln/>
        </p:spPr>
      </p:sp>
      <p:pic>
        <p:nvPicPr>
          <p:cNvPr id="5" name="Image 0" descr="/home/user/maritime-project-presentation/portal/.dev/shots/v6-02-data-studio.png">    </p:cNvPr>
          <p:cNvPicPr>
            <a:picLocks noChangeAspect="1"/>
          </p:cNvPicPr>
          <p:nvPr/>
        </p:nvPicPr>
        <p:blipFill>
          <a:blip r:embed="rId1"/>
          <a:stretch>
            <a:fillRect/>
          </a:stretch>
        </p:blipFill>
        <p:spPr>
          <a:xfrm>
            <a:off x="1706728" y="1143000"/>
            <a:ext cx="8778240" cy="5486400"/>
          </a:xfrm>
          <a:prstGeom prst="ellipse">
            <a:avLst/>
          </a:prstGeom>
          <a:effectLst>
            <a:outerShdw sx="100000" sy="100000" kx="0" ky="0" algn="bl" rotWithShape="0" blurRad="127000" dist="25400" dir="5400000">
              <a:srgbClr val="0A2239">
                <a:alpha val="28000"/>
              </a:srgbClr>
            </a:outerShdw>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777240"/>
            <a:ext cx="10545775" cy="914400"/>
          </a:xfrm>
          <a:prstGeom prst="rect">
            <a:avLst/>
          </a:prstGeom>
          <a:noFill/>
          <a:ln/>
        </p:spPr>
        <p:txBody>
          <a:bodyPr wrap="square" lIns="0" tIns="0" rIns="0" bIns="0" rtlCol="0" anchor="ctr"/>
          <a:lstStyle/>
          <a:p>
            <a:pPr indent="0" marL="0">
              <a:buNone/>
            </a:pPr>
            <a:r>
              <a:rPr lang="en-US" sz="3400" b="1" dirty="0">
                <a:solidFill>
                  <a:srgbClr val="15242E"/>
                </a:solidFill>
                <a:latin typeface="Calibri" pitchFamily="34" charset="0"/>
                <a:ea typeface="Calibri" pitchFamily="34" charset="-122"/>
                <a:cs typeface="Calibri" pitchFamily="34" charset="-120"/>
              </a:rPr>
              <a:t>Why this matters</a:t>
            </a:r>
            <a:endParaRPr lang="en-US" sz="3400" dirty="0"/>
          </a:p>
        </p:txBody>
      </p:sp>
      <p:sp>
        <p:nvSpPr>
          <p:cNvPr id="3" name="Shape 1"/>
          <p:cNvSpPr/>
          <p:nvPr/>
        </p:nvSpPr>
        <p:spPr>
          <a:xfrm>
            <a:off x="868680" y="1691640"/>
            <a:ext cx="2011680" cy="45720"/>
          </a:xfrm>
          <a:prstGeom prst="rect">
            <a:avLst/>
          </a:prstGeom>
          <a:solidFill>
            <a:srgbClr val="0E7C86"/>
          </a:solidFill>
          <a:ln/>
        </p:spPr>
      </p:sp>
      <p:sp>
        <p:nvSpPr>
          <p:cNvPr id="4" name="Text 2"/>
          <p:cNvSpPr/>
          <p:nvPr/>
        </p:nvSpPr>
        <p:spPr>
          <a:xfrm>
            <a:off x="914400" y="2240280"/>
            <a:ext cx="10088575" cy="3840480"/>
          </a:xfrm>
          <a:prstGeom prst="rect">
            <a:avLst/>
          </a:prstGeom>
          <a:noFill/>
          <a:ln/>
        </p:spPr>
        <p:txBody>
          <a:bodyPr wrap="square" rtlCol="0" anchor="t"/>
          <a:lstStyle/>
          <a:p>
            <a:pPr marL="279400" indent="-279400">
              <a:lnSpc>
                <a:spcPct val="112000"/>
              </a:lnSpc>
              <a:spcAft>
                <a:spcPts val="1800"/>
              </a:spcAft>
              <a:buSzPct val="100000"/>
              <a:buChar char="•"/>
            </a:pPr>
            <a:r>
              <a:rPr lang="en-US" sz="2000" dirty="0">
                <a:solidFill>
                  <a:srgbClr val="2E4450"/>
                </a:solidFill>
                <a:latin typeface="Calibri" pitchFamily="34" charset="0"/>
                <a:ea typeface="Calibri" pitchFamily="34" charset="-122"/>
                <a:cs typeface="Calibri" pitchFamily="34" charset="-120"/>
              </a:rPr>
              <a:t>It is working software, not a proposal — you can click it today.</a:t>
            </a:r>
            <a:endParaRPr lang="en-US" sz="2000" dirty="0"/>
          </a:p>
          <a:p>
            <a:pPr marL="279400" indent="-279400">
              <a:lnSpc>
                <a:spcPct val="112000"/>
              </a:lnSpc>
              <a:spcAft>
                <a:spcPts val="1800"/>
              </a:spcAft>
              <a:buSzPct val="100000"/>
              <a:buChar char="•"/>
            </a:pPr>
            <a:r>
              <a:rPr lang="en-US" sz="2000" dirty="0">
                <a:solidFill>
                  <a:srgbClr val="2E4450"/>
                </a:solidFill>
                <a:latin typeface="Calibri" pitchFamily="34" charset="0"/>
                <a:ea typeface="Calibri" pitchFamily="34" charset="-122"/>
                <a:cs typeface="Calibri" pitchFamily="34" charset="-120"/>
              </a:rPr>
              <a:t>It is built the way a port actually runs — berths, tides, vessel calls, GST invoices, inspections.</a:t>
            </a:r>
            <a:endParaRPr lang="en-US" sz="2000" dirty="0"/>
          </a:p>
          <a:p>
            <a:pPr marL="279400" indent="-279400">
              <a:lnSpc>
                <a:spcPct val="112000"/>
              </a:lnSpc>
              <a:buSzPct val="100000"/>
              <a:buChar char="•"/>
            </a:pPr>
            <a:r>
              <a:rPr lang="en-US" sz="2000" dirty="0">
                <a:solidFill>
                  <a:srgbClr val="2E4450"/>
                </a:solidFill>
                <a:latin typeface="Calibri" pitchFamily="34" charset="0"/>
                <a:ea typeface="Calibri" pitchFamily="34" charset="-122"/>
                <a:cs typeface="Calibri" pitchFamily="34" charset="-120"/>
              </a:rPr>
              <a:t>It can be shaped with your team into a pilot for the areas you choose.</a:t>
            </a:r>
            <a:endParaRPr lang="en-US" sz="2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2239"/>
        </a:solidFill>
      </p:bgPr>
    </p:bg>
    <p:spTree>
      <p:nvGrpSpPr>
        <p:cNvPr id="1" name=""/>
        <p:cNvGrpSpPr/>
        <p:nvPr/>
      </p:nvGrpSpPr>
      <p:grpSpPr>
        <a:xfrm>
          <a:off x="0" y="0"/>
          <a:ext cx="0" cy="0"/>
          <a:chOff x="0" y="0"/>
          <a:chExt cx="0" cy="0"/>
        </a:xfrm>
      </p:grpSpPr>
      <p:sp>
        <p:nvSpPr>
          <p:cNvPr id="2" name="Text 0"/>
          <p:cNvSpPr/>
          <p:nvPr/>
        </p:nvSpPr>
        <p:spPr>
          <a:xfrm>
            <a:off x="868680" y="1554480"/>
            <a:ext cx="7315200" cy="457200"/>
          </a:xfrm>
          <a:prstGeom prst="rect">
            <a:avLst/>
          </a:prstGeom>
          <a:noFill/>
          <a:ln/>
        </p:spPr>
        <p:txBody>
          <a:bodyPr wrap="square" lIns="0" tIns="0" rIns="0" bIns="0" rtlCol="0" anchor="ctr"/>
          <a:lstStyle/>
          <a:p>
            <a:pPr indent="0" marL="0">
              <a:buNone/>
            </a:pPr>
            <a:r>
              <a:rPr lang="en-US" sz="1600" b="1" spc="300" kern="0" dirty="0">
                <a:solidFill>
                  <a:srgbClr val="7FC7CC"/>
                </a:solidFill>
                <a:latin typeface="Calibri" pitchFamily="34" charset="0"/>
                <a:ea typeface="Calibri" pitchFamily="34" charset="-122"/>
                <a:cs typeface="Calibri" pitchFamily="34" charset="-120"/>
              </a:rPr>
              <a:t>Next step</a:t>
            </a:r>
            <a:endParaRPr lang="en-US" sz="1600" dirty="0"/>
          </a:p>
        </p:txBody>
      </p:sp>
      <p:sp>
        <p:nvSpPr>
          <p:cNvPr id="3" name="Text 1"/>
          <p:cNvSpPr/>
          <p:nvPr/>
        </p:nvSpPr>
        <p:spPr>
          <a:xfrm>
            <a:off x="822960" y="2057400"/>
            <a:ext cx="10607040" cy="1005840"/>
          </a:xfrm>
          <a:prstGeom prst="rect">
            <a:avLst/>
          </a:prstGeom>
          <a:noFill/>
          <a:ln/>
        </p:spPr>
        <p:txBody>
          <a:bodyPr wrap="square" lIns="0" tIns="0" rIns="0" bIns="0"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A 30-minute live walkthrough.</a:t>
            </a:r>
            <a:endParaRPr lang="en-US" sz="4000" dirty="0"/>
          </a:p>
        </p:txBody>
      </p:sp>
      <p:sp>
        <p:nvSpPr>
          <p:cNvPr id="4" name="Text 2"/>
          <p:cNvSpPr/>
          <p:nvPr/>
        </p:nvSpPr>
        <p:spPr>
          <a:xfrm>
            <a:off x="868680" y="3200400"/>
            <a:ext cx="9875520" cy="548640"/>
          </a:xfrm>
          <a:prstGeom prst="rect">
            <a:avLst/>
          </a:prstGeom>
          <a:noFill/>
          <a:ln/>
        </p:spPr>
        <p:txBody>
          <a:bodyPr wrap="square" lIns="0" tIns="0" rIns="0" bIns="0" rtlCol="0" anchor="ctr"/>
          <a:lstStyle/>
          <a:p>
            <a:pPr indent="0" marL="0">
              <a:buNone/>
            </a:pPr>
            <a:r>
              <a:rPr lang="en-US" sz="1800" dirty="0">
                <a:solidFill>
                  <a:srgbClr val="B9CBD3"/>
                </a:solidFill>
                <a:latin typeface="Calibri" pitchFamily="34" charset="0"/>
                <a:ea typeface="Calibri" pitchFamily="34" charset="-122"/>
                <a:cs typeface="Calibri" pitchFamily="34" charset="-120"/>
              </a:rPr>
              <a:t>It runs on one laptop. You click, we talk — then we agree what a pilot should cover.</a:t>
            </a:r>
            <a:endParaRPr lang="en-US" sz="1800" dirty="0"/>
          </a:p>
        </p:txBody>
      </p:sp>
      <p:sp>
        <p:nvSpPr>
          <p:cNvPr id="5" name="Shape 3"/>
          <p:cNvSpPr/>
          <p:nvPr/>
        </p:nvSpPr>
        <p:spPr>
          <a:xfrm>
            <a:off x="868680" y="4114800"/>
            <a:ext cx="2011680" cy="45720"/>
          </a:xfrm>
          <a:prstGeom prst="rect">
            <a:avLst/>
          </a:prstGeom>
          <a:solidFill>
            <a:srgbClr val="0E7C86"/>
          </a:solidFill>
          <a:ln/>
        </p:spPr>
      </p:sp>
      <p:sp>
        <p:nvSpPr>
          <p:cNvPr id="6" name="Text 4"/>
          <p:cNvSpPr/>
          <p:nvPr/>
        </p:nvSpPr>
        <p:spPr>
          <a:xfrm>
            <a:off x="868680" y="4343400"/>
            <a:ext cx="7315200" cy="41148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Mobilise App Lab</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Mundra Port Operations Portal — walkthrough</dc:title>
  <dc:subject>PptxGenJS Presentation</dc:subject>
  <dc:creator>Mobilise App Lab</dc:creator>
  <cp:lastModifiedBy>Mobilise App Lab</cp:lastModifiedBy>
  <cp:revision>1</cp:revision>
  <dcterms:created xsi:type="dcterms:W3CDTF">2026-08-23T13:53:15Z</dcterms:created>
  <dcterms:modified xsi:type="dcterms:W3CDTF">2026-08-23T13:53:15Z</dcterms:modified>
</cp:coreProperties>
</file>