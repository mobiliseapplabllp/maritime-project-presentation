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frame: this deck answers three separate questions and does not merge them. Point at the footer line — the honesty about modelled figures is deliberate and it is the reason to trust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Part II honestly here. It disarms the panel and buys credibility for Parts I and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technical evaluator will photograph. Offer to walk any single cell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Then ask for the two-day working session — that is the only commitment being requested in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2" name="Text 0"/>
          <p:cNvSpPr/>
          <p:nvPr/>
        </p:nvSpPr>
        <p:spPr>
          <a:xfrm>
            <a:off x="502920" y="1417320"/>
            <a:ext cx="11185855" cy="310896"/>
          </a:xfrm>
          <a:prstGeom prst="rect">
            <a:avLst/>
          </a:prstGeom>
          <a:noFill/>
          <a:ln/>
        </p:spPr>
        <p:txBody>
          <a:bodyPr wrap="square" lIns="0" tIns="0" rIns="0" bIns="0" rtlCol="0" anchor="ctr"/>
          <a:lstStyle/>
          <a:p>
            <a:pPr indent="0" marL="0">
              <a:buNone/>
            </a:pPr>
            <a:r>
              <a:rPr lang="en-US" sz="1200" b="1" spc="500" kern="0" dirty="0">
                <a:solidFill>
                  <a:srgbClr val="45BFC6"/>
                </a:solidFill>
                <a:latin typeface="Calibri" pitchFamily="34" charset="0"/>
                <a:ea typeface="Calibri" pitchFamily="34" charset="-122"/>
                <a:cs typeface="Calibri" pitchFamily="34" charset="-120"/>
              </a:rPr>
              <a:t>MARITIME DIGITAL PLATFORM</a:t>
            </a:r>
            <a:endParaRPr lang="en-US" sz="1200" dirty="0"/>
          </a:p>
        </p:txBody>
      </p:sp>
      <p:sp>
        <p:nvSpPr>
          <p:cNvPr id="3" name="Text 1"/>
          <p:cNvSpPr/>
          <p:nvPr/>
        </p:nvSpPr>
        <p:spPr>
          <a:xfrm>
            <a:off x="502920" y="1828800"/>
            <a:ext cx="8053816" cy="173736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Cambria" pitchFamily="34" charset="0"/>
                <a:ea typeface="Cambria" pitchFamily="34" charset="-122"/>
                <a:cs typeface="Cambria" pitchFamily="34" charset="-120"/>
              </a:rPr>
              <a:t>Capability, delivery</a:t>
            </a:r>
            <a:endParaRPr lang="en-US" sz="4600" dirty="0"/>
          </a:p>
          <a:p>
            <a:pPr indent="0" marL="0">
              <a:lnSpc>
                <a:spcPct val="98000"/>
              </a:lnSpc>
              <a:buNone/>
            </a:pPr>
            <a:r>
              <a:rPr lang="en-US" sz="4600" b="1" dirty="0">
                <a:solidFill>
                  <a:srgbClr val="FFFFFF"/>
                </a:solidFill>
                <a:latin typeface="Cambria" pitchFamily="34" charset="0"/>
                <a:ea typeface="Cambria" pitchFamily="34" charset="-122"/>
                <a:cs typeface="Cambria" pitchFamily="34" charset="-120"/>
              </a:rPr>
              <a:t>and agentic AI</a:t>
            </a:r>
            <a:endParaRPr lang="en-US" sz="4600" dirty="0"/>
          </a:p>
        </p:txBody>
      </p:sp>
      <p:sp>
        <p:nvSpPr>
          <p:cNvPr id="4" name="Text 2"/>
          <p:cNvSpPr/>
          <p:nvPr/>
        </p:nvSpPr>
        <p:spPr>
          <a:xfrm>
            <a:off x="502920" y="3657600"/>
            <a:ext cx="6935230" cy="914400"/>
          </a:xfrm>
          <a:prstGeom prst="rect">
            <a:avLst/>
          </a:prstGeom>
          <a:noFill/>
          <a:ln/>
        </p:spPr>
        <p:txBody>
          <a:bodyPr wrap="square" lIns="0" tIns="0" rIns="0" bIns="0" rtlCol="0" anchor="ctr"/>
          <a:lstStyle/>
          <a:p>
            <a:pPr indent="0" marL="0">
              <a:lnSpc>
                <a:spcPct val="120000"/>
              </a:lnSpc>
              <a:buNone/>
            </a:pPr>
            <a:r>
              <a:rPr lang="en-US" sz="1350" dirty="0">
                <a:solidFill>
                  <a:srgbClr val="AAC1C7"/>
                </a:solidFill>
                <a:latin typeface="Calibri" pitchFamily="34" charset="0"/>
                <a:ea typeface="Calibri" pitchFamily="34" charset="-122"/>
                <a:cs typeface="Calibri" pitchFamily="34" charset="-120"/>
              </a:rPr>
              <a:t>A configurable platform across the seven operating domains of a maritime administration — with an agentic AI layer that does the reading, the cross-checking and the drafting, so officers spend their time deciding rather than assembling.</a:t>
            </a:r>
            <a:endParaRPr lang="en-US" sz="1350" dirty="0"/>
          </a:p>
        </p:txBody>
      </p:sp>
      <p:sp>
        <p:nvSpPr>
          <p:cNvPr id="5" name="Text 3"/>
          <p:cNvSpPr/>
          <p:nvPr/>
        </p:nvSpPr>
        <p:spPr>
          <a:xfrm>
            <a:off x="502920" y="4892040"/>
            <a:ext cx="2522144" cy="566928"/>
          </a:xfrm>
          <a:prstGeom prst="rect">
            <a:avLst/>
          </a:prstGeom>
          <a:noFill/>
          <a:ln/>
        </p:spPr>
        <p:txBody>
          <a:bodyPr wrap="square" lIns="0" tIns="0" rIns="0" bIns="0" rtlCol="0" anchor="ctr"/>
          <a:lstStyle/>
          <a:p>
            <a:pPr indent="0" marL="0">
              <a:buNone/>
            </a:pPr>
            <a:r>
              <a:rPr lang="en-US" sz="3200" b="1" dirty="0">
                <a:solidFill>
                  <a:srgbClr val="45BFC6"/>
                </a:solidFill>
                <a:latin typeface="Cambria" pitchFamily="34" charset="0"/>
                <a:ea typeface="Cambria" pitchFamily="34" charset="-122"/>
                <a:cs typeface="Cambria" pitchFamily="34" charset="-120"/>
              </a:rPr>
              <a:t>7</a:t>
            </a:r>
            <a:endParaRPr lang="en-US" sz="3200" dirty="0"/>
          </a:p>
        </p:txBody>
      </p:sp>
      <p:sp>
        <p:nvSpPr>
          <p:cNvPr id="6" name="Text 4"/>
          <p:cNvSpPr/>
          <p:nvPr/>
        </p:nvSpPr>
        <p:spPr>
          <a:xfrm>
            <a:off x="502920" y="5468112"/>
            <a:ext cx="2522144" cy="292608"/>
          </a:xfrm>
          <a:prstGeom prst="rect">
            <a:avLst/>
          </a:prstGeom>
          <a:noFill/>
          <a:ln/>
        </p:spPr>
        <p:txBody>
          <a:bodyPr wrap="square" lIns="0" tIns="0" rIns="0" bIns="0" rtlCol="0" anchor="ctr"/>
          <a:lstStyle/>
          <a:p>
            <a:pPr indent="0" marL="0">
              <a:buNone/>
            </a:pPr>
            <a:r>
              <a:rPr lang="en-US" sz="1050" dirty="0">
                <a:solidFill>
                  <a:srgbClr val="89A5B0"/>
                </a:solidFill>
                <a:latin typeface="Calibri" pitchFamily="34" charset="0"/>
                <a:ea typeface="Calibri" pitchFamily="34" charset="-122"/>
                <a:cs typeface="Calibri" pitchFamily="34" charset="-120"/>
              </a:rPr>
              <a:t>Operating domains</a:t>
            </a:r>
            <a:endParaRPr lang="en-US" sz="1050" dirty="0"/>
          </a:p>
        </p:txBody>
      </p:sp>
      <p:sp>
        <p:nvSpPr>
          <p:cNvPr id="7" name="Text 5"/>
          <p:cNvSpPr/>
          <p:nvPr/>
        </p:nvSpPr>
        <p:spPr>
          <a:xfrm>
            <a:off x="3299384" y="4892040"/>
            <a:ext cx="2522144" cy="566928"/>
          </a:xfrm>
          <a:prstGeom prst="rect">
            <a:avLst/>
          </a:prstGeom>
          <a:noFill/>
          <a:ln/>
        </p:spPr>
        <p:txBody>
          <a:bodyPr wrap="square" lIns="0" tIns="0" rIns="0" bIns="0" rtlCol="0" anchor="ctr"/>
          <a:lstStyle/>
          <a:p>
            <a:pPr indent="0" marL="0">
              <a:buNone/>
            </a:pPr>
            <a:r>
              <a:rPr lang="en-US" sz="3200" b="1" dirty="0">
                <a:solidFill>
                  <a:srgbClr val="45BFC6"/>
                </a:solidFill>
                <a:latin typeface="Cambria" pitchFamily="34" charset="0"/>
                <a:ea typeface="Cambria" pitchFamily="34" charset="-122"/>
                <a:cs typeface="Cambria" pitchFamily="34" charset="-120"/>
              </a:rPr>
              <a:t>5</a:t>
            </a:r>
            <a:endParaRPr lang="en-US" sz="3200" dirty="0"/>
          </a:p>
        </p:txBody>
      </p:sp>
      <p:sp>
        <p:nvSpPr>
          <p:cNvPr id="8" name="Text 6"/>
          <p:cNvSpPr/>
          <p:nvPr/>
        </p:nvSpPr>
        <p:spPr>
          <a:xfrm>
            <a:off x="3299384" y="5468112"/>
            <a:ext cx="2522144" cy="292608"/>
          </a:xfrm>
          <a:prstGeom prst="rect">
            <a:avLst/>
          </a:prstGeom>
          <a:noFill/>
          <a:ln/>
        </p:spPr>
        <p:txBody>
          <a:bodyPr wrap="square" lIns="0" tIns="0" rIns="0" bIns="0" rtlCol="0" anchor="ctr"/>
          <a:lstStyle/>
          <a:p>
            <a:pPr indent="0" marL="0">
              <a:buNone/>
            </a:pPr>
            <a:r>
              <a:rPr lang="en-US" sz="1050" dirty="0">
                <a:solidFill>
                  <a:srgbClr val="89A5B0"/>
                </a:solidFill>
                <a:latin typeface="Calibri" pitchFamily="34" charset="0"/>
                <a:ea typeface="Calibri" pitchFamily="34" charset="-122"/>
                <a:cs typeface="Calibri" pitchFamily="34" charset="-120"/>
              </a:rPr>
              <a:t>Capability spines</a:t>
            </a:r>
            <a:endParaRPr lang="en-US" sz="1050" dirty="0"/>
          </a:p>
        </p:txBody>
      </p:sp>
      <p:sp>
        <p:nvSpPr>
          <p:cNvPr id="9" name="Text 7"/>
          <p:cNvSpPr/>
          <p:nvPr/>
        </p:nvSpPr>
        <p:spPr>
          <a:xfrm>
            <a:off x="6095848" y="4892040"/>
            <a:ext cx="2522144" cy="566928"/>
          </a:xfrm>
          <a:prstGeom prst="rect">
            <a:avLst/>
          </a:prstGeom>
          <a:noFill/>
          <a:ln/>
        </p:spPr>
        <p:txBody>
          <a:bodyPr wrap="square" lIns="0" tIns="0" rIns="0" bIns="0" rtlCol="0" anchor="ctr"/>
          <a:lstStyle/>
          <a:p>
            <a:pPr indent="0" marL="0">
              <a:buNone/>
            </a:pPr>
            <a:r>
              <a:rPr lang="en-US" sz="3200" b="1" dirty="0">
                <a:solidFill>
                  <a:srgbClr val="45BFC6"/>
                </a:solidFill>
                <a:latin typeface="Cambria" pitchFamily="34" charset="0"/>
                <a:ea typeface="Cambria" pitchFamily="34" charset="-122"/>
                <a:cs typeface="Cambria" pitchFamily="34" charset="-120"/>
              </a:rPr>
              <a:t>10</a:t>
            </a:r>
            <a:endParaRPr lang="en-US" sz="3200" dirty="0"/>
          </a:p>
        </p:txBody>
      </p:sp>
      <p:sp>
        <p:nvSpPr>
          <p:cNvPr id="10" name="Text 8"/>
          <p:cNvSpPr/>
          <p:nvPr/>
        </p:nvSpPr>
        <p:spPr>
          <a:xfrm>
            <a:off x="6095848" y="5468112"/>
            <a:ext cx="2522144" cy="292608"/>
          </a:xfrm>
          <a:prstGeom prst="rect">
            <a:avLst/>
          </a:prstGeom>
          <a:noFill/>
          <a:ln/>
        </p:spPr>
        <p:txBody>
          <a:bodyPr wrap="square" lIns="0" tIns="0" rIns="0" bIns="0" rtlCol="0" anchor="ctr"/>
          <a:lstStyle/>
          <a:p>
            <a:pPr indent="0" marL="0">
              <a:buNone/>
            </a:pPr>
            <a:r>
              <a:rPr lang="en-US" sz="1050" dirty="0">
                <a:solidFill>
                  <a:srgbClr val="89A5B0"/>
                </a:solidFill>
                <a:latin typeface="Calibri" pitchFamily="34" charset="0"/>
                <a:ea typeface="Calibri" pitchFamily="34" charset="-122"/>
                <a:cs typeface="Calibri" pitchFamily="34" charset="-120"/>
              </a:rPr>
              <a:t>Autonomous agents</a:t>
            </a:r>
            <a:endParaRPr lang="en-US" sz="1050" dirty="0"/>
          </a:p>
        </p:txBody>
      </p:sp>
      <p:sp>
        <p:nvSpPr>
          <p:cNvPr id="11" name="Text 9"/>
          <p:cNvSpPr/>
          <p:nvPr/>
        </p:nvSpPr>
        <p:spPr>
          <a:xfrm>
            <a:off x="8892311" y="4892040"/>
            <a:ext cx="2522144" cy="566928"/>
          </a:xfrm>
          <a:prstGeom prst="rect">
            <a:avLst/>
          </a:prstGeom>
          <a:noFill/>
          <a:ln/>
        </p:spPr>
        <p:txBody>
          <a:bodyPr wrap="square" lIns="0" tIns="0" rIns="0" bIns="0" rtlCol="0" anchor="ctr"/>
          <a:lstStyle/>
          <a:p>
            <a:pPr indent="0" marL="0">
              <a:buNone/>
            </a:pPr>
            <a:r>
              <a:rPr lang="en-US" sz="3200" b="1" dirty="0">
                <a:solidFill>
                  <a:srgbClr val="45BFC6"/>
                </a:solidFill>
                <a:latin typeface="Cambria" pitchFamily="34" charset="0"/>
                <a:ea typeface="Cambria" pitchFamily="34" charset="-122"/>
                <a:cs typeface="Cambria" pitchFamily="34" charset="-120"/>
              </a:rPr>
              <a:t>IMO</a:t>
            </a:r>
            <a:endParaRPr lang="en-US" sz="3200" dirty="0"/>
          </a:p>
        </p:txBody>
      </p:sp>
      <p:sp>
        <p:nvSpPr>
          <p:cNvPr id="12" name="Text 10"/>
          <p:cNvSpPr/>
          <p:nvPr/>
        </p:nvSpPr>
        <p:spPr>
          <a:xfrm>
            <a:off x="8892311" y="5468112"/>
            <a:ext cx="2522144" cy="292608"/>
          </a:xfrm>
          <a:prstGeom prst="rect">
            <a:avLst/>
          </a:prstGeom>
          <a:noFill/>
          <a:ln/>
        </p:spPr>
        <p:txBody>
          <a:bodyPr wrap="square" lIns="0" tIns="0" rIns="0" bIns="0" rtlCol="0" anchor="ctr"/>
          <a:lstStyle/>
          <a:p>
            <a:pPr indent="0" marL="0">
              <a:buNone/>
            </a:pPr>
            <a:r>
              <a:rPr lang="en-US" sz="1050" dirty="0">
                <a:solidFill>
                  <a:srgbClr val="89A5B0"/>
                </a:solidFill>
                <a:latin typeface="Calibri" pitchFamily="34" charset="0"/>
                <a:ea typeface="Calibri" pitchFamily="34" charset="-122"/>
                <a:cs typeface="Calibri" pitchFamily="34" charset="-120"/>
              </a:rPr>
              <a:t>Riyadh MoU · FAL</a:t>
            </a:r>
            <a:endParaRPr lang="en-US" sz="1050" dirty="0"/>
          </a:p>
        </p:txBody>
      </p:sp>
      <p:sp>
        <p:nvSpPr>
          <p:cNvPr id="13" name="Text 11"/>
          <p:cNvSpPr/>
          <p:nvPr/>
        </p:nvSpPr>
        <p:spPr>
          <a:xfrm>
            <a:off x="502920" y="6144768"/>
            <a:ext cx="11185855" cy="274320"/>
          </a:xfrm>
          <a:prstGeom prst="rect">
            <a:avLst/>
          </a:prstGeom>
          <a:noFill/>
          <a:ln/>
        </p:spPr>
        <p:txBody>
          <a:bodyPr wrap="square" lIns="0" tIns="0" rIns="0" bIns="0" rtlCol="0" anchor="ctr"/>
          <a:lstStyle/>
          <a:p>
            <a:pPr indent="0" marL="0">
              <a:buNone/>
            </a:pPr>
            <a:r>
              <a:rPr lang="en-US" sz="950" dirty="0">
                <a:solidFill>
                  <a:srgbClr val="6E8A96"/>
                </a:solidFill>
                <a:latin typeface="Calibri" pitchFamily="34" charset="0"/>
                <a:ea typeface="Calibri" pitchFamily="34" charset="-122"/>
                <a:cs typeface="Calibri" pitchFamily="34" charset="-120"/>
              </a:rPr>
              <a:t>Mobilise App Lab   ·   Figures marked “Modelled” are design targets from a stated baseline, not measured results from a prior deployment.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THE BRIEF</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Three questions, answered in order</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You are assessing whether a partner can carry a national maritime programme. That reduces to three questions — and they deserve separate, honest answers rather than one merged pitch.</a:t>
            </a:r>
            <a:endParaRPr lang="en-US" sz="1250" dirty="0"/>
          </a:p>
        </p:txBody>
      </p:sp>
      <p:sp>
        <p:nvSpPr>
          <p:cNvPr id="5" name="Shape 3"/>
          <p:cNvSpPr/>
          <p:nvPr/>
        </p:nvSpPr>
        <p:spPr>
          <a:xfrm>
            <a:off x="502920" y="1965960"/>
            <a:ext cx="3545738" cy="3566160"/>
          </a:xfrm>
          <a:prstGeom prst="roundRect">
            <a:avLst>
              <a:gd name="adj" fmla="val 1547"/>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167128"/>
            <a:ext cx="3106826" cy="219456"/>
          </a:xfrm>
          <a:prstGeom prst="rect">
            <a:avLst/>
          </a:prstGeom>
          <a:noFill/>
          <a:ln/>
        </p:spPr>
        <p:txBody>
          <a:bodyPr wrap="square" lIns="0" tIns="0" rIns="0" bIns="0" rtlCol="0" anchor="ctr"/>
          <a:lstStyle/>
          <a:p>
            <a:pPr indent="0" marL="0">
              <a:buNone/>
            </a:pPr>
            <a:r>
              <a:rPr lang="en-US" sz="900" b="1" spc="200" kern="0" dirty="0">
                <a:solidFill>
                  <a:srgbClr val="0E7C86"/>
                </a:solidFill>
                <a:latin typeface="Calibri" pitchFamily="34" charset="0"/>
                <a:ea typeface="Calibri" pitchFamily="34" charset="-122"/>
                <a:cs typeface="Calibri" pitchFamily="34" charset="-120"/>
              </a:rPr>
              <a:t>PART I</a:t>
            </a:r>
            <a:endParaRPr lang="en-US" sz="900" dirty="0"/>
          </a:p>
        </p:txBody>
      </p:sp>
      <p:sp>
        <p:nvSpPr>
          <p:cNvPr id="7" name="Text 5"/>
          <p:cNvSpPr/>
          <p:nvPr/>
        </p:nvSpPr>
        <p:spPr>
          <a:xfrm>
            <a:off x="722376" y="2423160"/>
            <a:ext cx="3106826" cy="65836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Does the platform already do this?</a:t>
            </a:r>
            <a:endParaRPr lang="en-US" sz="1500" dirty="0"/>
          </a:p>
        </p:txBody>
      </p:sp>
      <p:sp>
        <p:nvSpPr>
          <p:cNvPr id="8" name="Text 6"/>
          <p:cNvSpPr/>
          <p:nvPr/>
        </p:nvSpPr>
        <p:spPr>
          <a:xfrm>
            <a:off x="722376" y="3081528"/>
            <a:ext cx="3106826" cy="1371600"/>
          </a:xfrm>
          <a:prstGeom prst="rect">
            <a:avLst/>
          </a:prstGeom>
          <a:noFill/>
          <a:ln/>
        </p:spPr>
        <p:txBody>
          <a:bodyPr wrap="square" lIns="0" tIns="0" rIns="0" bIns="0" rtlCol="0" anchor="t"/>
          <a:lstStyle/>
          <a:p>
            <a:pPr indent="0" marL="0">
              <a:lnSpc>
                <a:spcPct val="114000"/>
              </a:lnSpc>
              <a:buNone/>
            </a:pPr>
            <a:r>
              <a:rPr lang="en-US" sz="1150" dirty="0">
                <a:solidFill>
                  <a:srgbClr val="3E5561"/>
                </a:solidFill>
                <a:latin typeface="Calibri" pitchFamily="34" charset="0"/>
                <a:ea typeface="Calibri" pitchFamily="34" charset="-122"/>
                <a:cs typeface="Calibri" pitchFamily="34" charset="-120"/>
              </a:rPr>
              <a:t>Seven domains, five capability spines. We show what exists as product, what is configuration, and what is genuine new build — marked cell by cell, not asserted in bulk.</a:t>
            </a:r>
            <a:endParaRPr lang="en-US" sz="1150" dirty="0"/>
          </a:p>
        </p:txBody>
      </p:sp>
      <p:sp>
        <p:nvSpPr>
          <p:cNvPr id="9" name="Text 7"/>
          <p:cNvSpPr/>
          <p:nvPr/>
        </p:nvSpPr>
        <p:spPr>
          <a:xfrm>
            <a:off x="722376" y="4453128"/>
            <a:ext cx="3106826" cy="9144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Core — exists and runs today</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Configure — no code, no release</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Extend — documented extension points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Build — priced as new development</a:t>
            </a:r>
            <a:endParaRPr lang="en-US" sz="1100" dirty="0"/>
          </a:p>
        </p:txBody>
      </p:sp>
      <p:sp>
        <p:nvSpPr>
          <p:cNvPr id="10" name="Shape 8"/>
          <p:cNvSpPr/>
          <p:nvPr/>
        </p:nvSpPr>
        <p:spPr>
          <a:xfrm>
            <a:off x="4322978" y="1965960"/>
            <a:ext cx="3545738" cy="3566160"/>
          </a:xfrm>
          <a:prstGeom prst="roundRect">
            <a:avLst>
              <a:gd name="adj" fmla="val 1547"/>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1" name="Text 9"/>
          <p:cNvSpPr/>
          <p:nvPr/>
        </p:nvSpPr>
        <p:spPr>
          <a:xfrm>
            <a:off x="4542434" y="2167128"/>
            <a:ext cx="3106826" cy="219456"/>
          </a:xfrm>
          <a:prstGeom prst="rect">
            <a:avLst/>
          </a:prstGeom>
          <a:noFill/>
          <a:ln/>
        </p:spPr>
        <p:txBody>
          <a:bodyPr wrap="square" lIns="0" tIns="0" rIns="0" bIns="0" rtlCol="0" anchor="ctr"/>
          <a:lstStyle/>
          <a:p>
            <a:pPr indent="0" marL="0">
              <a:buNone/>
            </a:pPr>
            <a:r>
              <a:rPr lang="en-US" sz="900" b="1" spc="200" kern="0" dirty="0">
                <a:solidFill>
                  <a:srgbClr val="0E7C86"/>
                </a:solidFill>
                <a:latin typeface="Calibri" pitchFamily="34" charset="0"/>
                <a:ea typeface="Calibri" pitchFamily="34" charset="-122"/>
                <a:cs typeface="Calibri" pitchFamily="34" charset="-120"/>
              </a:rPr>
              <a:t>PART II</a:t>
            </a:r>
            <a:endParaRPr lang="en-US" sz="900" dirty="0"/>
          </a:p>
        </p:txBody>
      </p:sp>
      <p:sp>
        <p:nvSpPr>
          <p:cNvPr id="12" name="Text 10"/>
          <p:cNvSpPr/>
          <p:nvPr/>
        </p:nvSpPr>
        <p:spPr>
          <a:xfrm>
            <a:off x="4542434" y="2423160"/>
            <a:ext cx="3106826" cy="65836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Can you deliver it here?</a:t>
            </a:r>
            <a:endParaRPr lang="en-US" sz="1500" dirty="0"/>
          </a:p>
        </p:txBody>
      </p:sp>
      <p:sp>
        <p:nvSpPr>
          <p:cNvPr id="13" name="Text 11"/>
          <p:cNvSpPr/>
          <p:nvPr/>
        </p:nvSpPr>
        <p:spPr>
          <a:xfrm>
            <a:off x="4542434" y="3081528"/>
            <a:ext cx="3106826" cy="1097280"/>
          </a:xfrm>
          <a:prstGeom prst="rect">
            <a:avLst/>
          </a:prstGeom>
          <a:noFill/>
          <a:ln/>
        </p:spPr>
        <p:txBody>
          <a:bodyPr wrap="square" lIns="0" tIns="0" rIns="0" bIns="0" rtlCol="0" anchor="t"/>
          <a:lstStyle/>
          <a:p>
            <a:pPr indent="0" marL="0">
              <a:lnSpc>
                <a:spcPct val="114000"/>
              </a:lnSpc>
              <a:buNone/>
            </a:pPr>
            <a:r>
              <a:rPr lang="en-US" sz="1150" dirty="0">
                <a:solidFill>
                  <a:srgbClr val="3E5561"/>
                </a:solidFill>
                <a:latin typeface="Calibri" pitchFamily="34" charset="0"/>
                <a:ea typeface="Calibri" pitchFamily="34" charset="-122"/>
                <a:cs typeface="Calibri" pitchFamily="34" charset="-120"/>
              </a:rPr>
              <a:t>We have not delivered a national flag-state registry before, and we will not pretend otherwise in a tender that can be checked.</a:t>
            </a:r>
            <a:endParaRPr lang="en-US" sz="1150" dirty="0"/>
          </a:p>
        </p:txBody>
      </p:sp>
      <p:sp>
        <p:nvSpPr>
          <p:cNvPr id="14" name="Text 12"/>
          <p:cNvSpPr/>
          <p:nvPr/>
        </p:nvSpPr>
        <p:spPr>
          <a:xfrm>
            <a:off x="4542434" y="4178808"/>
            <a:ext cx="3106826" cy="118872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A working, demonstrable platform</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A gated engineering process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A funded eight-week proof on your data</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Exit criteria you write, not us</a:t>
            </a:r>
            <a:endParaRPr lang="en-US" sz="1100" dirty="0"/>
          </a:p>
        </p:txBody>
      </p:sp>
      <p:sp>
        <p:nvSpPr>
          <p:cNvPr id="15" name="Shape 13"/>
          <p:cNvSpPr/>
          <p:nvPr/>
        </p:nvSpPr>
        <p:spPr>
          <a:xfrm>
            <a:off x="8143037" y="1965960"/>
            <a:ext cx="3545738" cy="3566160"/>
          </a:xfrm>
          <a:prstGeom prst="roundRect">
            <a:avLst>
              <a:gd name="adj" fmla="val 1547"/>
            </a:avLst>
          </a:prstGeom>
          <a:solidFill>
            <a:srgbClr val="FFFFFF"/>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16" name="Text 14"/>
          <p:cNvSpPr/>
          <p:nvPr/>
        </p:nvSpPr>
        <p:spPr>
          <a:xfrm>
            <a:off x="8362493" y="2167128"/>
            <a:ext cx="3106826" cy="219456"/>
          </a:xfrm>
          <a:prstGeom prst="rect">
            <a:avLst/>
          </a:prstGeom>
          <a:noFill/>
          <a:ln/>
        </p:spPr>
        <p:txBody>
          <a:bodyPr wrap="square" lIns="0" tIns="0" rIns="0" bIns="0" rtlCol="0" anchor="ctr"/>
          <a:lstStyle/>
          <a:p>
            <a:pPr indent="0" marL="0">
              <a:buNone/>
            </a:pPr>
            <a:r>
              <a:rPr lang="en-US" sz="900" b="1" spc="200" kern="0" dirty="0">
                <a:solidFill>
                  <a:srgbClr val="A96F12"/>
                </a:solidFill>
                <a:latin typeface="Calibri" pitchFamily="34" charset="0"/>
                <a:ea typeface="Calibri" pitchFamily="34" charset="-122"/>
                <a:cs typeface="Calibri" pitchFamily="34" charset="-120"/>
              </a:rPr>
              <a:t>PART III</a:t>
            </a:r>
            <a:endParaRPr lang="en-US" sz="900" dirty="0"/>
          </a:p>
        </p:txBody>
      </p:sp>
      <p:sp>
        <p:nvSpPr>
          <p:cNvPr id="17" name="Text 15"/>
          <p:cNvSpPr/>
          <p:nvPr/>
        </p:nvSpPr>
        <p:spPr>
          <a:xfrm>
            <a:off x="8362493" y="2423160"/>
            <a:ext cx="3106826" cy="65836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What does AI actually change?</a:t>
            </a:r>
            <a:endParaRPr lang="en-US" sz="1500" dirty="0"/>
          </a:p>
        </p:txBody>
      </p:sp>
      <p:sp>
        <p:nvSpPr>
          <p:cNvPr id="18" name="Text 16"/>
          <p:cNvSpPr/>
          <p:nvPr/>
        </p:nvSpPr>
        <p:spPr>
          <a:xfrm>
            <a:off x="8362493" y="3081528"/>
            <a:ext cx="3106826" cy="1097280"/>
          </a:xfrm>
          <a:prstGeom prst="rect">
            <a:avLst/>
          </a:prstGeom>
          <a:noFill/>
          <a:ln/>
        </p:spPr>
        <p:txBody>
          <a:bodyPr wrap="square" lIns="0" tIns="0" rIns="0" bIns="0" rtlCol="0" anchor="t"/>
          <a:lstStyle/>
          <a:p>
            <a:pPr indent="0" marL="0">
              <a:lnSpc>
                <a:spcPct val="114000"/>
              </a:lnSpc>
              <a:buNone/>
            </a:pPr>
            <a:r>
              <a:rPr lang="en-US" sz="1150" dirty="0">
                <a:solidFill>
                  <a:srgbClr val="3E5561"/>
                </a:solidFill>
                <a:latin typeface="Calibri" pitchFamily="34" charset="0"/>
                <a:ea typeface="Calibri" pitchFamily="34" charset="-122"/>
                <a:cs typeface="Calibri" pitchFamily="34" charset="-120"/>
              </a:rPr>
              <a:t>Not a chatbot bolted to a portal. Ten scoped agents with tools, citations and enforced autonomy tiers.</a:t>
            </a:r>
            <a:endParaRPr lang="en-US" sz="1150" dirty="0"/>
          </a:p>
        </p:txBody>
      </p:sp>
      <p:sp>
        <p:nvSpPr>
          <p:cNvPr id="19" name="Text 17"/>
          <p:cNvSpPr/>
          <p:nvPr/>
        </p:nvSpPr>
        <p:spPr>
          <a:xfrm>
            <a:off x="8362493" y="4178808"/>
            <a:ext cx="3106826" cy="118872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Dossiers arrive already assembled</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Every assertion carries a citation</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Four autonomy tiers, enforced in code</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Full audit ledger on every action</a:t>
            </a:r>
            <a:endParaRPr lang="en-US" sz="1100" dirty="0"/>
          </a:p>
        </p:txBody>
      </p:sp>
      <p:sp>
        <p:nvSpPr>
          <p:cNvPr id="20" name="Text 18"/>
          <p:cNvSpPr/>
          <p:nvPr/>
        </p:nvSpPr>
        <p:spPr>
          <a:xfrm>
            <a:off x="502920" y="5715000"/>
            <a:ext cx="11185855" cy="457200"/>
          </a:xfrm>
          <a:prstGeom prst="rect">
            <a:avLst/>
          </a:prstGeom>
          <a:noFill/>
          <a:ln/>
        </p:spPr>
        <p:txBody>
          <a:bodyPr wrap="square" lIns="0" tIns="0" rIns="0" bIns="0" rtlCol="0" anchor="ctr"/>
          <a:lstStyle/>
          <a:p>
            <a:pPr indent="0" marL="0">
              <a:buNone/>
            </a:pPr>
            <a:r>
              <a:rPr lang="en-US" sz="1100" i="1" dirty="0">
                <a:solidFill>
                  <a:srgbClr val="3E5561"/>
                </a:solidFill>
                <a:latin typeface="Calibri" pitchFamily="34" charset="0"/>
                <a:ea typeface="Calibri" pitchFamily="34" charset="-122"/>
                <a:cs typeface="Calibri" pitchFamily="34" charset="-120"/>
              </a:rPr>
              <a:t>A maritime administration verifies references. An unverifiable case study is not a weak claim — in public procurement it is a disqualifying one. What follows is the strongest case that survives verification.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620"/>
        </a:solidFill>
      </p:bgPr>
    </p:bg>
    <p:spTree>
      <p:nvGrpSpPr>
        <p:cNvPr id="1" name=""/>
        <p:cNvGrpSpPr/>
        <p:nvPr/>
      </p:nvGrpSpPr>
      <p:grpSpPr>
        <a:xfrm>
          <a:off x="0" y="0"/>
          <a:ext cx="0" cy="0"/>
          <a:chOff x="0" y="0"/>
          <a:chExt cx="0" cy="0"/>
        </a:xfrm>
      </p:grpSpPr>
      <p:sp>
        <p:nvSpPr>
          <p:cNvPr id="2" name="Text 0"/>
          <p:cNvSpPr/>
          <p:nvPr/>
        </p:nvSpPr>
        <p:spPr>
          <a:xfrm>
            <a:off x="502920" y="2286000"/>
            <a:ext cx="11185855" cy="320040"/>
          </a:xfrm>
          <a:prstGeom prst="rect">
            <a:avLst/>
          </a:prstGeom>
          <a:noFill/>
          <a:ln/>
        </p:spPr>
        <p:txBody>
          <a:bodyPr wrap="square" lIns="0" tIns="0" rIns="0" bIns="0" rtlCol="0" anchor="ctr"/>
          <a:lstStyle/>
          <a:p>
            <a:pPr indent="0" marL="0">
              <a:buNone/>
            </a:pPr>
            <a:r>
              <a:rPr lang="en-US" sz="1200" b="1" spc="400" kern="0" dirty="0">
                <a:solidFill>
                  <a:srgbClr val="45BFC6"/>
                </a:solidFill>
                <a:latin typeface="Calibri" pitchFamily="34" charset="0"/>
                <a:ea typeface="Calibri" pitchFamily="34" charset="-122"/>
                <a:cs typeface="Calibri" pitchFamily="34" charset="-120"/>
              </a:rPr>
              <a:t>PART I</a:t>
            </a:r>
            <a:endParaRPr lang="en-US" sz="1200" dirty="0"/>
          </a:p>
        </p:txBody>
      </p:sp>
      <p:sp>
        <p:nvSpPr>
          <p:cNvPr id="3" name="Text 1"/>
          <p:cNvSpPr/>
          <p:nvPr/>
        </p:nvSpPr>
        <p:spPr>
          <a:xfrm>
            <a:off x="502920" y="2697480"/>
            <a:ext cx="8948684"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Platform capability</a:t>
            </a:r>
            <a:endParaRPr lang="en-US" sz="4200" dirty="0"/>
          </a:p>
        </p:txBody>
      </p:sp>
      <p:sp>
        <p:nvSpPr>
          <p:cNvPr id="4" name="Text 2"/>
          <p:cNvSpPr/>
          <p:nvPr/>
        </p:nvSpPr>
        <p:spPr>
          <a:xfrm>
            <a:off x="502920" y="3749040"/>
            <a:ext cx="6935230" cy="731520"/>
          </a:xfrm>
          <a:prstGeom prst="rect">
            <a:avLst/>
          </a:prstGeom>
          <a:noFill/>
          <a:ln/>
        </p:spPr>
        <p:txBody>
          <a:bodyPr wrap="square" lIns="0" tIns="0" rIns="0" bIns="0" rtlCol="0" anchor="ctr"/>
          <a:lstStyle/>
          <a:p>
            <a:pPr indent="0" marL="0">
              <a:lnSpc>
                <a:spcPct val="120000"/>
              </a:lnSpc>
              <a:buNone/>
            </a:pPr>
            <a:r>
              <a:rPr lang="en-US" sz="1400" dirty="0">
                <a:solidFill>
                  <a:srgbClr val="AAC1C7"/>
                </a:solidFill>
                <a:latin typeface="Calibri" pitchFamily="34" charset="0"/>
                <a:ea typeface="Calibri" pitchFamily="34" charset="-122"/>
                <a:cs typeface="Calibri" pitchFamily="34" charset="-120"/>
              </a:rPr>
              <a:t>Seven operating domains. Five capability spines. Marked honestly, capability by capability, against what exists today.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CAPABILITY MAP</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Seven domains × five capability spines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The domains are how an administration is organised. The spines are how work actually flows across it — one ship touches all five in a single lifecycle.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11185855" cy="914400"/>
        </p:xfrm>
        <a:graphic>
          <a:graphicData uri="http://schemas.openxmlformats.org/drawingml/2006/table">
            <a:tbl>
              <a:tblPr/>
              <a:tblGrid>
                <a:gridCol w="2286000"/>
                <a:gridCol w="1691640"/>
                <a:gridCol w="1371600"/>
                <a:gridCol w="1280160"/>
                <a:gridCol w="1417320"/>
                <a:gridCol w="1463040"/>
                <a:gridCol w="1673352"/>
              </a:tblGrid>
              <a:tr h="384048">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Operating domain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Registration &amp; certification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Compliance &amp; risk</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Vessel tracking</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Port &amp; terminal ops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Inspection &amp; survey</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Ships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feeds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feeds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Seafarers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crew lists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MLC audit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Legislation &amp; circulars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rules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rules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checklists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National Maritime Centre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calls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casualty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b="1" dirty="0">
                          <a:solidFill>
                            <a:srgbClr val="0E7C86"/>
                          </a:solidFill>
                          <a:latin typeface="Calibri" pitchFamily="34" charset="0"/>
                          <a:ea typeface="Calibri" pitchFamily="34" charset="-122"/>
                          <a:cs typeface="Calibri" pitchFamily="34" charset="-120"/>
                        </a:rPr>
                        <a:t>Configure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Smart inspection &amp; audit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endorses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targeting</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at berth</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Ports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clearance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at berth</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b="1" dirty="0">
                          <a:solidFill>
                            <a:srgbClr val="A96F12"/>
                          </a:solidFill>
                          <a:latin typeface="Calibri" pitchFamily="34" charset="0"/>
                          <a:ea typeface="Calibri" pitchFamily="34" charset="-122"/>
                          <a:cs typeface="Calibri" pitchFamily="34" charset="-120"/>
                        </a:rPr>
                        <a:t>Extend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Maritime facilities &amp; companies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primary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facilities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 audit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5806440"/>
            <a:ext cx="11185855" cy="274320"/>
          </a:xfrm>
          <a:prstGeom prst="rect">
            <a:avLst/>
          </a:prstGeom>
          <a:noFill/>
          <a:ln/>
        </p:spPr>
        <p:txBody>
          <a:bodyPr wrap="square" lIns="0" tIns="0" rIns="0" bIns="0" rtlCol="0" anchor="ctr"/>
          <a:lstStyle/>
          <a:p>
            <a:pPr indent="0" marL="0">
              <a:buNone/>
            </a:pPr>
            <a:r>
              <a:rPr lang="en-US" sz="1050" dirty="0">
                <a:solidFill>
                  <a:srgbClr val="6B838E"/>
                </a:solidFill>
                <a:latin typeface="Calibri" pitchFamily="34" charset="0"/>
                <a:ea typeface="Calibri" pitchFamily="34" charset="-122"/>
                <a:cs typeface="Calibri" pitchFamily="34" charset="-120"/>
              </a:rPr>
              <a:t>●  the domain owns this spine end to end        ◐  contributes or consumes data across it        ○  not applicable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01 — SHIPS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The registry is the system of record</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Every other domain resolves back to a ship identity. Get the registry right and inspection, port clearance and risk targeting all inherit it.</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7047089" cy="914400"/>
        </p:xfrm>
        <a:graphic>
          <a:graphicData uri="http://schemas.openxmlformats.org/drawingml/2006/table">
            <a:tbl>
              <a:tblPr/>
              <a:tblGrid>
                <a:gridCol w="1554480"/>
                <a:gridCol w="4114800"/>
                <a:gridCol w="1005840"/>
              </a:tblGrid>
              <a:tr h="402336">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Registry service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Covers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Registration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Provisional, permanent, bareboat in and out, under-construction, re-registration, change of ownership or name, deletion and closure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2C6E52"/>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 identity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IMO number, official number, call sign, MMSI, port of registry, tonnage under ITC 69, class linkage to the IACS society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2C6E52"/>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Title &amp; encumbrance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Mortgage registration, priority ranking, transfer and discharge; arrest, detention and caveat flags visible downstream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2C6E52"/>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Statutory certificates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SOLAS, MARPOL, Load Line, Tonnage, ISM, ISPS, MLC, BWM, AFS and the liability set — issued, endorsed, suspended, withdrawn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2C6E52"/>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Small craft register</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Dhows, abras, leisure yachts, fishing and workboats — separate lighter register with its own fee and survey rules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0E7C86"/>
                          </a:solidFill>
                          <a:latin typeface="Calibri" pitchFamily="34" charset="0"/>
                          <a:ea typeface="Calibri" pitchFamily="34" charset="-122"/>
                          <a:cs typeface="Calibri" pitchFamily="34" charset="-120"/>
                        </a:rPr>
                        <a:t>Configure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Radio &amp; CSR</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MMSI and EPIRB assignment, ship station licence, Continuous Synopsis Record with full history chain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0E7C86"/>
                          </a:solidFill>
                          <a:latin typeface="Calibri" pitchFamily="34" charset="0"/>
                          <a:ea typeface="Calibri" pitchFamily="34" charset="-122"/>
                          <a:cs typeface="Calibri" pitchFamily="34" charset="-120"/>
                        </a:rPr>
                        <a:t>Configure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RO delegation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Which survey each Recognised Organisation may perform on your behalf, with performance tracked against the delegation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2C6E52"/>
                          </a:solidFill>
                          <a:latin typeface="Calibri" pitchFamily="34" charset="0"/>
                          <a:ea typeface="Calibri" pitchFamily="34" charset="-122"/>
                          <a:cs typeface="Calibri" pitchFamily="34" charset="-120"/>
                        </a:rPr>
                        <a:t>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Shape 3"/>
          <p:cNvSpPr/>
          <p:nvPr/>
        </p:nvSpPr>
        <p:spPr>
          <a:xfrm>
            <a:off x="7773726" y="2011680"/>
            <a:ext cx="3915049" cy="3063240"/>
          </a:xfrm>
          <a:prstGeom prst="roundRect">
            <a:avLst>
              <a:gd name="adj" fmla="val 1791"/>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993182" y="2212848"/>
            <a:ext cx="3476137" cy="219456"/>
          </a:xfrm>
          <a:prstGeom prst="rect">
            <a:avLst/>
          </a:prstGeom>
          <a:noFill/>
          <a:ln/>
        </p:spPr>
        <p:txBody>
          <a:bodyPr wrap="square" lIns="0" tIns="0" rIns="0" bIns="0" rtlCol="0" anchor="ctr"/>
          <a:lstStyle/>
          <a:p>
            <a:pPr indent="0" marL="0">
              <a:buNone/>
            </a:pPr>
            <a:r>
              <a:rPr lang="en-US" sz="900" b="1" spc="200" kern="0" dirty="0">
                <a:solidFill>
                  <a:srgbClr val="0E7C86"/>
                </a:solidFill>
                <a:latin typeface="Calibri" pitchFamily="34" charset="0"/>
                <a:ea typeface="Calibri" pitchFamily="34" charset="-122"/>
                <a:cs typeface="Calibri" pitchFamily="34" charset="-120"/>
              </a:rPr>
              <a:t>DERIVED, NOT REMEMBERED</a:t>
            </a:r>
            <a:endParaRPr lang="en-US" sz="900" dirty="0"/>
          </a:p>
        </p:txBody>
      </p:sp>
      <p:sp>
        <p:nvSpPr>
          <p:cNvPr id="8" name="Text 5"/>
          <p:cNvSpPr/>
          <p:nvPr/>
        </p:nvSpPr>
        <p:spPr>
          <a:xfrm>
            <a:off x="7993182" y="2468880"/>
            <a:ext cx="3476137"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The certificate matrix</a:t>
            </a:r>
            <a:endParaRPr lang="en-US" sz="1500" dirty="0"/>
          </a:p>
        </p:txBody>
      </p:sp>
      <p:sp>
        <p:nvSpPr>
          <p:cNvPr id="9" name="Text 6"/>
          <p:cNvSpPr/>
          <p:nvPr/>
        </p:nvSpPr>
        <p:spPr>
          <a:xfrm>
            <a:off x="7993182" y="2834640"/>
            <a:ext cx="3476137" cy="1051560"/>
          </a:xfrm>
          <a:prstGeom prst="rect">
            <a:avLst/>
          </a:prstGeom>
          <a:noFill/>
          <a:ln/>
        </p:spPr>
        <p:txBody>
          <a:bodyPr wrap="square" lIns="0" tIns="0" rIns="0" bIns="0" rtlCol="0" anchor="t"/>
          <a:lstStyle/>
          <a:p>
            <a:pPr indent="0" marL="0">
              <a:lnSpc>
                <a:spcPct val="114000"/>
              </a:lnSpc>
              <a:buNone/>
            </a:pPr>
            <a:r>
              <a:rPr lang="en-US" sz="1050" dirty="0">
                <a:solidFill>
                  <a:srgbClr val="3E5561"/>
                </a:solidFill>
                <a:latin typeface="Calibri" pitchFamily="34" charset="0"/>
                <a:ea typeface="Calibri" pitchFamily="34" charset="-122"/>
                <a:cs typeface="Calibri" pitchFamily="34" charset="-120"/>
              </a:rPr>
              <a:t>Ship type, tonnage, trading area and convention applicability determine which certificates a vessel must carry. The platform derives that set, then holds the HSSC survey windows against it.</a:t>
            </a:r>
            <a:endParaRPr lang="en-US" sz="1050" dirty="0"/>
          </a:p>
        </p:txBody>
      </p:sp>
      <p:sp>
        <p:nvSpPr>
          <p:cNvPr id="10" name="Text 7"/>
          <p:cNvSpPr/>
          <p:nvPr/>
        </p:nvSpPr>
        <p:spPr>
          <a:xfrm>
            <a:off x="7993182" y="3886200"/>
            <a:ext cx="3476137" cy="1024128"/>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Anniversary-date harmonisation</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Annual, intermediate and renewal windows with the ±3 month rule</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Short-term extensions with justification on record</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Conflict detection on out-of-window RO endorsements</a:t>
            </a:r>
            <a:endParaRPr lang="en-US" sz="1050" dirty="0"/>
          </a:p>
        </p:txBody>
      </p:sp>
      <p:sp>
        <p:nvSpPr>
          <p:cNvPr id="11" name="Text 8"/>
          <p:cNvSpPr/>
          <p:nvPr/>
        </p:nvSpPr>
        <p:spPr>
          <a:xfrm>
            <a:off x="7773726" y="5212080"/>
            <a:ext cx="3915049" cy="91440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Why it matters for Port State Control: a ship detained abroad on a certificate defect is a flag-state performance event that follows the administration into MoU statistics. The registry that computes the matrix is the registry that stops the defect leaving port.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02 — SEAFARERS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One seafarer identity, from cadet to master</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STCW competency, sea service, medical fitness and MLC entitlements are usually four disconnected systems. Held as one identity they cross-validate each other — and fraud stops being invisible.</a:t>
            </a:r>
            <a:endParaRPr lang="en-US" sz="1250" dirty="0"/>
          </a:p>
        </p:txBody>
      </p:sp>
      <p:sp>
        <p:nvSpPr>
          <p:cNvPr id="5" name="Shape 3"/>
          <p:cNvSpPr/>
          <p:nvPr/>
        </p:nvSpPr>
        <p:spPr>
          <a:xfrm>
            <a:off x="502920" y="2011680"/>
            <a:ext cx="3545738" cy="3200400"/>
          </a:xfrm>
          <a:prstGeom prst="roundRect">
            <a:avLst>
              <a:gd name="adj" fmla="val 1714"/>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212848"/>
            <a:ext cx="3106826" cy="38404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Competency &amp; certification</a:t>
            </a:r>
            <a:endParaRPr lang="en-US" sz="1500" dirty="0"/>
          </a:p>
        </p:txBody>
      </p:sp>
      <p:sp>
        <p:nvSpPr>
          <p:cNvPr id="7" name="Text 5"/>
          <p:cNvSpPr/>
          <p:nvPr/>
        </p:nvSpPr>
        <p:spPr>
          <a:xfrm>
            <a:off x="722376" y="2596896"/>
            <a:ext cx="3106826" cy="2450592"/>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Certificates of Competency and Proficiency under STCW 2010 as amended</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GMDSS operator certificates and radio endorsements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Certificates of Recognition — flag endorsement of foreign CoCs, with issuing-administration verification</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Revalidation, upgrade paths and gap analysis against the STCW table</a:t>
            </a:r>
            <a:endParaRPr lang="en-US" sz="1100" dirty="0"/>
          </a:p>
        </p:txBody>
      </p:sp>
      <p:sp>
        <p:nvSpPr>
          <p:cNvPr id="8" name="Shape 6"/>
          <p:cNvSpPr/>
          <p:nvPr/>
        </p:nvSpPr>
        <p:spPr>
          <a:xfrm>
            <a:off x="4322978" y="2011680"/>
            <a:ext cx="3545738" cy="3200400"/>
          </a:xfrm>
          <a:prstGeom prst="roundRect">
            <a:avLst>
              <a:gd name="adj" fmla="val 1714"/>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9" name="Text 7"/>
          <p:cNvSpPr/>
          <p:nvPr/>
        </p:nvSpPr>
        <p:spPr>
          <a:xfrm>
            <a:off x="4542434" y="2212848"/>
            <a:ext cx="3106826" cy="38404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Service &amp; identity</a:t>
            </a:r>
            <a:endParaRPr lang="en-US" sz="1500" dirty="0"/>
          </a:p>
        </p:txBody>
      </p:sp>
      <p:sp>
        <p:nvSpPr>
          <p:cNvPr id="10" name="Text 8"/>
          <p:cNvSpPr/>
          <p:nvPr/>
        </p:nvSpPr>
        <p:spPr>
          <a:xfrm>
            <a:off x="4542434" y="2596896"/>
            <a:ext cx="3106826" cy="2450592"/>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Seafarer Identity Document and Continuous Discharge Book issue and replacement</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Sea-service records validated against vessel movement history and crew lists — not the applicant’s own declaration alone</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Medical fitness certificates and approved-examiner register</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Biometric enrolment where national identity policy requires it</a:t>
            </a:r>
            <a:endParaRPr lang="en-US" sz="1100" dirty="0"/>
          </a:p>
        </p:txBody>
      </p:sp>
      <p:sp>
        <p:nvSpPr>
          <p:cNvPr id="11" name="Shape 9"/>
          <p:cNvSpPr/>
          <p:nvPr/>
        </p:nvSpPr>
        <p:spPr>
          <a:xfrm>
            <a:off x="8143037" y="2011680"/>
            <a:ext cx="3545738" cy="3200400"/>
          </a:xfrm>
          <a:prstGeom prst="roundRect">
            <a:avLst>
              <a:gd name="adj" fmla="val 1714"/>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2" name="Text 10"/>
          <p:cNvSpPr/>
          <p:nvPr/>
        </p:nvSpPr>
        <p:spPr>
          <a:xfrm>
            <a:off x="8362493" y="2212848"/>
            <a:ext cx="3106826" cy="38404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Training &amp; employment</a:t>
            </a:r>
            <a:endParaRPr lang="en-US" sz="1500" dirty="0"/>
          </a:p>
        </p:txBody>
      </p:sp>
      <p:sp>
        <p:nvSpPr>
          <p:cNvPr id="13" name="Text 11"/>
          <p:cNvSpPr/>
          <p:nvPr/>
        </p:nvSpPr>
        <p:spPr>
          <a:xfrm>
            <a:off x="8362493" y="2596896"/>
            <a:ext cx="3106826" cy="2450592"/>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Training institute accreditation, course approval and audit against approved syllabus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Examination scheduling, assessor rostering, result capture</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Manning agency licensing and periodic inspection</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MLC 2006 — employment agreements, wages, repatriation, complaint escalation</a:t>
            </a:r>
            <a:endParaRPr lang="en-US" sz="1100" dirty="0"/>
          </a:p>
        </p:txBody>
      </p:sp>
      <p:sp>
        <p:nvSpPr>
          <p:cNvPr id="14" name="Text 12"/>
          <p:cNvSpPr/>
          <p:nvPr/>
        </p:nvSpPr>
        <p:spPr>
          <a:xfrm>
            <a:off x="502920" y="5440680"/>
            <a:ext cx="11185855" cy="640080"/>
          </a:xfrm>
          <a:prstGeom prst="rect">
            <a:avLst/>
          </a:prstGeom>
          <a:noFill/>
          <a:ln/>
        </p:spPr>
        <p:txBody>
          <a:bodyPr wrap="square" lIns="0" tIns="0" rIns="0" bIns="0" rtlCol="0" anchor="ctr"/>
          <a:lstStyle/>
          <a:p>
            <a:pPr indent="0" marL="0">
              <a:lnSpc>
                <a:spcPct val="112000"/>
              </a:lnSpc>
              <a:buNone/>
            </a:pPr>
            <a:r>
              <a:rPr lang="en-US" sz="1100" i="1" dirty="0">
                <a:solidFill>
                  <a:srgbClr val="3E5561"/>
                </a:solidFill>
                <a:latin typeface="Calibri" pitchFamily="34" charset="0"/>
                <a:ea typeface="Calibri" pitchFamily="34" charset="-122"/>
                <a:cs typeface="Calibri" pitchFamily="34" charset="-120"/>
              </a:rPr>
              <a:t>Manning closes the loop. The Minimum Safe Manning Document issued against a ship in Domain 01 is enforced against the crew list in Domain 06 and checked by the inspector in Domain 05 — the same three records read three ways, which is only possible if they are one record.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03 — LEGISLATION &amp; CIRCULARS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Regulation as structured data, not a PDF library</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Most administrations publish circulars as documents, then re-type their content into checklists, forms and fee tables by hand. Held as data, a change propagates instead of being re-keyed — and you can prove to an auditor that it did.</a:t>
            </a:r>
            <a:endParaRPr lang="en-US" sz="1250" dirty="0"/>
          </a:p>
        </p:txBody>
      </p:sp>
      <p:sp>
        <p:nvSpPr>
          <p:cNvPr id="5" name="Shape 3"/>
          <p:cNvSpPr/>
          <p:nvPr/>
        </p:nvSpPr>
        <p:spPr>
          <a:xfrm>
            <a:off x="502920" y="2103120"/>
            <a:ext cx="4474342" cy="3017520"/>
          </a:xfrm>
          <a:prstGeom prst="roundRect">
            <a:avLst>
              <a:gd name="adj" fmla="val 18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304288"/>
            <a:ext cx="4035430" cy="38404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The instrument base</a:t>
            </a:r>
            <a:endParaRPr lang="en-US" sz="1500" dirty="0"/>
          </a:p>
        </p:txBody>
      </p:sp>
      <p:sp>
        <p:nvSpPr>
          <p:cNvPr id="7" name="Text 5"/>
          <p:cNvSpPr/>
          <p:nvPr/>
        </p:nvSpPr>
        <p:spPr>
          <a:xfrm>
            <a:off x="722376" y="2688336"/>
            <a:ext cx="4035430" cy="2267712"/>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Maritime law, ministerial resolutions, technical and marine notices, circulars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Bilingual parallel text — Arabic and English as one instrument with two renderings, not two documents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Version chains with effective dates, amendment and supersession links</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Public portal, subscription alerts, and public-consultation workflow</a:t>
            </a:r>
            <a:endParaRPr lang="en-US" sz="1100" dirty="0"/>
          </a:p>
        </p:txBody>
      </p:sp>
      <p:sp>
        <p:nvSpPr>
          <p:cNvPr id="8" name="Text 6"/>
          <p:cNvSpPr/>
          <p:nvPr/>
        </p:nvSpPr>
        <p:spPr>
          <a:xfrm>
            <a:off x="5312838" y="2103120"/>
            <a:ext cx="6375937" cy="219456"/>
          </a:xfrm>
          <a:prstGeom prst="rect">
            <a:avLst/>
          </a:prstGeom>
          <a:noFill/>
          <a:ln/>
        </p:spPr>
        <p:txBody>
          <a:bodyPr wrap="square" lIns="0" tIns="0" rIns="0" bIns="0" rtlCol="0" anchor="ctr"/>
          <a:lstStyle/>
          <a:p>
            <a:pPr indent="0" marL="0">
              <a:buNone/>
            </a:pPr>
            <a:r>
              <a:rPr lang="en-US" sz="900" b="1" spc="200" kern="0" dirty="0">
                <a:solidFill>
                  <a:srgbClr val="6B838E"/>
                </a:solidFill>
                <a:latin typeface="Calibri" pitchFamily="34" charset="0"/>
                <a:ea typeface="Calibri" pitchFamily="34" charset="-122"/>
                <a:cs typeface="Calibri" pitchFamily="34" charset="-120"/>
              </a:rPr>
              <a:t>TRACEABILITY CHAIN — ONE QUERY, END TO END</a:t>
            </a:r>
            <a:endParaRPr lang="en-US" sz="900" dirty="0"/>
          </a:p>
        </p:txBody>
      </p:sp>
      <p:sp>
        <p:nvSpPr>
          <p:cNvPr id="9" name="Shape 7"/>
          <p:cNvSpPr/>
          <p:nvPr/>
        </p:nvSpPr>
        <p:spPr>
          <a:xfrm>
            <a:off x="5312838" y="2395728"/>
            <a:ext cx="6375937" cy="603504"/>
          </a:xfrm>
          <a:prstGeom prst="roundRect">
            <a:avLst>
              <a:gd name="adj" fmla="val 7576"/>
            </a:avLst>
          </a:prstGeom>
          <a:solidFill>
            <a:srgbClr val="E4F0F1"/>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8"/>
          <p:cNvSpPr/>
          <p:nvPr/>
        </p:nvSpPr>
        <p:spPr>
          <a:xfrm>
            <a:off x="5495718" y="2468880"/>
            <a:ext cx="6010177" cy="237744"/>
          </a:xfrm>
          <a:prstGeom prst="rect">
            <a:avLst/>
          </a:prstGeom>
          <a:noFill/>
          <a:ln/>
        </p:spPr>
        <p:txBody>
          <a:bodyPr wrap="square" lIns="0" tIns="0" rIns="0" bIns="0" rtlCol="0" anchor="ctr"/>
          <a:lstStyle/>
          <a:p>
            <a:pPr indent="0" marL="0">
              <a:buNone/>
            </a:pPr>
            <a:r>
              <a:rPr lang="en-US" sz="1200" b="1" dirty="0">
                <a:solidFill>
                  <a:srgbClr val="0B1F2A"/>
                </a:solidFill>
                <a:latin typeface="Cambria" pitchFamily="34" charset="0"/>
                <a:ea typeface="Cambria" pitchFamily="34" charset="-122"/>
                <a:cs typeface="Cambria" pitchFamily="34" charset="-120"/>
              </a:rPr>
              <a:t>IMO instrument</a:t>
            </a:r>
            <a:endParaRPr lang="en-US" sz="1200" dirty="0"/>
          </a:p>
        </p:txBody>
      </p:sp>
      <p:sp>
        <p:nvSpPr>
          <p:cNvPr id="11" name="Text 9"/>
          <p:cNvSpPr/>
          <p:nvPr/>
        </p:nvSpPr>
        <p:spPr>
          <a:xfrm>
            <a:off x="5495718" y="2706624"/>
            <a:ext cx="6010177" cy="237744"/>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MARPOL Annex VI Reg. 14 — sulphur content of fuel oil</a:t>
            </a:r>
            <a:endParaRPr lang="en-US" sz="1000" dirty="0"/>
          </a:p>
        </p:txBody>
      </p:sp>
      <p:sp>
        <p:nvSpPr>
          <p:cNvPr id="12" name="Shape 10"/>
          <p:cNvSpPr/>
          <p:nvPr/>
        </p:nvSpPr>
        <p:spPr>
          <a:xfrm>
            <a:off x="5642022" y="3017520"/>
            <a:ext cx="128016" cy="118872"/>
          </a:xfrm>
          <a:prstGeom prst="downArrow">
            <a:avLst/>
          </a:prstGeom>
          <a:solidFill>
            <a:srgbClr val="AFC1C2"/>
          </a:solidFill>
          <a:ln w="12700">
            <a:solidFill>
              <a:srgbClr val="AFC1C2"/>
            </a:solidFill>
            <a:prstDash val="solid"/>
          </a:ln>
        </p:spPr>
      </p:sp>
      <p:sp>
        <p:nvSpPr>
          <p:cNvPr id="13" name="Shape 11"/>
          <p:cNvSpPr/>
          <p:nvPr/>
        </p:nvSpPr>
        <p:spPr>
          <a:xfrm>
            <a:off x="5312838" y="3154680"/>
            <a:ext cx="6375937" cy="603504"/>
          </a:xfrm>
          <a:prstGeom prst="roundRect">
            <a:avLst>
              <a:gd name="adj" fmla="val 7576"/>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4" name="Text 12"/>
          <p:cNvSpPr/>
          <p:nvPr/>
        </p:nvSpPr>
        <p:spPr>
          <a:xfrm>
            <a:off x="5495718" y="3227832"/>
            <a:ext cx="6010177" cy="237744"/>
          </a:xfrm>
          <a:prstGeom prst="rect">
            <a:avLst/>
          </a:prstGeom>
          <a:noFill/>
          <a:ln/>
        </p:spPr>
        <p:txBody>
          <a:bodyPr wrap="square" lIns="0" tIns="0" rIns="0" bIns="0" rtlCol="0" anchor="ctr"/>
          <a:lstStyle/>
          <a:p>
            <a:pPr indent="0" marL="0">
              <a:buNone/>
            </a:pPr>
            <a:r>
              <a:rPr lang="en-US" sz="1200" b="1" dirty="0">
                <a:solidFill>
                  <a:srgbClr val="0B1F2A"/>
                </a:solidFill>
                <a:latin typeface="Cambria" pitchFamily="34" charset="0"/>
                <a:ea typeface="Cambria" pitchFamily="34" charset="-122"/>
                <a:cs typeface="Cambria" pitchFamily="34" charset="-120"/>
              </a:rPr>
              <a:t>National instrument</a:t>
            </a:r>
            <a:endParaRPr lang="en-US" sz="1200" dirty="0"/>
          </a:p>
        </p:txBody>
      </p:sp>
      <p:sp>
        <p:nvSpPr>
          <p:cNvPr id="15" name="Text 13"/>
          <p:cNvSpPr/>
          <p:nvPr/>
        </p:nvSpPr>
        <p:spPr>
          <a:xfrm>
            <a:off x="5495718" y="3465576"/>
            <a:ext cx="6010177" cy="237744"/>
          </a:xfrm>
          <a:prstGeom prst="rect">
            <a:avLst/>
          </a:prstGeom>
          <a:noFill/>
          <a:ln/>
        </p:spPr>
        <p:txBody>
          <a:bodyPr wrap="square" lIns="0" tIns="0" rIns="0" bIns="0" rtlCol="0" anchor="ctr"/>
          <a:lstStyle/>
          <a:p>
            <a:pPr indent="0" marL="0">
              <a:buNone/>
            </a:pPr>
            <a:r>
              <a:rPr lang="en-US" sz="1000" dirty="0">
                <a:solidFill>
                  <a:srgbClr val="3E5561"/>
                </a:solidFill>
                <a:latin typeface="Calibri" pitchFamily="34" charset="0"/>
                <a:ea typeface="Calibri" pitchFamily="34" charset="-122"/>
                <a:cs typeface="Calibri" pitchFamily="34" charset="-120"/>
              </a:rPr>
              <a:t>Ministerial Resolution — adopting article, effective date, penalties</a:t>
            </a:r>
            <a:endParaRPr lang="en-US" sz="1000" dirty="0"/>
          </a:p>
        </p:txBody>
      </p:sp>
      <p:sp>
        <p:nvSpPr>
          <p:cNvPr id="16" name="Shape 14"/>
          <p:cNvSpPr/>
          <p:nvPr/>
        </p:nvSpPr>
        <p:spPr>
          <a:xfrm>
            <a:off x="5642022" y="3776472"/>
            <a:ext cx="128016" cy="118872"/>
          </a:xfrm>
          <a:prstGeom prst="downArrow">
            <a:avLst/>
          </a:prstGeom>
          <a:solidFill>
            <a:srgbClr val="AFC1C2"/>
          </a:solidFill>
          <a:ln w="12700">
            <a:solidFill>
              <a:srgbClr val="AFC1C2"/>
            </a:solidFill>
            <a:prstDash val="solid"/>
          </a:ln>
        </p:spPr>
      </p:sp>
      <p:sp>
        <p:nvSpPr>
          <p:cNvPr id="17" name="Shape 15"/>
          <p:cNvSpPr/>
          <p:nvPr/>
        </p:nvSpPr>
        <p:spPr>
          <a:xfrm>
            <a:off x="5312838" y="3913632"/>
            <a:ext cx="6375937" cy="603504"/>
          </a:xfrm>
          <a:prstGeom prst="roundRect">
            <a:avLst>
              <a:gd name="adj" fmla="val 7576"/>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8" name="Text 16"/>
          <p:cNvSpPr/>
          <p:nvPr/>
        </p:nvSpPr>
        <p:spPr>
          <a:xfrm>
            <a:off x="5495718" y="3986784"/>
            <a:ext cx="6010177" cy="237744"/>
          </a:xfrm>
          <a:prstGeom prst="rect">
            <a:avLst/>
          </a:prstGeom>
          <a:noFill/>
          <a:ln/>
        </p:spPr>
        <p:txBody>
          <a:bodyPr wrap="square" lIns="0" tIns="0" rIns="0" bIns="0" rtlCol="0" anchor="ctr"/>
          <a:lstStyle/>
          <a:p>
            <a:pPr indent="0" marL="0">
              <a:buNone/>
            </a:pPr>
            <a:r>
              <a:rPr lang="en-US" sz="1200" b="1" dirty="0">
                <a:solidFill>
                  <a:srgbClr val="0B1F2A"/>
                </a:solidFill>
                <a:latin typeface="Cambria" pitchFamily="34" charset="0"/>
                <a:ea typeface="Cambria" pitchFamily="34" charset="-122"/>
                <a:cs typeface="Cambria" pitchFamily="34" charset="-120"/>
              </a:rPr>
              <a:t>Administrative procedure</a:t>
            </a:r>
            <a:endParaRPr lang="en-US" sz="1200" dirty="0"/>
          </a:p>
        </p:txBody>
      </p:sp>
      <p:sp>
        <p:nvSpPr>
          <p:cNvPr id="19" name="Text 17"/>
          <p:cNvSpPr/>
          <p:nvPr/>
        </p:nvSpPr>
        <p:spPr>
          <a:xfrm>
            <a:off x="5495718" y="4224528"/>
            <a:ext cx="6010177" cy="237744"/>
          </a:xfrm>
          <a:prstGeom prst="rect">
            <a:avLst/>
          </a:prstGeom>
          <a:noFill/>
          <a:ln/>
        </p:spPr>
        <p:txBody>
          <a:bodyPr wrap="square" lIns="0" tIns="0" rIns="0" bIns="0" rtlCol="0" anchor="ctr"/>
          <a:lstStyle/>
          <a:p>
            <a:pPr indent="0" marL="0">
              <a:buNone/>
            </a:pPr>
            <a:r>
              <a:rPr lang="en-US" sz="1000" dirty="0">
                <a:solidFill>
                  <a:srgbClr val="3E5561"/>
                </a:solidFill>
                <a:latin typeface="Calibri" pitchFamily="34" charset="0"/>
                <a:ea typeface="Calibri" pitchFamily="34" charset="-122"/>
                <a:cs typeface="Calibri" pitchFamily="34" charset="-120"/>
              </a:rPr>
              <a:t>Surveyor SOP — bunker delivery note retention, sampling method</a:t>
            </a:r>
            <a:endParaRPr lang="en-US" sz="1000" dirty="0"/>
          </a:p>
        </p:txBody>
      </p:sp>
      <p:sp>
        <p:nvSpPr>
          <p:cNvPr id="20" name="Shape 18"/>
          <p:cNvSpPr/>
          <p:nvPr/>
        </p:nvSpPr>
        <p:spPr>
          <a:xfrm>
            <a:off x="5642022" y="4535424"/>
            <a:ext cx="128016" cy="118872"/>
          </a:xfrm>
          <a:prstGeom prst="downArrow">
            <a:avLst/>
          </a:prstGeom>
          <a:solidFill>
            <a:srgbClr val="AFC1C2"/>
          </a:solidFill>
          <a:ln w="12700">
            <a:solidFill>
              <a:srgbClr val="AFC1C2"/>
            </a:solidFill>
            <a:prstDash val="solid"/>
          </a:ln>
        </p:spPr>
      </p:sp>
      <p:sp>
        <p:nvSpPr>
          <p:cNvPr id="21" name="Shape 19"/>
          <p:cNvSpPr/>
          <p:nvPr/>
        </p:nvSpPr>
        <p:spPr>
          <a:xfrm>
            <a:off x="5312838" y="4672584"/>
            <a:ext cx="6375937" cy="603504"/>
          </a:xfrm>
          <a:prstGeom prst="roundRect">
            <a:avLst>
              <a:gd name="adj" fmla="val 7576"/>
            </a:avLst>
          </a:prstGeom>
          <a:solidFill>
            <a:srgbClr val="F7EFE0"/>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22" name="Text 20"/>
          <p:cNvSpPr/>
          <p:nvPr/>
        </p:nvSpPr>
        <p:spPr>
          <a:xfrm>
            <a:off x="5495718" y="4745736"/>
            <a:ext cx="6010177" cy="237744"/>
          </a:xfrm>
          <a:prstGeom prst="rect">
            <a:avLst/>
          </a:prstGeom>
          <a:noFill/>
          <a:ln/>
        </p:spPr>
        <p:txBody>
          <a:bodyPr wrap="square" lIns="0" tIns="0" rIns="0" bIns="0" rtlCol="0" anchor="ctr"/>
          <a:lstStyle/>
          <a:p>
            <a:pPr indent="0" marL="0">
              <a:buNone/>
            </a:pPr>
            <a:r>
              <a:rPr lang="en-US" sz="1200" b="1" dirty="0">
                <a:solidFill>
                  <a:srgbClr val="0B1F2A"/>
                </a:solidFill>
                <a:latin typeface="Cambria" pitchFamily="34" charset="0"/>
                <a:ea typeface="Cambria" pitchFamily="34" charset="-122"/>
                <a:cs typeface="Cambria" pitchFamily="34" charset="-120"/>
              </a:rPr>
              <a:t>Checklist item → evidence</a:t>
            </a:r>
            <a:endParaRPr lang="en-US" sz="1200" dirty="0"/>
          </a:p>
        </p:txBody>
      </p:sp>
      <p:sp>
        <p:nvSpPr>
          <p:cNvPr id="23" name="Text 21"/>
          <p:cNvSpPr/>
          <p:nvPr/>
        </p:nvSpPr>
        <p:spPr>
          <a:xfrm>
            <a:off x="5495718" y="4983480"/>
            <a:ext cx="6010177" cy="237744"/>
          </a:xfrm>
          <a:prstGeom prst="rect">
            <a:avLst/>
          </a:prstGeom>
          <a:noFill/>
          <a:ln/>
        </p:spPr>
        <p:txBody>
          <a:bodyPr wrap="square" lIns="0" tIns="0" rIns="0" bIns="0" rtlCol="0" anchor="ctr"/>
          <a:lstStyle/>
          <a:p>
            <a:pPr indent="0" marL="0">
              <a:buNone/>
            </a:pPr>
            <a:r>
              <a:rPr lang="en-US" sz="1000" dirty="0">
                <a:solidFill>
                  <a:srgbClr val="A96F12"/>
                </a:solidFill>
                <a:latin typeface="Calibri" pitchFamily="34" charset="0"/>
                <a:ea typeface="Calibri" pitchFamily="34" charset="-122"/>
                <a:cs typeface="Calibri" pitchFamily="34" charset="-120"/>
              </a:rPr>
              <a:t>PSC deficiency code · photo · sample seal no. · officer · timestamp</a:t>
            </a:r>
            <a:endParaRPr lang="en-US" sz="1000" dirty="0"/>
          </a:p>
        </p:txBody>
      </p:sp>
      <p:sp>
        <p:nvSpPr>
          <p:cNvPr id="24" name="Text 22"/>
          <p:cNvSpPr/>
          <p:nvPr/>
        </p:nvSpPr>
        <p:spPr>
          <a:xfrm>
            <a:off x="502920" y="5349240"/>
            <a:ext cx="4474342" cy="91440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IMSAS readiness. The IMO Member State Audit Scheme asks a state to demonstrate that adopted conventions are implemented and enforced. That is exactly this chain — queryable, with evidence attached at every link, rather than assembled by hand in the weeks before an audit.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04 — NATIONAL MARITIME CENTRE</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One operating picture, 24 hours a day</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The centre’s value is not the video wall — it is that the vessel on the wall is already linked to its certificates, its detention history, its crew list and its owner.</a:t>
            </a:r>
            <a:endParaRPr lang="en-US" sz="1250" dirty="0"/>
          </a:p>
        </p:txBody>
      </p:sp>
      <p:sp>
        <p:nvSpPr>
          <p:cNvPr id="5" name="Shape 3"/>
          <p:cNvSpPr/>
          <p:nvPr/>
        </p:nvSpPr>
        <p:spPr>
          <a:xfrm>
            <a:off x="502920" y="2011680"/>
            <a:ext cx="2590724" cy="3246120"/>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212848"/>
            <a:ext cx="2151812"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Domain awareness</a:t>
            </a:r>
            <a:endParaRPr lang="en-US" sz="1500" dirty="0"/>
          </a:p>
        </p:txBody>
      </p:sp>
      <p:sp>
        <p:nvSpPr>
          <p:cNvPr id="7" name="Text 5"/>
          <p:cNvSpPr/>
          <p:nvPr/>
        </p:nvSpPr>
        <p:spPr>
          <a:xfrm>
            <a:off x="722376" y="2578608"/>
            <a:ext cx="2151812" cy="25146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Terrestrial and satellite AIS, LRIT, VMS and coastal radar fused into one track store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VTS interoperability, national and port level</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Geofences — territorial sea, anchorages, MPAs, exclusion zones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Common operating picture shared under role-scoped access</a:t>
            </a:r>
            <a:endParaRPr lang="en-US" sz="1000" dirty="0"/>
          </a:p>
        </p:txBody>
      </p:sp>
      <p:sp>
        <p:nvSpPr>
          <p:cNvPr id="8" name="Shape 6"/>
          <p:cNvSpPr/>
          <p:nvPr/>
        </p:nvSpPr>
        <p:spPr>
          <a:xfrm>
            <a:off x="3367964" y="2011680"/>
            <a:ext cx="2590724" cy="3246120"/>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9" name="Text 7"/>
          <p:cNvSpPr/>
          <p:nvPr/>
        </p:nvSpPr>
        <p:spPr>
          <a:xfrm>
            <a:off x="3587420" y="2212848"/>
            <a:ext cx="2151812"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Incident &amp; SAR</a:t>
            </a:r>
            <a:endParaRPr lang="en-US" sz="1500" dirty="0"/>
          </a:p>
        </p:txBody>
      </p:sp>
      <p:sp>
        <p:nvSpPr>
          <p:cNvPr id="10" name="Text 8"/>
          <p:cNvSpPr/>
          <p:nvPr/>
        </p:nvSpPr>
        <p:spPr>
          <a:xfrm>
            <a:off x="3587420" y="2578608"/>
            <a:ext cx="2151812" cy="25146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MRCC incident log, distress intake, asset tasking, on-scene coordination</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Timelines reconstructed from track history, not recollection</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Inter-agency escalation matrix with duty rosters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After-action pack generated from the log</a:t>
            </a:r>
            <a:endParaRPr lang="en-US" sz="1000" dirty="0"/>
          </a:p>
        </p:txBody>
      </p:sp>
      <p:sp>
        <p:nvSpPr>
          <p:cNvPr id="11" name="Shape 9"/>
          <p:cNvSpPr/>
          <p:nvPr/>
        </p:nvSpPr>
        <p:spPr>
          <a:xfrm>
            <a:off x="6233008" y="2011680"/>
            <a:ext cx="2590724" cy="3246120"/>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2" name="Text 10"/>
          <p:cNvSpPr/>
          <p:nvPr/>
        </p:nvSpPr>
        <p:spPr>
          <a:xfrm>
            <a:off x="6452464" y="2212848"/>
            <a:ext cx="2151812"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Casualty &amp; pollution</a:t>
            </a:r>
            <a:endParaRPr lang="en-US" sz="1500" dirty="0"/>
          </a:p>
        </p:txBody>
      </p:sp>
      <p:sp>
        <p:nvSpPr>
          <p:cNvPr id="13" name="Text 11"/>
          <p:cNvSpPr/>
          <p:nvPr/>
        </p:nvSpPr>
        <p:spPr>
          <a:xfrm>
            <a:off x="6452464" y="2578608"/>
            <a:ext cx="2151812" cy="25146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Investigation under the Casualty Investigation Code — case file, evidence chain, recommendations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Pollution response under OPRC with tiered activation</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Findings feed the risk model and the checklist</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GISIS-compatible casualty reporting</a:t>
            </a:r>
            <a:endParaRPr lang="en-US" sz="1000" dirty="0"/>
          </a:p>
        </p:txBody>
      </p:sp>
      <p:sp>
        <p:nvSpPr>
          <p:cNvPr id="14" name="Shape 12"/>
          <p:cNvSpPr/>
          <p:nvPr/>
        </p:nvSpPr>
        <p:spPr>
          <a:xfrm>
            <a:off x="9098051" y="2011680"/>
            <a:ext cx="2590724" cy="3246120"/>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5" name="Text 13"/>
          <p:cNvSpPr/>
          <p:nvPr/>
        </p:nvSpPr>
        <p:spPr>
          <a:xfrm>
            <a:off x="9317507" y="2212848"/>
            <a:ext cx="2151812"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Maritime security</a:t>
            </a:r>
            <a:endParaRPr lang="en-US" sz="1500" dirty="0"/>
          </a:p>
        </p:txBody>
      </p:sp>
      <p:sp>
        <p:nvSpPr>
          <p:cNvPr id="16" name="Text 14"/>
          <p:cNvSpPr/>
          <p:nvPr/>
        </p:nvSpPr>
        <p:spPr>
          <a:xfrm>
            <a:off x="9317507" y="2578608"/>
            <a:ext cx="2151812" cy="25146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ISPS security level declaration and propagation to port facilities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Ship security alert handling</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Port facility assessment and plan status on the map</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Sanctions and watchlist correlation against live tracks</a:t>
            </a:r>
            <a:endParaRPr lang="en-US" sz="1000" dirty="0"/>
          </a:p>
        </p:txBody>
      </p:sp>
      <p:sp>
        <p:nvSpPr>
          <p:cNvPr id="17" name="Text 15"/>
          <p:cNvSpPr/>
          <p:nvPr/>
        </p:nvSpPr>
        <p:spPr>
          <a:xfrm>
            <a:off x="502920" y="5486400"/>
            <a:ext cx="11185855" cy="640080"/>
          </a:xfrm>
          <a:prstGeom prst="rect">
            <a:avLst/>
          </a:prstGeom>
          <a:noFill/>
          <a:ln/>
        </p:spPr>
        <p:txBody>
          <a:bodyPr wrap="square" lIns="0" tIns="0" rIns="0" bIns="0" rtlCol="0" anchor="ctr"/>
          <a:lstStyle/>
          <a:p>
            <a:pPr indent="0" marL="0">
              <a:lnSpc>
                <a:spcPct val="112000"/>
              </a:lnSpc>
              <a:buNone/>
            </a:pPr>
            <a:r>
              <a:rPr lang="en-US" sz="1100" i="1" dirty="0">
                <a:solidFill>
                  <a:srgbClr val="3E5561"/>
                </a:solidFill>
                <a:latin typeface="Calibri" pitchFamily="34" charset="0"/>
                <a:ea typeface="Calibri" pitchFamily="34" charset="-122"/>
                <a:cs typeface="Calibri" pitchFamily="34" charset="-120"/>
              </a:rPr>
              <a:t>Tier — Configure.  The case-management, mapping, fusion and alerting substrate is core. What is configuration is your sensor inventory, geofence set, escalation matrix and agency access model. What is genuine integration work is each upstream feed — scoped in the roadmap, not hand-waved here.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05 — SMART INSPECTION &amp; AUDIT</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Inspect the right ship, not the next ship</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Inspection capacity is fixed; arrivals are not. The whole discipline is targeting — a defensible risk profile, scarce surveyor hours spent against it, and a selection you can justify afterwards.</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6711513" cy="914400"/>
        </p:xfrm>
        <a:graphic>
          <a:graphicData uri="http://schemas.openxmlformats.org/drawingml/2006/table">
            <a:tbl>
              <a:tblPr/>
              <a:tblGrid>
                <a:gridCol w="1600200"/>
                <a:gridCol w="5486400"/>
              </a:tblGrid>
              <a:tr h="402336">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Regime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the platform runs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Flag State Inspection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Annual and ad-hoc FSI programme, surveyor assignment, findings, corrective action to closure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Port State Control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Targeting under Riyadh MoU methodology, initial and more-detailed inspection, deficiency coding, detention decision, rectification and follow-up</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ISM audit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Document of Compliance and Safety Management Certificate — initial, annual, intermediate, renewal; major non-conformity handling</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ISPS audit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International Ship Security Certificate verification; port facility security audits against the approved plan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MLC inspection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DMLC Parts I and II, on-board conditions, complaint-triggered inspection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Oversight audits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ROs against delegation, training institutes against syllabus, licensed facilities against condition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02336">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IMSAS evidence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Standing evidence library mapped to the audit standard — not assembled in the weeks before an audit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Shape 3"/>
          <p:cNvSpPr/>
          <p:nvPr/>
        </p:nvSpPr>
        <p:spPr>
          <a:xfrm>
            <a:off x="7550009" y="2148840"/>
            <a:ext cx="4138766" cy="3611880"/>
          </a:xfrm>
          <a:prstGeom prst="roundRect">
            <a:avLst>
              <a:gd name="adj" fmla="val 1519"/>
            </a:avLst>
          </a:prstGeom>
          <a:solidFill>
            <a:srgbClr val="FDFAF4"/>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769465" y="2350008"/>
            <a:ext cx="3699854" cy="219456"/>
          </a:xfrm>
          <a:prstGeom prst="rect">
            <a:avLst/>
          </a:prstGeom>
          <a:noFill/>
          <a:ln/>
        </p:spPr>
        <p:txBody>
          <a:bodyPr wrap="square" lIns="0" tIns="0" rIns="0" bIns="0" rtlCol="0" anchor="ctr"/>
          <a:lstStyle/>
          <a:p>
            <a:pPr indent="0" marL="0">
              <a:buNone/>
            </a:pPr>
            <a:r>
              <a:rPr lang="en-US" sz="900" b="1" spc="200" kern="0" dirty="0">
                <a:solidFill>
                  <a:srgbClr val="A96F12"/>
                </a:solidFill>
                <a:latin typeface="Calibri" pitchFamily="34" charset="0"/>
                <a:ea typeface="Calibri" pitchFamily="34" charset="-122"/>
                <a:cs typeface="Calibri" pitchFamily="34" charset="-120"/>
              </a:rPr>
              <a:t>FIELD-FIRST, OFFLINE-FIRST</a:t>
            </a:r>
            <a:endParaRPr lang="en-US" sz="900" dirty="0"/>
          </a:p>
        </p:txBody>
      </p:sp>
      <p:sp>
        <p:nvSpPr>
          <p:cNvPr id="8" name="Text 5"/>
          <p:cNvSpPr/>
          <p:nvPr/>
        </p:nvSpPr>
        <p:spPr>
          <a:xfrm>
            <a:off x="7769465" y="2606040"/>
            <a:ext cx="3699854" cy="56692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The inspector’s device is the primary interface</a:t>
            </a:r>
            <a:endParaRPr lang="en-US" sz="1500" dirty="0"/>
          </a:p>
        </p:txBody>
      </p:sp>
      <p:sp>
        <p:nvSpPr>
          <p:cNvPr id="9" name="Text 6"/>
          <p:cNvSpPr/>
          <p:nvPr/>
        </p:nvSpPr>
        <p:spPr>
          <a:xfrm>
            <a:off x="7769465" y="3172968"/>
            <a:ext cx="3699854" cy="105156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Not a web form retyped at the office at 19:00. It carries the targeted vessel list, the checklist derived from the instrument base, and the ship’s full history — and it works at a berth with no signal.</a:t>
            </a:r>
            <a:endParaRPr lang="en-US" sz="1000" dirty="0"/>
          </a:p>
        </p:txBody>
      </p:sp>
      <p:sp>
        <p:nvSpPr>
          <p:cNvPr id="10" name="Text 7"/>
          <p:cNvSpPr/>
          <p:nvPr/>
        </p:nvSpPr>
        <p:spPr>
          <a:xfrm>
            <a:off x="7769465" y="4224528"/>
            <a:ext cx="3699854" cy="137160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Offline capture with conflict-safe sync</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Photo and video evidence bound to the checklist item and geotagged</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Deficiency code suggested from photo and note — officer confirms, never auto-files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Report and detention justification drafted against convention references before the surveyor leaves the gangway</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Electronic signature and immediate issue to the master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06 — PORTS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One submission, every agency</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Since 1 January 2024 the FAL Convention has made electronic exchange of port-call data mandatory for Contracting Governments. A Maritime Single Window is a treaty obligation with a date that has already passed — not a modernisation option.</a:t>
            </a:r>
            <a:endParaRPr lang="en-US" sz="1250" dirty="0"/>
          </a:p>
        </p:txBody>
      </p:sp>
      <p:sp>
        <p:nvSpPr>
          <p:cNvPr id="5" name="Shape 3"/>
          <p:cNvSpPr/>
          <p:nvPr/>
        </p:nvSpPr>
        <p:spPr>
          <a:xfrm>
            <a:off x="502920" y="2148840"/>
            <a:ext cx="4026908" cy="2377440"/>
          </a:xfrm>
          <a:prstGeom prst="roundRect">
            <a:avLst>
              <a:gd name="adj" fmla="val 230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350008"/>
            <a:ext cx="3587996"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Maritime Single Window</a:t>
            </a:r>
            <a:endParaRPr lang="en-US" sz="1500" dirty="0"/>
          </a:p>
        </p:txBody>
      </p:sp>
      <p:sp>
        <p:nvSpPr>
          <p:cNvPr id="7" name="Text 5"/>
          <p:cNvSpPr/>
          <p:nvPr/>
        </p:nvSpPr>
        <p:spPr>
          <a:xfrm>
            <a:off x="722376" y="2715768"/>
            <a:ext cx="3587996" cy="164592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FAL Forms 1–7 — general declaration, cargo, ship’s stores, crew effects, crew and passenger lists, dangerous goods</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Aligned to the IMO Compendium harmonised data model, so submissions are reusable rather than port-specific</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Once-only principle — the agent submits once; customs, immigration, health, security and the port each read their slice</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Machine-to-machine API alongside the web channel</a:t>
            </a:r>
            <a:endParaRPr lang="en-US" sz="1050" dirty="0"/>
          </a:p>
        </p:txBody>
      </p:sp>
      <p:sp>
        <p:nvSpPr>
          <p:cNvPr id="8" name="Text 6"/>
          <p:cNvSpPr/>
          <p:nvPr/>
        </p:nvSpPr>
        <p:spPr>
          <a:xfrm>
            <a:off x="502920" y="4663440"/>
            <a:ext cx="4026908" cy="82296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Tier — Extend.  Declaration handling, workflow, clearance and the tariff engine are core. The extension is your specific agency clearance rules and the terminal systems in scope — genuine work, which we would rather price than describe as a switch.</a:t>
            </a:r>
            <a:endParaRPr lang="en-US" sz="1050" dirty="0"/>
          </a:p>
        </p:txBody>
      </p:sp>
      <p:sp>
        <p:nvSpPr>
          <p:cNvPr id="9" name="Shape 7"/>
          <p:cNvSpPr/>
          <p:nvPr/>
        </p:nvSpPr>
        <p:spPr>
          <a:xfrm>
            <a:off x="4865404" y="2148840"/>
            <a:ext cx="3274526" cy="1645920"/>
          </a:xfrm>
          <a:prstGeom prst="roundRect">
            <a:avLst>
              <a:gd name="adj" fmla="val 3333"/>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8"/>
          <p:cNvSpPr/>
          <p:nvPr/>
        </p:nvSpPr>
        <p:spPr>
          <a:xfrm>
            <a:off x="5084860" y="2350008"/>
            <a:ext cx="2835614" cy="310896"/>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Port call lifecycle</a:t>
            </a:r>
            <a:endParaRPr lang="en-US" sz="1500" dirty="0"/>
          </a:p>
        </p:txBody>
      </p:sp>
      <p:sp>
        <p:nvSpPr>
          <p:cNvPr id="11" name="Text 9"/>
          <p:cNvSpPr/>
          <p:nvPr/>
        </p:nvSpPr>
        <p:spPr>
          <a:xfrm>
            <a:off x="5084860" y="2660904"/>
            <a:ext cx="2835614" cy="96926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Pre-arrival notification and ETA management</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Berth allocation and conflict resolution</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Pilotage, towage and mooring ordering</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Arrival, shifting, departure clearance</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Waste reception and delivery receipt</a:t>
            </a:r>
            <a:endParaRPr lang="en-US" sz="900" dirty="0"/>
          </a:p>
        </p:txBody>
      </p:sp>
      <p:sp>
        <p:nvSpPr>
          <p:cNvPr id="12" name="Shape 10"/>
          <p:cNvSpPr/>
          <p:nvPr/>
        </p:nvSpPr>
        <p:spPr>
          <a:xfrm>
            <a:off x="8414249" y="2148840"/>
            <a:ext cx="3274526" cy="1645920"/>
          </a:xfrm>
          <a:prstGeom prst="roundRect">
            <a:avLst>
              <a:gd name="adj" fmla="val 3333"/>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3" name="Text 11"/>
          <p:cNvSpPr/>
          <p:nvPr/>
        </p:nvSpPr>
        <p:spPr>
          <a:xfrm>
            <a:off x="8633705" y="2350008"/>
            <a:ext cx="2835614" cy="310896"/>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Terminal operations</a:t>
            </a:r>
            <a:endParaRPr lang="en-US" sz="1500" dirty="0"/>
          </a:p>
        </p:txBody>
      </p:sp>
      <p:sp>
        <p:nvSpPr>
          <p:cNvPr id="14" name="Text 12"/>
          <p:cNvSpPr/>
          <p:nvPr/>
        </p:nvSpPr>
        <p:spPr>
          <a:xfrm>
            <a:off x="8633705" y="2660904"/>
            <a:ext cx="2835614" cy="96926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Gate, yard and berth for container, bulk and ro-ro</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Crane moves per hour and berth productivity</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Equipment and gang deployment</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TOS interoperability rather than replacement</a:t>
            </a:r>
            <a:endParaRPr lang="en-US" sz="900" dirty="0"/>
          </a:p>
        </p:txBody>
      </p:sp>
      <p:sp>
        <p:nvSpPr>
          <p:cNvPr id="15" name="Shape 13"/>
          <p:cNvSpPr/>
          <p:nvPr/>
        </p:nvSpPr>
        <p:spPr>
          <a:xfrm>
            <a:off x="4865404" y="3931920"/>
            <a:ext cx="3274526" cy="1645920"/>
          </a:xfrm>
          <a:prstGeom prst="roundRect">
            <a:avLst>
              <a:gd name="adj" fmla="val 3333"/>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6" name="Text 14"/>
          <p:cNvSpPr/>
          <p:nvPr/>
        </p:nvSpPr>
        <p:spPr>
          <a:xfrm>
            <a:off x="5084860" y="4133088"/>
            <a:ext cx="2835614" cy="310896"/>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Revenue</a:t>
            </a:r>
            <a:endParaRPr lang="en-US" sz="1500" dirty="0"/>
          </a:p>
        </p:txBody>
      </p:sp>
      <p:sp>
        <p:nvSpPr>
          <p:cNvPr id="17" name="Text 15"/>
          <p:cNvSpPr/>
          <p:nvPr/>
        </p:nvSpPr>
        <p:spPr>
          <a:xfrm>
            <a:off x="5084860" y="4443984"/>
            <a:ext cx="2835614" cy="96926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Configurable tariff engine — dues, berth hire, pilotage, tug, waste</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Automatic assessment from the call record</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Invoicing, payment gateway, dispute handling</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Concession and lease revenue tracking</a:t>
            </a:r>
            <a:endParaRPr lang="en-US" sz="900" dirty="0"/>
          </a:p>
        </p:txBody>
      </p:sp>
      <p:sp>
        <p:nvSpPr>
          <p:cNvPr id="18" name="Shape 16"/>
          <p:cNvSpPr/>
          <p:nvPr/>
        </p:nvSpPr>
        <p:spPr>
          <a:xfrm>
            <a:off x="8414249" y="3931920"/>
            <a:ext cx="3274526" cy="1645920"/>
          </a:xfrm>
          <a:prstGeom prst="roundRect">
            <a:avLst>
              <a:gd name="adj" fmla="val 3333"/>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9" name="Text 17"/>
          <p:cNvSpPr/>
          <p:nvPr/>
        </p:nvSpPr>
        <p:spPr>
          <a:xfrm>
            <a:off x="8633705" y="4133088"/>
            <a:ext cx="2835614" cy="310896"/>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Safety &amp; performance</a:t>
            </a:r>
            <a:endParaRPr lang="en-US" sz="1500" dirty="0"/>
          </a:p>
        </p:txBody>
      </p:sp>
      <p:sp>
        <p:nvSpPr>
          <p:cNvPr id="20" name="Text 18"/>
          <p:cNvSpPr/>
          <p:nvPr/>
        </p:nvSpPr>
        <p:spPr>
          <a:xfrm>
            <a:off x="8633705" y="4443984"/>
            <a:ext cx="2835614" cy="96926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IMDG dangerous-goods declaration and approval</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Under-keel clearance and tidal window checks</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Port performance on the UNCTAD/World Bank basis</a:t>
            </a:r>
            <a:endParaRPr lang="en-US" sz="900" dirty="0"/>
          </a:p>
          <a:p>
            <a:pPr marL="342900" indent="-342900">
              <a:lnSpc>
                <a:spcPct val="108000"/>
              </a:lnSpc>
              <a:spcAft>
                <a:spcPts val="500"/>
              </a:spcAft>
              <a:buSzPct val="100000"/>
              <a:buChar char="•"/>
            </a:pPr>
            <a:r>
              <a:rPr lang="en-US" sz="900" dirty="0">
                <a:solidFill>
                  <a:srgbClr val="3E5561"/>
                </a:solidFill>
                <a:latin typeface="Calibri" pitchFamily="34" charset="0"/>
                <a:ea typeface="Calibri" pitchFamily="34" charset="-122"/>
                <a:cs typeface="Calibri" pitchFamily="34" charset="-120"/>
              </a:rPr>
              <a:t>Waiting time, turnaround and dwell measured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DOMAIN 07 — MARITIME FACILITIES &amp; COMPANIES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Licensing is one engine, not fourteen forms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Every licence type differs in its eligibility test, documents and inspection — and is identical in its lifecycle. One configurable lifecycle is the difference between adding a licence type in a fortnight and adding one in a release.</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6935230" cy="914400"/>
        </p:xfrm>
        <a:graphic>
          <a:graphicData uri="http://schemas.openxmlformats.org/drawingml/2006/table">
            <a:tbl>
              <a:tblPr/>
              <a:tblGrid>
                <a:gridCol w="2286000"/>
                <a:gridCol w="3749040"/>
                <a:gridCol w="1234440"/>
              </a:tblGrid>
              <a:tr h="301752">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Licensed entity</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Regulated because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Renewal*</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Shipping agencies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Act for the owner in port-call and clearance submissions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Annual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 management companies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Hold the Document of Compliance; ISM-accountable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Annual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Manning agencies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MLC 2006 recruitment and placement obligations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Annual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Bunker suppliers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MARPOL Annex VI fuel quality and delivery notes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Annual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 repair yards &amp; dry docks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Hot work, safety case, hazardous waste, recycling</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2 years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Marinas &amp; jetties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Facility safety, berth capacity, small-craft registry linkage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2 years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Marine surveyors &amp; consultants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Issue reports the administration relies 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2 years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Recognised Organisations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Exercise delegated statutory authority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By agreement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Training institutes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Deliver STCW-approved courses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3 years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ISPS port facilities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Statement of Compliance against approved security plan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5 years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bl>
          </a:graphicData>
        </a:graphic>
      </p:graphicFrame>
      <p:sp>
        <p:nvSpPr>
          <p:cNvPr id="6" name="Shape 3"/>
          <p:cNvSpPr/>
          <p:nvPr/>
        </p:nvSpPr>
        <p:spPr>
          <a:xfrm>
            <a:off x="7773726" y="2148840"/>
            <a:ext cx="3915049" cy="2880360"/>
          </a:xfrm>
          <a:prstGeom prst="roundRect">
            <a:avLst>
              <a:gd name="adj" fmla="val 1905"/>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993182" y="2350008"/>
            <a:ext cx="3476137" cy="54864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One lifecycle, configured per type</a:t>
            </a:r>
            <a:endParaRPr lang="en-US" sz="1500" dirty="0"/>
          </a:p>
        </p:txBody>
      </p:sp>
      <p:sp>
        <p:nvSpPr>
          <p:cNvPr id="8" name="Text 5"/>
          <p:cNvSpPr/>
          <p:nvPr/>
        </p:nvSpPr>
        <p:spPr>
          <a:xfrm>
            <a:off x="7993182" y="2898648"/>
            <a:ext cx="3476137" cy="196596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Apply — document set per licence type, not hard-coded</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Screen — completeness and eligibility against the licence matrix</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Evaluate — technical assessment routed by competency</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Inspect — into the same field app as Domain 05</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Issue — licence with conditions, scope and validity</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Supervise — periodic audit, complaints, performance rating</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Enforce — warning, condition, suspension, revocation, penalty</a:t>
            </a:r>
            <a:endParaRPr lang="en-US" sz="1000" dirty="0"/>
          </a:p>
        </p:txBody>
      </p:sp>
      <p:sp>
        <p:nvSpPr>
          <p:cNvPr id="9" name="Text 6"/>
          <p:cNvSpPr/>
          <p:nvPr/>
        </p:nvSpPr>
        <p:spPr>
          <a:xfrm>
            <a:off x="7773726" y="5166360"/>
            <a:ext cx="3915049" cy="100584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The compounding effect. A licensed company’s audit history feeds the ship risk profile of every vessel it manages. A poor manager makes its fleet a targeting priority automatically — which is what a risk-based administration is supposed to do, and what separate departmental systems cannot do at all.</a:t>
            </a:r>
            <a:endParaRPr lang="en-US" sz="1050" dirty="0"/>
          </a:p>
        </p:txBody>
      </p:sp>
      <p:sp>
        <p:nvSpPr>
          <p:cNvPr id="10" name="Text 7"/>
          <p:cNvSpPr/>
          <p:nvPr/>
        </p:nvSpPr>
        <p:spPr>
          <a:xfrm>
            <a:off x="502920" y="5806440"/>
            <a:ext cx="6935230" cy="228600"/>
          </a:xfrm>
          <a:prstGeom prst="rect">
            <a:avLst/>
          </a:prstGeom>
          <a:noFill/>
          <a:ln/>
        </p:spPr>
        <p:txBody>
          <a:bodyPr wrap="square" lIns="0" tIns="0" rIns="0" bIns="0" rtlCol="0" anchor="ctr"/>
          <a:lstStyle/>
          <a:p>
            <a:pPr indent="0" marL="0">
              <a:buNone/>
            </a:pPr>
            <a:r>
              <a:rPr lang="en-US" sz="950" dirty="0">
                <a:solidFill>
                  <a:srgbClr val="A33229"/>
                </a:solidFill>
                <a:latin typeface="Calibri" pitchFamily="34" charset="0"/>
                <a:ea typeface="Calibri" pitchFamily="34" charset="-122"/>
                <a:cs typeface="Calibri" pitchFamily="34" charset="-120"/>
              </a:rPr>
              <a:t>* Illustrative defaults — replace with the client’s actual renewal periods before issue.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CROSS-CUTTING SPINES</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Compliance, risk and vessel tracking</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Targeting only works if the score is explainable, and position data is only useful once it is joined to everything else the administration knows.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5816645" cy="914400"/>
        </p:xfrm>
        <a:graphic>
          <a:graphicData uri="http://schemas.openxmlformats.org/drawingml/2006/table">
            <a:tbl>
              <a:tblPr/>
              <a:tblGrid>
                <a:gridCol w="2103120"/>
                <a:gridCol w="3017520"/>
                <a:gridCol w="1216152"/>
              </a:tblGrid>
              <a:tr h="301752">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Risk factor</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Source of truth</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Weight</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Detention history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PSC records, own and MoU-exchanged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Deficiency density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Deficiencies per inspection, last 36 months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Company performance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DoC holder’s fleet record — Domain 07</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RO performance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Detention rate on the society’s certificates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 age &amp; type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Registry — Domain 01</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Certificate status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Live matrix, overdue survey windows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Casualty involvement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Casualty and incident file — Domain 04</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Behavioural anomaly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AIS gaps, spoofing, STS patterns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Advisory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01752">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Sanctions exposure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Ownership chain vs UN, OFAC, EU lists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Override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Shape 3"/>
          <p:cNvSpPr/>
          <p:nvPr/>
        </p:nvSpPr>
        <p:spPr>
          <a:xfrm>
            <a:off x="6655140" y="2103120"/>
            <a:ext cx="5033635" cy="1828800"/>
          </a:xfrm>
          <a:prstGeom prst="roundRect">
            <a:avLst>
              <a:gd name="adj" fmla="val 30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6874596" y="2304288"/>
            <a:ext cx="4594723" cy="32918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Non-negotiable properties of the score</a:t>
            </a:r>
            <a:endParaRPr lang="en-US" sz="1500" dirty="0"/>
          </a:p>
        </p:txBody>
      </p:sp>
      <p:sp>
        <p:nvSpPr>
          <p:cNvPr id="8" name="Text 5"/>
          <p:cNvSpPr/>
          <p:nvPr/>
        </p:nvSpPr>
        <p:spPr>
          <a:xfrm>
            <a:off x="6874596" y="2633472"/>
            <a:ext cx="4594723" cy="1133856"/>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Explainable — every score opens to its factor breakdown and the underlying record</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Versioned — a weighting change is an event with an author and a date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Simulated before adopted — replay 12 months of arrivals before it goes live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Advisory where it must be — behavioural signals never alone produce a detention</a:t>
            </a:r>
            <a:endParaRPr lang="en-US" sz="1000" dirty="0"/>
          </a:p>
        </p:txBody>
      </p:sp>
      <p:sp>
        <p:nvSpPr>
          <p:cNvPr id="9" name="Shape 6"/>
          <p:cNvSpPr/>
          <p:nvPr/>
        </p:nvSpPr>
        <p:spPr>
          <a:xfrm>
            <a:off x="6655140" y="4041648"/>
            <a:ext cx="5033635" cy="1645920"/>
          </a:xfrm>
          <a:prstGeom prst="roundRect">
            <a:avLst>
              <a:gd name="adj" fmla="val 3333"/>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7"/>
          <p:cNvSpPr/>
          <p:nvPr/>
        </p:nvSpPr>
        <p:spPr>
          <a:xfrm>
            <a:off x="6874596" y="4242816"/>
            <a:ext cx="4594723" cy="32918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Tracking is only useful once joined</a:t>
            </a:r>
            <a:endParaRPr lang="en-US" sz="1500" dirty="0"/>
          </a:p>
        </p:txBody>
      </p:sp>
      <p:sp>
        <p:nvSpPr>
          <p:cNvPr id="11" name="Text 8"/>
          <p:cNvSpPr/>
          <p:nvPr/>
        </p:nvSpPr>
        <p:spPr>
          <a:xfrm>
            <a:off x="6874596" y="4572000"/>
            <a:ext cx="4594723" cy="109728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Every administration can display AIS. The value is the join: this track belongs to a ship whose ISM certificate lapses in eleven days, managed by a company under audit, carrying two unverified endorsements — and it is inbound to your anchorage.</a:t>
            </a:r>
            <a:endParaRPr lang="en-US" sz="1000" dirty="0"/>
          </a:p>
          <a:p>
            <a:pPr indent="0" marL="0">
              <a:lnSpc>
                <a:spcPct val="114000"/>
              </a:lnSpc>
              <a:buNone/>
            </a:pPr>
            <a:endParaRPr lang="en-US" sz="1000" dirty="0"/>
          </a:p>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Fused: terrestrial and satellite AIS, LRIT, VMS, radar and VTS.  Derived: AIS gaps, spoofing, ship-to-ship transfer, voyage deviation.</a:t>
            </a:r>
            <a:endParaRPr lang="en-US" sz="1000" dirty="0"/>
          </a:p>
        </p:txBody>
      </p:sp>
      <p:sp>
        <p:nvSpPr>
          <p:cNvPr id="12" name="Text 9"/>
          <p:cNvSpPr/>
          <p:nvPr/>
        </p:nvSpPr>
        <p:spPr>
          <a:xfrm>
            <a:off x="502920" y="5806440"/>
            <a:ext cx="11185855" cy="54864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An honest limit. AIS is self-reported and can be switched off or falsified; satellite AIS has revisit gaps; SAR tasking costs money per scene. We design for corroboration across sources and surface confidence on every derived signal. An administration that acts on a single unverified source will eventually board the wrong ship.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THE CUSTOMISATION MODEL</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What “already built” honestly means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Every vendor says their platform is configurable. The question worth asking is which specific things change without code — because that determines whether your second year is spent adding services or raising change requests.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85855" cy="914400"/>
        </p:xfrm>
        <a:graphic>
          <a:graphicData uri="http://schemas.openxmlformats.org/drawingml/2006/table">
            <a:tbl>
              <a:tblPr/>
              <a:tblGrid>
                <a:gridCol w="1051560"/>
                <a:gridCol w="2743200"/>
                <a:gridCol w="6080760"/>
                <a:gridCol w="1307592"/>
              </a:tblGrid>
              <a:tr h="777240">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Definition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Examples in this platform</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Lead time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777240">
                <a:tc>
                  <a:txBody>
                    <a:bodyPr/>
                    <a:lstStyle/>
                    <a:p>
                      <a:pPr indent="0" marL="0">
                        <a:buNone/>
                      </a:pPr>
                      <a:r>
                        <a:rPr lang="en-US" sz="1000" b="1" dirty="0">
                          <a:solidFill>
                            <a:srgbClr val="2C6E5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Exists and runs today. Your work is data migration and acceptance.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Registry lifecycle, certificate matrix, licensing engine, inspection and audit workflow, case management, documents, RBAC, audit ledger, notifications, reporting</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777240">
                <a:tc>
                  <a:txBody>
                    <a:bodyPr/>
                    <a:lstStyle/>
                    <a:p>
                      <a:pPr indent="0" marL="0">
                        <a:buNone/>
                      </a:pPr>
                      <a:r>
                        <a:rPr lang="en-US" sz="1000" b="1" dirty="0">
                          <a:solidFill>
                            <a:srgbClr val="0E7C86"/>
                          </a:solidFill>
                          <a:latin typeface="Calibri" pitchFamily="34" charset="0"/>
                          <a:ea typeface="Calibri" pitchFamily="34" charset="-122"/>
                          <a:cs typeface="Calibri" pitchFamily="34" charset="-120"/>
                        </a:rPr>
                        <a:t>Configure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Changed by an administrator through the console. No release, no developer.</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Service catalogue and forms, workflow stages and routing, fee and tariff tables, checklist libraries, licence types and conditions, risk weights, roles and delegations, bilingual labels, SLA clocks, dashboards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Hours–days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777240">
                <a:tc>
                  <a:txBody>
                    <a:bodyPr/>
                    <a:lstStyle/>
                    <a:p>
                      <a:pPr indent="0" marL="0">
                        <a:buNone/>
                      </a:pPr>
                      <a:r>
                        <a:rPr lang="en-US" sz="1000" b="1" dirty="0">
                          <a:solidFill>
                            <a:srgbClr val="A96F12"/>
                          </a:solidFill>
                          <a:latin typeface="Calibri" pitchFamily="34" charset="0"/>
                          <a:ea typeface="Calibri" pitchFamily="34" charset="-122"/>
                          <a:cs typeface="Calibri" pitchFamily="34" charset="-120"/>
                        </a:rPr>
                        <a:t>Extend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Built on documented extension points — APIs, connectors, rule modules — without forking the core.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Agency clearance rules, terminal system connectors, national identity SSO, payment gateway, e-signature, GIS layers, sensor feeds, external registry lookups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Weeks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777240">
                <a:tc>
                  <a:txBody>
                    <a:bodyPr/>
                    <a:lstStyle/>
                    <a:p>
                      <a:pPr indent="0" marL="0">
                        <a:buNone/>
                      </a:pPr>
                      <a:r>
                        <a:rPr lang="en-US" sz="1000" b="1" dirty="0">
                          <a:solidFill>
                            <a:srgbClr val="A33229"/>
                          </a:solidFill>
                          <a:latin typeface="Calibri" pitchFamily="34" charset="0"/>
                          <a:ea typeface="Calibri" pitchFamily="34" charset="-122"/>
                          <a:cs typeface="Calibri" pitchFamily="34" charset="-120"/>
                        </a:rPr>
                        <a:t>Build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Genuinely new. Estimated, scheduled and priced like new development, because it is.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Anything specific to your legal framework with no analogue in the core; bespoke terminal automation; novel inter-agency protocols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Sprint-scoped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bl>
          </a:graphicData>
        </a:graphic>
      </p:graphicFrame>
      <p:sp>
        <p:nvSpPr>
          <p:cNvPr id="6" name="Text 3"/>
          <p:cNvSpPr/>
          <p:nvPr/>
        </p:nvSpPr>
        <p:spPr>
          <a:xfrm>
            <a:off x="502920" y="5532120"/>
            <a:ext cx="11185855" cy="731520"/>
          </a:xfrm>
          <a:prstGeom prst="rect">
            <a:avLst/>
          </a:prstGeom>
          <a:noFill/>
          <a:ln/>
        </p:spPr>
        <p:txBody>
          <a:bodyPr wrap="square" lIns="0" tIns="0" rIns="0" bIns="0" rtlCol="0" anchor="ctr"/>
          <a:lstStyle/>
          <a:p>
            <a:pPr indent="0" marL="0">
              <a:lnSpc>
                <a:spcPct val="114000"/>
              </a:lnSpc>
              <a:buNone/>
            </a:pPr>
            <a:r>
              <a:rPr lang="en-US" sz="1100" i="1" dirty="0">
                <a:solidFill>
                  <a:srgbClr val="3E5561"/>
                </a:solidFill>
                <a:latin typeface="Calibri" pitchFamily="34" charset="0"/>
                <a:ea typeface="Calibri" pitchFamily="34" charset="-122"/>
                <a:cs typeface="Calibri" pitchFamily="34" charset="-120"/>
              </a:rPr>
              <a:t>Why this table is in the deck at all. A vendor who marks everything Core is either not reading your requirement or is planning to argue about it later. We would rather have the argument now, on a slide, than in month seven of delivery — so in week one we walk your actual service catalogue and mark every service against these four tiers. That marked catalogue, not this slide, is the real answer to “does it already do this”.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REFERENCE ARCHITECTURE</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Agents above, services below, one governed layer between</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The critical structural decision: agents hold no privileged data path. They call the same governed APIs the officer’s screen calls, through the same authorisation, into the same audit ledger.</a:t>
            </a:r>
            <a:endParaRPr lang="en-US" sz="1250" dirty="0"/>
          </a:p>
        </p:txBody>
      </p:sp>
      <p:sp>
        <p:nvSpPr>
          <p:cNvPr id="5" name="Text 3"/>
          <p:cNvSpPr/>
          <p:nvPr/>
        </p:nvSpPr>
        <p:spPr>
          <a:xfrm>
            <a:off x="502920" y="1938528"/>
            <a:ext cx="3108960" cy="201168"/>
          </a:xfrm>
          <a:prstGeom prst="rect">
            <a:avLst/>
          </a:prstGeom>
          <a:noFill/>
          <a:ln/>
        </p:spPr>
        <p:txBody>
          <a:bodyPr wrap="square" lIns="0" tIns="0" rIns="0" bIns="0" rtlCol="0" anchor="ctr"/>
          <a:lstStyle/>
          <a:p>
            <a:pPr indent="0" marL="0">
              <a:buNone/>
            </a:pPr>
            <a:r>
              <a:rPr lang="en-US" sz="800" b="1" spc="150" kern="0" dirty="0">
                <a:solidFill>
                  <a:srgbClr val="6B838E"/>
                </a:solidFill>
                <a:latin typeface="Calibri" pitchFamily="34" charset="0"/>
                <a:ea typeface="Calibri" pitchFamily="34" charset="-122"/>
                <a:cs typeface="Calibri" pitchFamily="34" charset="-120"/>
              </a:rPr>
              <a:t>CHANNELS</a:t>
            </a:r>
            <a:endParaRPr lang="en-US" sz="800" dirty="0"/>
          </a:p>
        </p:txBody>
      </p:sp>
      <p:sp>
        <p:nvSpPr>
          <p:cNvPr id="6" name="Shape 4"/>
          <p:cNvSpPr/>
          <p:nvPr/>
        </p:nvSpPr>
        <p:spPr>
          <a:xfrm>
            <a:off x="502920" y="2139696"/>
            <a:ext cx="1772869" cy="384048"/>
          </a:xfrm>
          <a:prstGeom prst="roundRect">
            <a:avLst>
              <a:gd name="adj" fmla="val 11905"/>
            </a:avLst>
          </a:prstGeom>
          <a:solidFill>
            <a:srgbClr val="FFFFFF"/>
          </a:solidFill>
          <a:ln w="12700">
            <a:solidFill>
              <a:srgbClr val="E4EAE9"/>
            </a:solidFill>
            <a:prstDash val="solid"/>
          </a:ln>
        </p:spPr>
      </p:sp>
      <p:sp>
        <p:nvSpPr>
          <p:cNvPr id="7" name="Text 5"/>
          <p:cNvSpPr/>
          <p:nvPr/>
        </p:nvSpPr>
        <p:spPr>
          <a:xfrm>
            <a:off x="502920"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Public portal</a:t>
            </a:r>
            <a:endParaRPr lang="en-US" sz="950" dirty="0"/>
          </a:p>
          <a:p>
            <a:pPr algn="ctr" indent="0" marL="0">
              <a:buNone/>
            </a:pPr>
            <a:r>
              <a:rPr lang="en-US" sz="950" dirty="0">
                <a:solidFill>
                  <a:srgbClr val="0B1F2A"/>
                </a:solidFill>
                <a:latin typeface="Calibri" pitchFamily="34" charset="0"/>
                <a:ea typeface="Calibri" pitchFamily="34" charset="-122"/>
                <a:cs typeface="Calibri" pitchFamily="34" charset="-120"/>
              </a:rPr>
              <a:t>AR / EN, RTL</a:t>
            </a:r>
            <a:endParaRPr lang="en-US" sz="950" dirty="0"/>
          </a:p>
        </p:txBody>
      </p:sp>
      <p:sp>
        <p:nvSpPr>
          <p:cNvPr id="8" name="Shape 6"/>
          <p:cNvSpPr/>
          <p:nvPr/>
        </p:nvSpPr>
        <p:spPr>
          <a:xfrm>
            <a:off x="2385517" y="2139696"/>
            <a:ext cx="1772869" cy="384048"/>
          </a:xfrm>
          <a:prstGeom prst="roundRect">
            <a:avLst>
              <a:gd name="adj" fmla="val 11905"/>
            </a:avLst>
          </a:prstGeom>
          <a:solidFill>
            <a:srgbClr val="FFFFFF"/>
          </a:solidFill>
          <a:ln w="12700">
            <a:solidFill>
              <a:srgbClr val="E4EAE9"/>
            </a:solidFill>
            <a:prstDash val="solid"/>
          </a:ln>
        </p:spPr>
      </p:sp>
      <p:sp>
        <p:nvSpPr>
          <p:cNvPr id="9" name="Text 7"/>
          <p:cNvSpPr/>
          <p:nvPr/>
        </p:nvSpPr>
        <p:spPr>
          <a:xfrm>
            <a:off x="2385517"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Officer workspace</a:t>
            </a:r>
            <a:endParaRPr lang="en-US" sz="950" dirty="0"/>
          </a:p>
        </p:txBody>
      </p:sp>
      <p:sp>
        <p:nvSpPr>
          <p:cNvPr id="10" name="Shape 8"/>
          <p:cNvSpPr/>
          <p:nvPr/>
        </p:nvSpPr>
        <p:spPr>
          <a:xfrm>
            <a:off x="4268114" y="2139696"/>
            <a:ext cx="1772869" cy="384048"/>
          </a:xfrm>
          <a:prstGeom prst="roundRect">
            <a:avLst>
              <a:gd name="adj" fmla="val 11905"/>
            </a:avLst>
          </a:prstGeom>
          <a:solidFill>
            <a:srgbClr val="FFFFFF"/>
          </a:solidFill>
          <a:ln w="12700">
            <a:solidFill>
              <a:srgbClr val="E4EAE9"/>
            </a:solidFill>
            <a:prstDash val="solid"/>
          </a:ln>
        </p:spPr>
      </p:sp>
      <p:sp>
        <p:nvSpPr>
          <p:cNvPr id="11" name="Text 9"/>
          <p:cNvSpPr/>
          <p:nvPr/>
        </p:nvSpPr>
        <p:spPr>
          <a:xfrm>
            <a:off x="4268114"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Inspector mobile</a:t>
            </a:r>
            <a:endParaRPr lang="en-US" sz="950" dirty="0"/>
          </a:p>
          <a:p>
            <a:pPr algn="ctr" indent="0" marL="0">
              <a:buNone/>
            </a:pPr>
            <a:r>
              <a:rPr lang="en-US" sz="950" dirty="0">
                <a:solidFill>
                  <a:srgbClr val="0B1F2A"/>
                </a:solidFill>
                <a:latin typeface="Calibri" pitchFamily="34" charset="0"/>
                <a:ea typeface="Calibri" pitchFamily="34" charset="-122"/>
                <a:cs typeface="Calibri" pitchFamily="34" charset="-120"/>
              </a:rPr>
              <a:t>offline-first</a:t>
            </a:r>
            <a:endParaRPr lang="en-US" sz="950" dirty="0"/>
          </a:p>
        </p:txBody>
      </p:sp>
      <p:sp>
        <p:nvSpPr>
          <p:cNvPr id="12" name="Shape 10"/>
          <p:cNvSpPr/>
          <p:nvPr/>
        </p:nvSpPr>
        <p:spPr>
          <a:xfrm>
            <a:off x="6150712" y="2139696"/>
            <a:ext cx="1772869" cy="384048"/>
          </a:xfrm>
          <a:prstGeom prst="roundRect">
            <a:avLst>
              <a:gd name="adj" fmla="val 11905"/>
            </a:avLst>
          </a:prstGeom>
          <a:solidFill>
            <a:srgbClr val="FFFFFF"/>
          </a:solidFill>
          <a:ln w="12700">
            <a:solidFill>
              <a:srgbClr val="E4EAE9"/>
            </a:solidFill>
            <a:prstDash val="solid"/>
          </a:ln>
        </p:spPr>
      </p:sp>
      <p:sp>
        <p:nvSpPr>
          <p:cNvPr id="13" name="Text 11"/>
          <p:cNvSpPr/>
          <p:nvPr/>
        </p:nvSpPr>
        <p:spPr>
          <a:xfrm>
            <a:off x="6150712"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NMC operations</a:t>
            </a:r>
            <a:endParaRPr lang="en-US" sz="950" dirty="0"/>
          </a:p>
        </p:txBody>
      </p:sp>
      <p:sp>
        <p:nvSpPr>
          <p:cNvPr id="14" name="Shape 12"/>
          <p:cNvSpPr/>
          <p:nvPr/>
        </p:nvSpPr>
        <p:spPr>
          <a:xfrm>
            <a:off x="8033309" y="2139696"/>
            <a:ext cx="1772869" cy="384048"/>
          </a:xfrm>
          <a:prstGeom prst="roundRect">
            <a:avLst>
              <a:gd name="adj" fmla="val 11905"/>
            </a:avLst>
          </a:prstGeom>
          <a:solidFill>
            <a:srgbClr val="FFFFFF"/>
          </a:solidFill>
          <a:ln w="12700">
            <a:solidFill>
              <a:srgbClr val="E4EAE9"/>
            </a:solidFill>
            <a:prstDash val="solid"/>
          </a:ln>
        </p:spPr>
      </p:sp>
      <p:sp>
        <p:nvSpPr>
          <p:cNvPr id="15" name="Text 13"/>
          <p:cNvSpPr/>
          <p:nvPr/>
        </p:nvSpPr>
        <p:spPr>
          <a:xfrm>
            <a:off x="8033309"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Agent / line API</a:t>
            </a:r>
            <a:endParaRPr lang="en-US" sz="950" dirty="0"/>
          </a:p>
        </p:txBody>
      </p:sp>
      <p:sp>
        <p:nvSpPr>
          <p:cNvPr id="16" name="Shape 14"/>
          <p:cNvSpPr/>
          <p:nvPr/>
        </p:nvSpPr>
        <p:spPr>
          <a:xfrm>
            <a:off x="9915906" y="2139696"/>
            <a:ext cx="1772869" cy="384048"/>
          </a:xfrm>
          <a:prstGeom prst="roundRect">
            <a:avLst>
              <a:gd name="adj" fmla="val 11905"/>
            </a:avLst>
          </a:prstGeom>
          <a:solidFill>
            <a:srgbClr val="FFFFFF"/>
          </a:solidFill>
          <a:ln w="12700">
            <a:solidFill>
              <a:srgbClr val="E4EAE9"/>
            </a:solidFill>
            <a:prstDash val="solid"/>
          </a:ln>
        </p:spPr>
      </p:sp>
      <p:sp>
        <p:nvSpPr>
          <p:cNvPr id="17" name="Text 15"/>
          <p:cNvSpPr/>
          <p:nvPr/>
        </p:nvSpPr>
        <p:spPr>
          <a:xfrm>
            <a:off x="9915906" y="2139696"/>
            <a:ext cx="1772869" cy="38404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Assistant</a:t>
            </a:r>
            <a:endParaRPr lang="en-US" sz="950" dirty="0"/>
          </a:p>
          <a:p>
            <a:pPr algn="ctr" indent="0" marL="0">
              <a:buNone/>
            </a:pPr>
            <a:r>
              <a:rPr lang="en-US" sz="950" dirty="0">
                <a:solidFill>
                  <a:srgbClr val="0B1F2A"/>
                </a:solidFill>
                <a:latin typeface="Calibri" pitchFamily="34" charset="0"/>
                <a:ea typeface="Calibri" pitchFamily="34" charset="-122"/>
                <a:cs typeface="Calibri" pitchFamily="34" charset="-120"/>
              </a:rPr>
              <a:t>bilingual</a:t>
            </a:r>
            <a:endParaRPr lang="en-US" sz="950" dirty="0"/>
          </a:p>
        </p:txBody>
      </p:sp>
      <p:sp>
        <p:nvSpPr>
          <p:cNvPr id="18" name="Text 16"/>
          <p:cNvSpPr/>
          <p:nvPr/>
        </p:nvSpPr>
        <p:spPr>
          <a:xfrm>
            <a:off x="502920" y="2633472"/>
            <a:ext cx="3108960" cy="201168"/>
          </a:xfrm>
          <a:prstGeom prst="rect">
            <a:avLst/>
          </a:prstGeom>
          <a:noFill/>
          <a:ln/>
        </p:spPr>
        <p:txBody>
          <a:bodyPr wrap="square" lIns="0" tIns="0" rIns="0" bIns="0" rtlCol="0" anchor="ctr"/>
          <a:lstStyle/>
          <a:p>
            <a:pPr indent="0" marL="0">
              <a:buNone/>
            </a:pPr>
            <a:r>
              <a:rPr lang="en-US" sz="800" b="1" spc="150" kern="0" dirty="0">
                <a:solidFill>
                  <a:srgbClr val="6B838E"/>
                </a:solidFill>
                <a:latin typeface="Calibri" pitchFamily="34" charset="0"/>
                <a:ea typeface="Calibri" pitchFamily="34" charset="-122"/>
                <a:cs typeface="Calibri" pitchFamily="34" charset="-120"/>
              </a:rPr>
              <a:t>EXPERIENCE</a:t>
            </a:r>
            <a:endParaRPr lang="en-US" sz="800" dirty="0"/>
          </a:p>
        </p:txBody>
      </p:sp>
      <p:sp>
        <p:nvSpPr>
          <p:cNvPr id="19" name="Shape 17"/>
          <p:cNvSpPr/>
          <p:nvPr/>
        </p:nvSpPr>
        <p:spPr>
          <a:xfrm>
            <a:off x="502920" y="2816352"/>
            <a:ext cx="11185855" cy="274320"/>
          </a:xfrm>
          <a:prstGeom prst="roundRect">
            <a:avLst>
              <a:gd name="adj" fmla="val 16667"/>
            </a:avLst>
          </a:prstGeom>
          <a:solidFill>
            <a:srgbClr val="ECF1F0"/>
          </a:solidFill>
          <a:ln w="12700">
            <a:solidFill>
              <a:srgbClr val="E4EAE9"/>
            </a:solidFill>
            <a:prstDash val="solid"/>
          </a:ln>
        </p:spPr>
      </p:sp>
      <p:sp>
        <p:nvSpPr>
          <p:cNvPr id="20" name="Text 18"/>
          <p:cNvSpPr/>
          <p:nvPr/>
        </p:nvSpPr>
        <p:spPr>
          <a:xfrm>
            <a:off x="502920" y="2816352"/>
            <a:ext cx="11185855" cy="274320"/>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API gateway  ·  session &amp; consent  ·  rate limiting  ·  bilingual rendering  ·  accessibility</a:t>
            </a:r>
            <a:endParaRPr lang="en-US" sz="950" dirty="0"/>
          </a:p>
        </p:txBody>
      </p:sp>
      <p:sp>
        <p:nvSpPr>
          <p:cNvPr id="21" name="Text 19"/>
          <p:cNvSpPr/>
          <p:nvPr/>
        </p:nvSpPr>
        <p:spPr>
          <a:xfrm>
            <a:off x="502920" y="3200400"/>
            <a:ext cx="3108960" cy="201168"/>
          </a:xfrm>
          <a:prstGeom prst="rect">
            <a:avLst/>
          </a:prstGeom>
          <a:noFill/>
          <a:ln/>
        </p:spPr>
        <p:txBody>
          <a:bodyPr wrap="square" lIns="0" tIns="0" rIns="0" bIns="0" rtlCol="0" anchor="ctr"/>
          <a:lstStyle/>
          <a:p>
            <a:pPr indent="0" marL="0">
              <a:buNone/>
            </a:pPr>
            <a:r>
              <a:rPr lang="en-US" sz="800" b="1" spc="150" kern="0" dirty="0">
                <a:solidFill>
                  <a:srgbClr val="6B838E"/>
                </a:solidFill>
                <a:latin typeface="Calibri" pitchFamily="34" charset="0"/>
                <a:ea typeface="Calibri" pitchFamily="34" charset="-122"/>
                <a:cs typeface="Calibri" pitchFamily="34" charset="-120"/>
              </a:rPr>
              <a:t>AGENTIC ORCHESTRATION LAYER</a:t>
            </a:r>
            <a:endParaRPr lang="en-US" sz="800" dirty="0"/>
          </a:p>
        </p:txBody>
      </p:sp>
      <p:sp>
        <p:nvSpPr>
          <p:cNvPr id="22" name="Shape 20"/>
          <p:cNvSpPr/>
          <p:nvPr/>
        </p:nvSpPr>
        <p:spPr>
          <a:xfrm>
            <a:off x="502920" y="3383280"/>
            <a:ext cx="11185855" cy="1060704"/>
          </a:xfrm>
          <a:prstGeom prst="roundRect">
            <a:avLst>
              <a:gd name="adj" fmla="val 5172"/>
            </a:avLst>
          </a:prstGeom>
          <a:solidFill>
            <a:srgbClr val="FBF3E4"/>
          </a:solidFill>
          <a:ln w="12700">
            <a:solidFill>
              <a:srgbClr val="E0CDA6"/>
            </a:solidFill>
            <a:prstDash val="solid"/>
          </a:ln>
        </p:spPr>
      </p:sp>
      <p:sp>
        <p:nvSpPr>
          <p:cNvPr id="23" name="Shape 21"/>
          <p:cNvSpPr/>
          <p:nvPr/>
        </p:nvSpPr>
        <p:spPr>
          <a:xfrm>
            <a:off x="612648" y="3493008"/>
            <a:ext cx="3503066" cy="402336"/>
          </a:xfrm>
          <a:prstGeom prst="roundRect">
            <a:avLst>
              <a:gd name="adj" fmla="val 9091"/>
            </a:avLst>
          </a:prstGeom>
          <a:solidFill>
            <a:srgbClr val="FFFFFF"/>
          </a:solidFill>
          <a:ln w="12700">
            <a:solidFill>
              <a:srgbClr val="E0CDA6"/>
            </a:solidFill>
            <a:prstDash val="solid"/>
          </a:ln>
        </p:spPr>
      </p:sp>
      <p:sp>
        <p:nvSpPr>
          <p:cNvPr id="24" name="Text 22"/>
          <p:cNvSpPr/>
          <p:nvPr/>
        </p:nvSpPr>
        <p:spPr>
          <a:xfrm>
            <a:off x="612648" y="35204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Planner / supervisor</a:t>
            </a:r>
            <a:endParaRPr lang="en-US" sz="950" dirty="0"/>
          </a:p>
        </p:txBody>
      </p:sp>
      <p:sp>
        <p:nvSpPr>
          <p:cNvPr id="25" name="Text 23"/>
          <p:cNvSpPr/>
          <p:nvPr/>
        </p:nvSpPr>
        <p:spPr>
          <a:xfrm>
            <a:off x="612648" y="36941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decomposes a request into a verifiable plan</a:t>
            </a:r>
            <a:endParaRPr lang="en-US" sz="800" dirty="0"/>
          </a:p>
        </p:txBody>
      </p:sp>
      <p:sp>
        <p:nvSpPr>
          <p:cNvPr id="26" name="Shape 24"/>
          <p:cNvSpPr/>
          <p:nvPr/>
        </p:nvSpPr>
        <p:spPr>
          <a:xfrm>
            <a:off x="4225442" y="3493008"/>
            <a:ext cx="3503066" cy="402336"/>
          </a:xfrm>
          <a:prstGeom prst="roundRect">
            <a:avLst>
              <a:gd name="adj" fmla="val 9091"/>
            </a:avLst>
          </a:prstGeom>
          <a:solidFill>
            <a:srgbClr val="FFFFFF"/>
          </a:solidFill>
          <a:ln w="12700">
            <a:solidFill>
              <a:srgbClr val="E0CDA6"/>
            </a:solidFill>
            <a:prstDash val="solid"/>
          </a:ln>
        </p:spPr>
      </p:sp>
      <p:sp>
        <p:nvSpPr>
          <p:cNvPr id="27" name="Text 25"/>
          <p:cNvSpPr/>
          <p:nvPr/>
        </p:nvSpPr>
        <p:spPr>
          <a:xfrm>
            <a:off x="4225442" y="35204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Specialist mesh — 10 agents</a:t>
            </a:r>
            <a:endParaRPr lang="en-US" sz="950" dirty="0"/>
          </a:p>
        </p:txBody>
      </p:sp>
      <p:sp>
        <p:nvSpPr>
          <p:cNvPr id="28" name="Text 26"/>
          <p:cNvSpPr/>
          <p:nvPr/>
        </p:nvSpPr>
        <p:spPr>
          <a:xfrm>
            <a:off x="4225442" y="36941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scoped tools, scoped data, scoped authority</a:t>
            </a:r>
            <a:endParaRPr lang="en-US" sz="800" dirty="0"/>
          </a:p>
        </p:txBody>
      </p:sp>
      <p:sp>
        <p:nvSpPr>
          <p:cNvPr id="29" name="Shape 27"/>
          <p:cNvSpPr/>
          <p:nvPr/>
        </p:nvSpPr>
        <p:spPr>
          <a:xfrm>
            <a:off x="7838237" y="3493008"/>
            <a:ext cx="3503066" cy="402336"/>
          </a:xfrm>
          <a:prstGeom prst="roundRect">
            <a:avLst>
              <a:gd name="adj" fmla="val 9091"/>
            </a:avLst>
          </a:prstGeom>
          <a:solidFill>
            <a:srgbClr val="FFFFFF"/>
          </a:solidFill>
          <a:ln w="12700">
            <a:solidFill>
              <a:srgbClr val="E0CDA6"/>
            </a:solidFill>
            <a:prstDash val="solid"/>
          </a:ln>
        </p:spPr>
      </p:sp>
      <p:sp>
        <p:nvSpPr>
          <p:cNvPr id="30" name="Text 28"/>
          <p:cNvSpPr/>
          <p:nvPr/>
        </p:nvSpPr>
        <p:spPr>
          <a:xfrm>
            <a:off x="7838237" y="35204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Verifier / critic</a:t>
            </a:r>
            <a:endParaRPr lang="en-US" sz="950" dirty="0"/>
          </a:p>
        </p:txBody>
      </p:sp>
      <p:sp>
        <p:nvSpPr>
          <p:cNvPr id="31" name="Text 29"/>
          <p:cNvSpPr/>
          <p:nvPr/>
        </p:nvSpPr>
        <p:spPr>
          <a:xfrm>
            <a:off x="7838237" y="36941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adversarial check before a human sees it</a:t>
            </a:r>
            <a:endParaRPr lang="en-US" sz="800" dirty="0"/>
          </a:p>
        </p:txBody>
      </p:sp>
      <p:sp>
        <p:nvSpPr>
          <p:cNvPr id="32" name="Shape 30"/>
          <p:cNvSpPr/>
          <p:nvPr/>
        </p:nvSpPr>
        <p:spPr>
          <a:xfrm>
            <a:off x="612648" y="3950208"/>
            <a:ext cx="3503066" cy="402336"/>
          </a:xfrm>
          <a:prstGeom prst="roundRect">
            <a:avLst>
              <a:gd name="adj" fmla="val 9091"/>
            </a:avLst>
          </a:prstGeom>
          <a:solidFill>
            <a:srgbClr val="FFFFFF"/>
          </a:solidFill>
          <a:ln w="12700">
            <a:solidFill>
              <a:srgbClr val="E0CDA6"/>
            </a:solidFill>
            <a:prstDash val="solid"/>
          </a:ln>
        </p:spPr>
      </p:sp>
      <p:sp>
        <p:nvSpPr>
          <p:cNvPr id="33" name="Text 31"/>
          <p:cNvSpPr/>
          <p:nvPr/>
        </p:nvSpPr>
        <p:spPr>
          <a:xfrm>
            <a:off x="612648" y="39776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Tool gateway</a:t>
            </a:r>
            <a:endParaRPr lang="en-US" sz="950" dirty="0"/>
          </a:p>
        </p:txBody>
      </p:sp>
      <p:sp>
        <p:nvSpPr>
          <p:cNvPr id="34" name="Text 32"/>
          <p:cNvSpPr/>
          <p:nvPr/>
        </p:nvSpPr>
        <p:spPr>
          <a:xfrm>
            <a:off x="612648" y="41513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the same governed APIs the UI calls</a:t>
            </a:r>
            <a:endParaRPr lang="en-US" sz="800" dirty="0"/>
          </a:p>
        </p:txBody>
      </p:sp>
      <p:sp>
        <p:nvSpPr>
          <p:cNvPr id="35" name="Shape 33"/>
          <p:cNvSpPr/>
          <p:nvPr/>
        </p:nvSpPr>
        <p:spPr>
          <a:xfrm>
            <a:off x="4225442" y="3950208"/>
            <a:ext cx="3503066" cy="402336"/>
          </a:xfrm>
          <a:prstGeom prst="roundRect">
            <a:avLst>
              <a:gd name="adj" fmla="val 9091"/>
            </a:avLst>
          </a:prstGeom>
          <a:solidFill>
            <a:srgbClr val="FFFFFF"/>
          </a:solidFill>
          <a:ln w="12700">
            <a:solidFill>
              <a:srgbClr val="E0CDA6"/>
            </a:solidFill>
            <a:prstDash val="solid"/>
          </a:ln>
        </p:spPr>
      </p:sp>
      <p:sp>
        <p:nvSpPr>
          <p:cNvPr id="36" name="Text 34"/>
          <p:cNvSpPr/>
          <p:nvPr/>
        </p:nvSpPr>
        <p:spPr>
          <a:xfrm>
            <a:off x="4225442" y="39776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Grounding &amp; citations</a:t>
            </a:r>
            <a:endParaRPr lang="en-US" sz="950" dirty="0"/>
          </a:p>
        </p:txBody>
      </p:sp>
      <p:sp>
        <p:nvSpPr>
          <p:cNvPr id="37" name="Text 35"/>
          <p:cNvSpPr/>
          <p:nvPr/>
        </p:nvSpPr>
        <p:spPr>
          <a:xfrm>
            <a:off x="4225442" y="41513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instrument base, SOPs, precedent</a:t>
            </a:r>
            <a:endParaRPr lang="en-US" sz="800" dirty="0"/>
          </a:p>
        </p:txBody>
      </p:sp>
      <p:sp>
        <p:nvSpPr>
          <p:cNvPr id="38" name="Shape 36"/>
          <p:cNvSpPr/>
          <p:nvPr/>
        </p:nvSpPr>
        <p:spPr>
          <a:xfrm>
            <a:off x="7838237" y="3950208"/>
            <a:ext cx="3503066" cy="402336"/>
          </a:xfrm>
          <a:prstGeom prst="roundRect">
            <a:avLst>
              <a:gd name="adj" fmla="val 9091"/>
            </a:avLst>
          </a:prstGeom>
          <a:solidFill>
            <a:srgbClr val="FFFFFF"/>
          </a:solidFill>
          <a:ln w="12700">
            <a:solidFill>
              <a:srgbClr val="E0CDA6"/>
            </a:solidFill>
            <a:prstDash val="solid"/>
          </a:ln>
        </p:spPr>
      </p:sp>
      <p:sp>
        <p:nvSpPr>
          <p:cNvPr id="39" name="Text 37"/>
          <p:cNvSpPr/>
          <p:nvPr/>
        </p:nvSpPr>
        <p:spPr>
          <a:xfrm>
            <a:off x="7838237" y="3977640"/>
            <a:ext cx="3503066" cy="182880"/>
          </a:xfrm>
          <a:prstGeom prst="rect">
            <a:avLst/>
          </a:prstGeom>
          <a:noFill/>
          <a:ln/>
        </p:spPr>
        <p:txBody>
          <a:bodyPr wrap="square" lIns="0" tIns="0" rIns="0" bIns="0" rtlCol="0" anchor="ctr"/>
          <a:lstStyle/>
          <a:p>
            <a:pPr algn="ctr" indent="0" marL="0">
              <a:buNone/>
            </a:pPr>
            <a:r>
              <a:rPr lang="en-US" sz="950" b="1" dirty="0">
                <a:solidFill>
                  <a:srgbClr val="0B1F2A"/>
                </a:solidFill>
                <a:latin typeface="Calibri" pitchFamily="34" charset="0"/>
                <a:ea typeface="Calibri" pitchFamily="34" charset="-122"/>
                <a:cs typeface="Calibri" pitchFamily="34" charset="-120"/>
              </a:rPr>
              <a:t>Policy guardrails</a:t>
            </a:r>
            <a:endParaRPr lang="en-US" sz="950" dirty="0"/>
          </a:p>
        </p:txBody>
      </p:sp>
      <p:sp>
        <p:nvSpPr>
          <p:cNvPr id="40" name="Text 38"/>
          <p:cNvSpPr/>
          <p:nvPr/>
        </p:nvSpPr>
        <p:spPr>
          <a:xfrm>
            <a:off x="7838237" y="4151376"/>
            <a:ext cx="3503066" cy="173736"/>
          </a:xfrm>
          <a:prstGeom prst="rect">
            <a:avLst/>
          </a:prstGeom>
          <a:noFill/>
          <a:ln/>
        </p:spPr>
        <p:txBody>
          <a:bodyPr wrap="square" lIns="0" tIns="0" rIns="0" bIns="0" rtlCol="0" anchor="ctr"/>
          <a:lstStyle/>
          <a:p>
            <a:pPr algn="ctr" indent="0" marL="0">
              <a:buNone/>
            </a:pPr>
            <a:r>
              <a:rPr lang="en-US" sz="800" dirty="0">
                <a:solidFill>
                  <a:srgbClr val="6B838E"/>
                </a:solidFill>
                <a:latin typeface="Calibri" pitchFamily="34" charset="0"/>
                <a:ea typeface="Calibri" pitchFamily="34" charset="-122"/>
                <a:cs typeface="Calibri" pitchFamily="34" charset="-120"/>
              </a:rPr>
              <a:t>autonomy tiers, PII redaction, model routing</a:t>
            </a:r>
            <a:endParaRPr lang="en-US" sz="800" dirty="0"/>
          </a:p>
        </p:txBody>
      </p:sp>
      <p:sp>
        <p:nvSpPr>
          <p:cNvPr id="41" name="Text 39"/>
          <p:cNvSpPr/>
          <p:nvPr/>
        </p:nvSpPr>
        <p:spPr>
          <a:xfrm>
            <a:off x="502920" y="4535424"/>
            <a:ext cx="3108960" cy="201168"/>
          </a:xfrm>
          <a:prstGeom prst="rect">
            <a:avLst/>
          </a:prstGeom>
          <a:noFill/>
          <a:ln/>
        </p:spPr>
        <p:txBody>
          <a:bodyPr wrap="square" lIns="0" tIns="0" rIns="0" bIns="0" rtlCol="0" anchor="ctr"/>
          <a:lstStyle/>
          <a:p>
            <a:pPr indent="0" marL="0">
              <a:buNone/>
            </a:pPr>
            <a:r>
              <a:rPr lang="en-US" sz="800" b="1" spc="150" kern="0" dirty="0">
                <a:solidFill>
                  <a:srgbClr val="6B838E"/>
                </a:solidFill>
                <a:latin typeface="Calibri" pitchFamily="34" charset="0"/>
                <a:ea typeface="Calibri" pitchFamily="34" charset="-122"/>
                <a:cs typeface="Calibri" pitchFamily="34" charset="-120"/>
              </a:rPr>
              <a:t>DOMAIN SERVICES</a:t>
            </a:r>
            <a:endParaRPr lang="en-US" sz="800" dirty="0"/>
          </a:p>
        </p:txBody>
      </p:sp>
      <p:sp>
        <p:nvSpPr>
          <p:cNvPr id="42" name="Shape 40"/>
          <p:cNvSpPr/>
          <p:nvPr/>
        </p:nvSpPr>
        <p:spPr>
          <a:xfrm>
            <a:off x="502920" y="4718304"/>
            <a:ext cx="1503927" cy="292608"/>
          </a:xfrm>
          <a:prstGeom prst="roundRect">
            <a:avLst>
              <a:gd name="adj" fmla="val 15625"/>
            </a:avLst>
          </a:prstGeom>
          <a:solidFill>
            <a:srgbClr val="E4F0F1"/>
          </a:solidFill>
          <a:ln w="12700">
            <a:solidFill>
              <a:srgbClr val="A8D2D5"/>
            </a:solidFill>
            <a:prstDash val="solid"/>
          </a:ln>
        </p:spPr>
      </p:sp>
      <p:sp>
        <p:nvSpPr>
          <p:cNvPr id="43" name="Text 41"/>
          <p:cNvSpPr/>
          <p:nvPr/>
        </p:nvSpPr>
        <p:spPr>
          <a:xfrm>
            <a:off x="502920"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Ship registry</a:t>
            </a:r>
            <a:endParaRPr lang="en-US" sz="950" dirty="0"/>
          </a:p>
        </p:txBody>
      </p:sp>
      <p:sp>
        <p:nvSpPr>
          <p:cNvPr id="44" name="Shape 42"/>
          <p:cNvSpPr/>
          <p:nvPr/>
        </p:nvSpPr>
        <p:spPr>
          <a:xfrm>
            <a:off x="2116575" y="4718304"/>
            <a:ext cx="1503927" cy="292608"/>
          </a:xfrm>
          <a:prstGeom prst="roundRect">
            <a:avLst>
              <a:gd name="adj" fmla="val 15625"/>
            </a:avLst>
          </a:prstGeom>
          <a:solidFill>
            <a:srgbClr val="E4F0F1"/>
          </a:solidFill>
          <a:ln w="12700">
            <a:solidFill>
              <a:srgbClr val="A8D2D5"/>
            </a:solidFill>
            <a:prstDash val="solid"/>
          </a:ln>
        </p:spPr>
      </p:sp>
      <p:sp>
        <p:nvSpPr>
          <p:cNvPr id="45" name="Text 43"/>
          <p:cNvSpPr/>
          <p:nvPr/>
        </p:nvSpPr>
        <p:spPr>
          <a:xfrm>
            <a:off x="2116575"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Seafarer</a:t>
            </a:r>
            <a:endParaRPr lang="en-US" sz="950" dirty="0"/>
          </a:p>
        </p:txBody>
      </p:sp>
      <p:sp>
        <p:nvSpPr>
          <p:cNvPr id="46" name="Shape 44"/>
          <p:cNvSpPr/>
          <p:nvPr/>
        </p:nvSpPr>
        <p:spPr>
          <a:xfrm>
            <a:off x="3730229" y="4718304"/>
            <a:ext cx="1503927" cy="292608"/>
          </a:xfrm>
          <a:prstGeom prst="roundRect">
            <a:avLst>
              <a:gd name="adj" fmla="val 15625"/>
            </a:avLst>
          </a:prstGeom>
          <a:solidFill>
            <a:srgbClr val="E4F0F1"/>
          </a:solidFill>
          <a:ln w="12700">
            <a:solidFill>
              <a:srgbClr val="A8D2D5"/>
            </a:solidFill>
            <a:prstDash val="solid"/>
          </a:ln>
        </p:spPr>
      </p:sp>
      <p:sp>
        <p:nvSpPr>
          <p:cNvPr id="47" name="Text 45"/>
          <p:cNvSpPr/>
          <p:nvPr/>
        </p:nvSpPr>
        <p:spPr>
          <a:xfrm>
            <a:off x="3730229"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Instrument base</a:t>
            </a:r>
            <a:endParaRPr lang="en-US" sz="950" dirty="0"/>
          </a:p>
        </p:txBody>
      </p:sp>
      <p:sp>
        <p:nvSpPr>
          <p:cNvPr id="48" name="Shape 46"/>
          <p:cNvSpPr/>
          <p:nvPr/>
        </p:nvSpPr>
        <p:spPr>
          <a:xfrm>
            <a:off x="5343884" y="4718304"/>
            <a:ext cx="1503927" cy="292608"/>
          </a:xfrm>
          <a:prstGeom prst="roundRect">
            <a:avLst>
              <a:gd name="adj" fmla="val 15625"/>
            </a:avLst>
          </a:prstGeom>
          <a:solidFill>
            <a:srgbClr val="E4F0F1"/>
          </a:solidFill>
          <a:ln w="12700">
            <a:solidFill>
              <a:srgbClr val="A8D2D5"/>
            </a:solidFill>
            <a:prstDash val="solid"/>
          </a:ln>
        </p:spPr>
      </p:sp>
      <p:sp>
        <p:nvSpPr>
          <p:cNvPr id="49" name="Text 47"/>
          <p:cNvSpPr/>
          <p:nvPr/>
        </p:nvSpPr>
        <p:spPr>
          <a:xfrm>
            <a:off x="5343884"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Maritime centre</a:t>
            </a:r>
            <a:endParaRPr lang="en-US" sz="950" dirty="0"/>
          </a:p>
        </p:txBody>
      </p:sp>
      <p:sp>
        <p:nvSpPr>
          <p:cNvPr id="50" name="Shape 48"/>
          <p:cNvSpPr/>
          <p:nvPr/>
        </p:nvSpPr>
        <p:spPr>
          <a:xfrm>
            <a:off x="6957539" y="4718304"/>
            <a:ext cx="1503927" cy="292608"/>
          </a:xfrm>
          <a:prstGeom prst="roundRect">
            <a:avLst>
              <a:gd name="adj" fmla="val 15625"/>
            </a:avLst>
          </a:prstGeom>
          <a:solidFill>
            <a:srgbClr val="E4F0F1"/>
          </a:solidFill>
          <a:ln w="12700">
            <a:solidFill>
              <a:srgbClr val="A8D2D5"/>
            </a:solidFill>
            <a:prstDash val="solid"/>
          </a:ln>
        </p:spPr>
      </p:sp>
      <p:sp>
        <p:nvSpPr>
          <p:cNvPr id="51" name="Text 49"/>
          <p:cNvSpPr/>
          <p:nvPr/>
        </p:nvSpPr>
        <p:spPr>
          <a:xfrm>
            <a:off x="6957539"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Inspection</a:t>
            </a:r>
            <a:endParaRPr lang="en-US" sz="950" dirty="0"/>
          </a:p>
        </p:txBody>
      </p:sp>
      <p:sp>
        <p:nvSpPr>
          <p:cNvPr id="52" name="Shape 50"/>
          <p:cNvSpPr/>
          <p:nvPr/>
        </p:nvSpPr>
        <p:spPr>
          <a:xfrm>
            <a:off x="8571194" y="4718304"/>
            <a:ext cx="1503927" cy="292608"/>
          </a:xfrm>
          <a:prstGeom prst="roundRect">
            <a:avLst>
              <a:gd name="adj" fmla="val 15625"/>
            </a:avLst>
          </a:prstGeom>
          <a:solidFill>
            <a:srgbClr val="E4F0F1"/>
          </a:solidFill>
          <a:ln w="12700">
            <a:solidFill>
              <a:srgbClr val="A8D2D5"/>
            </a:solidFill>
            <a:prstDash val="solid"/>
          </a:ln>
        </p:spPr>
      </p:sp>
      <p:sp>
        <p:nvSpPr>
          <p:cNvPr id="53" name="Text 51"/>
          <p:cNvSpPr/>
          <p:nvPr/>
        </p:nvSpPr>
        <p:spPr>
          <a:xfrm>
            <a:off x="8571194"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Port &amp; single window</a:t>
            </a:r>
            <a:endParaRPr lang="en-US" sz="950" dirty="0"/>
          </a:p>
        </p:txBody>
      </p:sp>
      <p:sp>
        <p:nvSpPr>
          <p:cNvPr id="54" name="Shape 52"/>
          <p:cNvSpPr/>
          <p:nvPr/>
        </p:nvSpPr>
        <p:spPr>
          <a:xfrm>
            <a:off x="10184848" y="4718304"/>
            <a:ext cx="1503927" cy="292608"/>
          </a:xfrm>
          <a:prstGeom prst="roundRect">
            <a:avLst>
              <a:gd name="adj" fmla="val 15625"/>
            </a:avLst>
          </a:prstGeom>
          <a:solidFill>
            <a:srgbClr val="E4F0F1"/>
          </a:solidFill>
          <a:ln w="12700">
            <a:solidFill>
              <a:srgbClr val="A8D2D5"/>
            </a:solidFill>
            <a:prstDash val="solid"/>
          </a:ln>
        </p:spPr>
      </p:sp>
      <p:sp>
        <p:nvSpPr>
          <p:cNvPr id="55" name="Text 53"/>
          <p:cNvSpPr/>
          <p:nvPr/>
        </p:nvSpPr>
        <p:spPr>
          <a:xfrm>
            <a:off x="10184848" y="4718304"/>
            <a:ext cx="1503927"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Licensing</a:t>
            </a:r>
            <a:endParaRPr lang="en-US" sz="950" dirty="0"/>
          </a:p>
        </p:txBody>
      </p:sp>
      <p:sp>
        <p:nvSpPr>
          <p:cNvPr id="56" name="Shape 54"/>
          <p:cNvSpPr/>
          <p:nvPr/>
        </p:nvSpPr>
        <p:spPr>
          <a:xfrm>
            <a:off x="502920" y="5084064"/>
            <a:ext cx="1772869" cy="292608"/>
          </a:xfrm>
          <a:prstGeom prst="roundRect">
            <a:avLst>
              <a:gd name="adj" fmla="val 15625"/>
            </a:avLst>
          </a:prstGeom>
          <a:solidFill>
            <a:srgbClr val="FFFFFF"/>
          </a:solidFill>
          <a:ln w="12700">
            <a:solidFill>
              <a:srgbClr val="E4EAE9"/>
            </a:solidFill>
            <a:prstDash val="solid"/>
          </a:ln>
        </p:spPr>
      </p:sp>
      <p:sp>
        <p:nvSpPr>
          <p:cNvPr id="57" name="Text 55"/>
          <p:cNvSpPr/>
          <p:nvPr/>
        </p:nvSpPr>
        <p:spPr>
          <a:xfrm>
            <a:off x="502920"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Risk engine</a:t>
            </a:r>
            <a:endParaRPr lang="en-US" sz="950" dirty="0"/>
          </a:p>
        </p:txBody>
      </p:sp>
      <p:sp>
        <p:nvSpPr>
          <p:cNvPr id="58" name="Shape 56"/>
          <p:cNvSpPr/>
          <p:nvPr/>
        </p:nvSpPr>
        <p:spPr>
          <a:xfrm>
            <a:off x="2385517" y="5084064"/>
            <a:ext cx="1772869" cy="292608"/>
          </a:xfrm>
          <a:prstGeom prst="roundRect">
            <a:avLst>
              <a:gd name="adj" fmla="val 15625"/>
            </a:avLst>
          </a:prstGeom>
          <a:solidFill>
            <a:srgbClr val="FFFFFF"/>
          </a:solidFill>
          <a:ln w="12700">
            <a:solidFill>
              <a:srgbClr val="E4EAE9"/>
            </a:solidFill>
            <a:prstDash val="solid"/>
          </a:ln>
        </p:spPr>
      </p:sp>
      <p:sp>
        <p:nvSpPr>
          <p:cNvPr id="59" name="Text 57"/>
          <p:cNvSpPr/>
          <p:nvPr/>
        </p:nvSpPr>
        <p:spPr>
          <a:xfrm>
            <a:off x="2385517"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Workflow &amp; SLA</a:t>
            </a:r>
            <a:endParaRPr lang="en-US" sz="950" dirty="0"/>
          </a:p>
        </p:txBody>
      </p:sp>
      <p:sp>
        <p:nvSpPr>
          <p:cNvPr id="60" name="Shape 58"/>
          <p:cNvSpPr/>
          <p:nvPr/>
        </p:nvSpPr>
        <p:spPr>
          <a:xfrm>
            <a:off x="4268114" y="5084064"/>
            <a:ext cx="1772869" cy="292608"/>
          </a:xfrm>
          <a:prstGeom prst="roundRect">
            <a:avLst>
              <a:gd name="adj" fmla="val 15625"/>
            </a:avLst>
          </a:prstGeom>
          <a:solidFill>
            <a:srgbClr val="FFFFFF"/>
          </a:solidFill>
          <a:ln w="12700">
            <a:solidFill>
              <a:srgbClr val="E4EAE9"/>
            </a:solidFill>
            <a:prstDash val="solid"/>
          </a:ln>
        </p:spPr>
      </p:sp>
      <p:sp>
        <p:nvSpPr>
          <p:cNvPr id="61" name="Text 59"/>
          <p:cNvSpPr/>
          <p:nvPr/>
        </p:nvSpPr>
        <p:spPr>
          <a:xfrm>
            <a:off x="4268114"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Documents &amp; e-sign</a:t>
            </a:r>
            <a:endParaRPr lang="en-US" sz="950" dirty="0"/>
          </a:p>
        </p:txBody>
      </p:sp>
      <p:sp>
        <p:nvSpPr>
          <p:cNvPr id="62" name="Shape 60"/>
          <p:cNvSpPr/>
          <p:nvPr/>
        </p:nvSpPr>
        <p:spPr>
          <a:xfrm>
            <a:off x="6150712" y="5084064"/>
            <a:ext cx="1772869" cy="292608"/>
          </a:xfrm>
          <a:prstGeom prst="roundRect">
            <a:avLst>
              <a:gd name="adj" fmla="val 15625"/>
            </a:avLst>
          </a:prstGeom>
          <a:solidFill>
            <a:srgbClr val="FFFFFF"/>
          </a:solidFill>
          <a:ln w="12700">
            <a:solidFill>
              <a:srgbClr val="E4EAE9"/>
            </a:solidFill>
            <a:prstDash val="solid"/>
          </a:ln>
        </p:spPr>
      </p:sp>
      <p:sp>
        <p:nvSpPr>
          <p:cNvPr id="63" name="Text 61"/>
          <p:cNvSpPr/>
          <p:nvPr/>
        </p:nvSpPr>
        <p:spPr>
          <a:xfrm>
            <a:off x="6150712"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Fees &amp; payments</a:t>
            </a:r>
            <a:endParaRPr lang="en-US" sz="950" dirty="0"/>
          </a:p>
        </p:txBody>
      </p:sp>
      <p:sp>
        <p:nvSpPr>
          <p:cNvPr id="64" name="Shape 62"/>
          <p:cNvSpPr/>
          <p:nvPr/>
        </p:nvSpPr>
        <p:spPr>
          <a:xfrm>
            <a:off x="8033309" y="5084064"/>
            <a:ext cx="1772869" cy="292608"/>
          </a:xfrm>
          <a:prstGeom prst="roundRect">
            <a:avLst>
              <a:gd name="adj" fmla="val 15625"/>
            </a:avLst>
          </a:prstGeom>
          <a:solidFill>
            <a:srgbClr val="FFFFFF"/>
          </a:solidFill>
          <a:ln w="12700">
            <a:solidFill>
              <a:srgbClr val="E4EAE9"/>
            </a:solidFill>
            <a:prstDash val="solid"/>
          </a:ln>
        </p:spPr>
      </p:sp>
      <p:sp>
        <p:nvSpPr>
          <p:cNvPr id="65" name="Text 63"/>
          <p:cNvSpPr/>
          <p:nvPr/>
        </p:nvSpPr>
        <p:spPr>
          <a:xfrm>
            <a:off x="8033309"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Identity &amp; RBAC</a:t>
            </a:r>
            <a:endParaRPr lang="en-US" sz="950" dirty="0"/>
          </a:p>
        </p:txBody>
      </p:sp>
      <p:sp>
        <p:nvSpPr>
          <p:cNvPr id="66" name="Shape 64"/>
          <p:cNvSpPr/>
          <p:nvPr/>
        </p:nvSpPr>
        <p:spPr>
          <a:xfrm>
            <a:off x="9915906" y="5084064"/>
            <a:ext cx="1772869" cy="292608"/>
          </a:xfrm>
          <a:prstGeom prst="roundRect">
            <a:avLst>
              <a:gd name="adj" fmla="val 15625"/>
            </a:avLst>
          </a:prstGeom>
          <a:solidFill>
            <a:srgbClr val="FFFFFF"/>
          </a:solidFill>
          <a:ln w="12700">
            <a:solidFill>
              <a:srgbClr val="E4EAE9"/>
            </a:solidFill>
            <a:prstDash val="solid"/>
          </a:ln>
        </p:spPr>
      </p:sp>
      <p:sp>
        <p:nvSpPr>
          <p:cNvPr id="67" name="Text 65"/>
          <p:cNvSpPr/>
          <p:nvPr/>
        </p:nvSpPr>
        <p:spPr>
          <a:xfrm>
            <a:off x="9915906" y="5084064"/>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Notifications</a:t>
            </a:r>
            <a:endParaRPr lang="en-US" sz="950" dirty="0"/>
          </a:p>
        </p:txBody>
      </p:sp>
      <p:sp>
        <p:nvSpPr>
          <p:cNvPr id="68" name="Text 66"/>
          <p:cNvSpPr/>
          <p:nvPr/>
        </p:nvSpPr>
        <p:spPr>
          <a:xfrm>
            <a:off x="502920" y="5468112"/>
            <a:ext cx="3108960" cy="201168"/>
          </a:xfrm>
          <a:prstGeom prst="rect">
            <a:avLst/>
          </a:prstGeom>
          <a:noFill/>
          <a:ln/>
        </p:spPr>
        <p:txBody>
          <a:bodyPr wrap="square" lIns="0" tIns="0" rIns="0" bIns="0" rtlCol="0" anchor="ctr"/>
          <a:lstStyle/>
          <a:p>
            <a:pPr indent="0" marL="0">
              <a:buNone/>
            </a:pPr>
            <a:r>
              <a:rPr lang="en-US" sz="800" b="1" spc="150" kern="0" dirty="0">
                <a:solidFill>
                  <a:srgbClr val="6B838E"/>
                </a:solidFill>
                <a:latin typeface="Calibri" pitchFamily="34" charset="0"/>
                <a:ea typeface="Calibri" pitchFamily="34" charset="-122"/>
                <a:cs typeface="Calibri" pitchFamily="34" charset="-120"/>
              </a:rPr>
              <a:t>DATA &amp; INTEGRATION</a:t>
            </a:r>
            <a:endParaRPr lang="en-US" sz="800" dirty="0"/>
          </a:p>
        </p:txBody>
      </p:sp>
      <p:sp>
        <p:nvSpPr>
          <p:cNvPr id="69" name="Shape 67"/>
          <p:cNvSpPr/>
          <p:nvPr/>
        </p:nvSpPr>
        <p:spPr>
          <a:xfrm>
            <a:off x="502920" y="5650992"/>
            <a:ext cx="1772869" cy="292608"/>
          </a:xfrm>
          <a:prstGeom prst="roundRect">
            <a:avLst>
              <a:gd name="adj" fmla="val 15625"/>
            </a:avLst>
          </a:prstGeom>
          <a:solidFill>
            <a:srgbClr val="FFFFFF"/>
          </a:solidFill>
          <a:ln w="12700">
            <a:solidFill>
              <a:srgbClr val="A8D2D5"/>
            </a:solidFill>
            <a:prstDash val="solid"/>
          </a:ln>
        </p:spPr>
      </p:sp>
      <p:sp>
        <p:nvSpPr>
          <p:cNvPr id="70" name="Text 68"/>
          <p:cNvSpPr/>
          <p:nvPr/>
        </p:nvSpPr>
        <p:spPr>
          <a:xfrm>
            <a:off x="502920"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Operational store</a:t>
            </a:r>
            <a:endParaRPr lang="en-US" sz="950" dirty="0"/>
          </a:p>
        </p:txBody>
      </p:sp>
      <p:sp>
        <p:nvSpPr>
          <p:cNvPr id="71" name="Shape 69"/>
          <p:cNvSpPr/>
          <p:nvPr/>
        </p:nvSpPr>
        <p:spPr>
          <a:xfrm>
            <a:off x="2385517" y="5650992"/>
            <a:ext cx="1772869" cy="292608"/>
          </a:xfrm>
          <a:prstGeom prst="roundRect">
            <a:avLst>
              <a:gd name="adj" fmla="val 15625"/>
            </a:avLst>
          </a:prstGeom>
          <a:solidFill>
            <a:srgbClr val="FFFFFF"/>
          </a:solidFill>
          <a:ln w="12700">
            <a:solidFill>
              <a:srgbClr val="A8D2D5"/>
            </a:solidFill>
            <a:prstDash val="solid"/>
          </a:ln>
        </p:spPr>
      </p:sp>
      <p:sp>
        <p:nvSpPr>
          <p:cNvPr id="72" name="Text 70"/>
          <p:cNvSpPr/>
          <p:nvPr/>
        </p:nvSpPr>
        <p:spPr>
          <a:xfrm>
            <a:off x="2385517"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Track store (geo/time)</a:t>
            </a:r>
            <a:endParaRPr lang="en-US" sz="950" dirty="0"/>
          </a:p>
        </p:txBody>
      </p:sp>
      <p:sp>
        <p:nvSpPr>
          <p:cNvPr id="73" name="Shape 71"/>
          <p:cNvSpPr/>
          <p:nvPr/>
        </p:nvSpPr>
        <p:spPr>
          <a:xfrm>
            <a:off x="4268114" y="5650992"/>
            <a:ext cx="1772869" cy="292608"/>
          </a:xfrm>
          <a:prstGeom prst="roundRect">
            <a:avLst>
              <a:gd name="adj" fmla="val 15625"/>
            </a:avLst>
          </a:prstGeom>
          <a:solidFill>
            <a:srgbClr val="FFFFFF"/>
          </a:solidFill>
          <a:ln w="12700">
            <a:solidFill>
              <a:srgbClr val="A8D2D5"/>
            </a:solidFill>
            <a:prstDash val="solid"/>
          </a:ln>
        </p:spPr>
      </p:sp>
      <p:sp>
        <p:nvSpPr>
          <p:cNvPr id="74" name="Text 72"/>
          <p:cNvSpPr/>
          <p:nvPr/>
        </p:nvSpPr>
        <p:spPr>
          <a:xfrm>
            <a:off x="4268114"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Object &amp; document store</a:t>
            </a:r>
            <a:endParaRPr lang="en-US" sz="950" dirty="0"/>
          </a:p>
        </p:txBody>
      </p:sp>
      <p:sp>
        <p:nvSpPr>
          <p:cNvPr id="75" name="Shape 73"/>
          <p:cNvSpPr/>
          <p:nvPr/>
        </p:nvSpPr>
        <p:spPr>
          <a:xfrm>
            <a:off x="6150712" y="5650992"/>
            <a:ext cx="1772869" cy="292608"/>
          </a:xfrm>
          <a:prstGeom prst="roundRect">
            <a:avLst>
              <a:gd name="adj" fmla="val 15625"/>
            </a:avLst>
          </a:prstGeom>
          <a:solidFill>
            <a:srgbClr val="FFFFFF"/>
          </a:solidFill>
          <a:ln w="12700">
            <a:solidFill>
              <a:srgbClr val="A8D2D5"/>
            </a:solidFill>
            <a:prstDash val="solid"/>
          </a:ln>
        </p:spPr>
      </p:sp>
      <p:sp>
        <p:nvSpPr>
          <p:cNvPr id="76" name="Text 74"/>
          <p:cNvSpPr/>
          <p:nvPr/>
        </p:nvSpPr>
        <p:spPr>
          <a:xfrm>
            <a:off x="6150712"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Event bus</a:t>
            </a:r>
            <a:endParaRPr lang="en-US" sz="950" dirty="0"/>
          </a:p>
        </p:txBody>
      </p:sp>
      <p:sp>
        <p:nvSpPr>
          <p:cNvPr id="77" name="Shape 75"/>
          <p:cNvSpPr/>
          <p:nvPr/>
        </p:nvSpPr>
        <p:spPr>
          <a:xfrm>
            <a:off x="8033309" y="5650992"/>
            <a:ext cx="1772869" cy="292608"/>
          </a:xfrm>
          <a:prstGeom prst="roundRect">
            <a:avLst>
              <a:gd name="adj" fmla="val 15625"/>
            </a:avLst>
          </a:prstGeom>
          <a:solidFill>
            <a:srgbClr val="FFFFFF"/>
          </a:solidFill>
          <a:ln w="12700">
            <a:solidFill>
              <a:srgbClr val="A8D2D5"/>
            </a:solidFill>
            <a:prstDash val="solid"/>
          </a:ln>
        </p:spPr>
      </p:sp>
      <p:sp>
        <p:nvSpPr>
          <p:cNvPr id="78" name="Text 76"/>
          <p:cNvSpPr/>
          <p:nvPr/>
        </p:nvSpPr>
        <p:spPr>
          <a:xfrm>
            <a:off x="8033309"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Immutable audit ledger</a:t>
            </a:r>
            <a:endParaRPr lang="en-US" sz="950" dirty="0"/>
          </a:p>
        </p:txBody>
      </p:sp>
      <p:sp>
        <p:nvSpPr>
          <p:cNvPr id="79" name="Shape 77"/>
          <p:cNvSpPr/>
          <p:nvPr/>
        </p:nvSpPr>
        <p:spPr>
          <a:xfrm>
            <a:off x="9915906" y="5650992"/>
            <a:ext cx="1772869" cy="292608"/>
          </a:xfrm>
          <a:prstGeom prst="roundRect">
            <a:avLst>
              <a:gd name="adj" fmla="val 15625"/>
            </a:avLst>
          </a:prstGeom>
          <a:solidFill>
            <a:srgbClr val="FFFFFF"/>
          </a:solidFill>
          <a:ln w="12700">
            <a:solidFill>
              <a:srgbClr val="A8D2D5"/>
            </a:solidFill>
            <a:prstDash val="solid"/>
          </a:ln>
        </p:spPr>
      </p:sp>
      <p:sp>
        <p:nvSpPr>
          <p:cNvPr id="80" name="Text 78"/>
          <p:cNvSpPr/>
          <p:nvPr/>
        </p:nvSpPr>
        <p:spPr>
          <a:xfrm>
            <a:off x="9915906" y="5650992"/>
            <a:ext cx="1772869" cy="292608"/>
          </a:xfrm>
          <a:prstGeom prst="rect">
            <a:avLst/>
          </a:prstGeom>
          <a:noFill/>
          <a:ln/>
        </p:spPr>
        <p:txBody>
          <a:bodyPr wrap="square" lIns="25400" tIns="25400" rIns="25400" bIns="25400" rtlCol="0" anchor="ctr"/>
          <a:lstStyle/>
          <a:p>
            <a:pPr algn="ctr" indent="0" marL="0">
              <a:buNone/>
            </a:pPr>
            <a:r>
              <a:rPr lang="en-US" sz="950" dirty="0">
                <a:solidFill>
                  <a:srgbClr val="0B1F2A"/>
                </a:solidFill>
                <a:latin typeface="Calibri" pitchFamily="34" charset="0"/>
                <a:ea typeface="Calibri" pitchFamily="34" charset="-122"/>
                <a:cs typeface="Calibri" pitchFamily="34" charset="-120"/>
              </a:rPr>
              <a:t>Warehouse &amp; BI</a:t>
            </a:r>
            <a:endParaRPr lang="en-US" sz="950" dirty="0"/>
          </a:p>
        </p:txBody>
      </p:sp>
      <p:sp>
        <p:nvSpPr>
          <p:cNvPr id="81" name="Text 79"/>
          <p:cNvSpPr/>
          <p:nvPr/>
        </p:nvSpPr>
        <p:spPr>
          <a:xfrm>
            <a:off x="502920" y="6035040"/>
            <a:ext cx="11185855" cy="256032"/>
          </a:xfrm>
          <a:prstGeom prst="rect">
            <a:avLst/>
          </a:prstGeom>
          <a:noFill/>
          <a:ln/>
        </p:spPr>
        <p:txBody>
          <a:bodyPr wrap="square" lIns="0" tIns="0" rIns="0" bIns="0" rtlCol="0" anchor="ctr"/>
          <a:lstStyle/>
          <a:p>
            <a:pPr indent="0" marL="0">
              <a:buNone/>
            </a:pPr>
            <a:r>
              <a:rPr lang="en-US" sz="900" dirty="0">
                <a:solidFill>
                  <a:srgbClr val="6B838E"/>
                </a:solidFill>
                <a:latin typeface="Calibri" pitchFamily="34" charset="0"/>
                <a:ea typeface="Calibri" pitchFamily="34" charset="-122"/>
                <a:cs typeface="Calibri" pitchFamily="34" charset="-120"/>
              </a:rPr>
              <a:t>External systems of record — IMO GISIS  ·  Riyadh MoU exchange  ·  IACS societies / ROs  ·  national identity SSO  ·  customs &amp; immigration  ·  satellite AIS / LRIT</a:t>
            </a:r>
            <a:endParaRPr lang="en-US" sz="900" dirty="0"/>
          </a:p>
        </p:txBody>
      </p:sp>
      <p:sp>
        <p:nvSpPr>
          <p:cNvPr id="82" name="Text 80"/>
          <p:cNvSpPr/>
          <p:nvPr/>
        </p:nvSpPr>
        <p:spPr>
          <a:xfrm>
            <a:off x="502920" y="6272784"/>
            <a:ext cx="11185855" cy="256032"/>
          </a:xfrm>
          <a:prstGeom prst="rect">
            <a:avLst/>
          </a:prstGeom>
          <a:noFill/>
          <a:ln/>
        </p:spPr>
        <p:txBody>
          <a:bodyPr wrap="square" lIns="0" tIns="0" rIns="0" bIns="0" rtlCol="0" anchor="ctr"/>
          <a:lstStyle/>
          <a:p>
            <a:pPr indent="0" marL="0">
              <a:buNone/>
            </a:pPr>
            <a:r>
              <a:rPr lang="en-US" sz="900" dirty="0">
                <a:solidFill>
                  <a:srgbClr val="6B838E"/>
                </a:solidFill>
                <a:latin typeface="Calibri" pitchFamily="34" charset="0"/>
                <a:ea typeface="Calibri" pitchFamily="34" charset="-122"/>
                <a:cs typeface="Calibri" pitchFamily="34" charset="-120"/>
              </a:rPr>
              <a:t>Cross-cutting — data residency  ·  encryption at rest and in transit  ·  observability  ·  DevSecOps  ·  DR and business continuity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620"/>
        </a:solidFill>
      </p:bgPr>
    </p:bg>
    <p:spTree>
      <p:nvGrpSpPr>
        <p:cNvPr id="1" name=""/>
        <p:cNvGrpSpPr/>
        <p:nvPr/>
      </p:nvGrpSpPr>
      <p:grpSpPr>
        <a:xfrm>
          <a:off x="0" y="0"/>
          <a:ext cx="0" cy="0"/>
          <a:chOff x="0" y="0"/>
          <a:chExt cx="0" cy="0"/>
        </a:xfrm>
      </p:grpSpPr>
      <p:sp>
        <p:nvSpPr>
          <p:cNvPr id="2" name="Text 0"/>
          <p:cNvSpPr/>
          <p:nvPr/>
        </p:nvSpPr>
        <p:spPr>
          <a:xfrm>
            <a:off x="502920" y="2286000"/>
            <a:ext cx="11185855" cy="320040"/>
          </a:xfrm>
          <a:prstGeom prst="rect">
            <a:avLst/>
          </a:prstGeom>
          <a:noFill/>
          <a:ln/>
        </p:spPr>
        <p:txBody>
          <a:bodyPr wrap="square" lIns="0" tIns="0" rIns="0" bIns="0" rtlCol="0" anchor="ctr"/>
          <a:lstStyle/>
          <a:p>
            <a:pPr indent="0" marL="0">
              <a:buNone/>
            </a:pPr>
            <a:r>
              <a:rPr lang="en-US" sz="1200" b="1" spc="400" kern="0" dirty="0">
                <a:solidFill>
                  <a:srgbClr val="45BFC6"/>
                </a:solidFill>
                <a:latin typeface="Calibri" pitchFamily="34" charset="0"/>
                <a:ea typeface="Calibri" pitchFamily="34" charset="-122"/>
                <a:cs typeface="Calibri" pitchFamily="34" charset="-120"/>
              </a:rPr>
              <a:t>PART II</a:t>
            </a:r>
            <a:endParaRPr lang="en-US" sz="1200" dirty="0"/>
          </a:p>
        </p:txBody>
      </p:sp>
      <p:sp>
        <p:nvSpPr>
          <p:cNvPr id="3" name="Text 1"/>
          <p:cNvSpPr/>
          <p:nvPr/>
        </p:nvSpPr>
        <p:spPr>
          <a:xfrm>
            <a:off x="502920" y="2697480"/>
            <a:ext cx="8948684"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Delivery</a:t>
            </a:r>
            <a:endParaRPr lang="en-US" sz="4200" dirty="0"/>
          </a:p>
        </p:txBody>
      </p:sp>
      <p:sp>
        <p:nvSpPr>
          <p:cNvPr id="4" name="Text 2"/>
          <p:cNvSpPr/>
          <p:nvPr/>
        </p:nvSpPr>
        <p:spPr>
          <a:xfrm>
            <a:off x="502920" y="3749040"/>
            <a:ext cx="6935230" cy="731520"/>
          </a:xfrm>
          <a:prstGeom prst="rect">
            <a:avLst/>
          </a:prstGeom>
          <a:noFill/>
          <a:ln/>
        </p:spPr>
        <p:txBody>
          <a:bodyPr wrap="square" lIns="0" tIns="0" rIns="0" bIns="0" rtlCol="0" anchor="ctr"/>
          <a:lstStyle/>
          <a:p>
            <a:pPr indent="0" marL="0">
              <a:lnSpc>
                <a:spcPct val="120000"/>
              </a:lnSpc>
              <a:buNone/>
            </a:pPr>
            <a:r>
              <a:rPr lang="en-US" sz="1400" dirty="0">
                <a:solidFill>
                  <a:srgbClr val="AAC1C7"/>
                </a:solidFill>
                <a:latin typeface="Calibri" pitchFamily="34" charset="0"/>
                <a:ea typeface="Calibri" pitchFamily="34" charset="-122"/>
                <a:cs typeface="Calibri" pitchFamily="34" charset="-120"/>
              </a:rPr>
              <a:t>What we can prove, what transfers, and what we are not claiming — followed by an eight-week proof that costs you nothing to verify.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DELIVERY CAPABILITY</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What we prove, what transfers, and what we do not claim</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Three columns, because merging them is how vendors mislead. Read the third one first — it is the reason to believe the other two.</a:t>
            </a:r>
            <a:endParaRPr lang="en-US" sz="1250" dirty="0"/>
          </a:p>
        </p:txBody>
      </p:sp>
      <p:sp>
        <p:nvSpPr>
          <p:cNvPr id="5" name="Shape 3"/>
          <p:cNvSpPr/>
          <p:nvPr/>
        </p:nvSpPr>
        <p:spPr>
          <a:xfrm>
            <a:off x="502920" y="1965960"/>
            <a:ext cx="3545738" cy="3657600"/>
          </a:xfrm>
          <a:prstGeom prst="roundRect">
            <a:avLst>
              <a:gd name="adj" fmla="val 1547"/>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167128"/>
            <a:ext cx="3106826" cy="219456"/>
          </a:xfrm>
          <a:prstGeom prst="rect">
            <a:avLst/>
          </a:prstGeom>
          <a:noFill/>
          <a:ln/>
        </p:spPr>
        <p:txBody>
          <a:bodyPr wrap="square" lIns="0" tIns="0" rIns="0" bIns="0" rtlCol="0" anchor="ctr"/>
          <a:lstStyle/>
          <a:p>
            <a:pPr indent="0" marL="0">
              <a:buNone/>
            </a:pPr>
            <a:r>
              <a:rPr lang="en-US" sz="900" b="1" spc="200" kern="0" dirty="0">
                <a:solidFill>
                  <a:srgbClr val="2C6E52"/>
                </a:solidFill>
                <a:latin typeface="Calibri" pitchFamily="34" charset="0"/>
                <a:ea typeface="Calibri" pitchFamily="34" charset="-122"/>
                <a:cs typeface="Calibri" pitchFamily="34" charset="-120"/>
              </a:rPr>
              <a:t>PROVEN — VERIFIABLE TODAY</a:t>
            </a:r>
            <a:endParaRPr lang="en-US" sz="900" dirty="0"/>
          </a:p>
        </p:txBody>
      </p:sp>
      <p:sp>
        <p:nvSpPr>
          <p:cNvPr id="7" name="Text 5"/>
          <p:cNvSpPr/>
          <p:nvPr/>
        </p:nvSpPr>
        <p:spPr>
          <a:xfrm>
            <a:off x="722376" y="2423160"/>
            <a:ext cx="3106826"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Engineering discipline</a:t>
            </a:r>
            <a:endParaRPr lang="en-US" sz="1500" dirty="0"/>
          </a:p>
        </p:txBody>
      </p:sp>
      <p:sp>
        <p:nvSpPr>
          <p:cNvPr id="8" name="Text 6"/>
          <p:cNvSpPr/>
          <p:nvPr/>
        </p:nvSpPr>
        <p:spPr>
          <a:xfrm>
            <a:off x="722376" y="2788920"/>
            <a:ext cx="3106826" cy="2670048"/>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Gated delivery — requirements, UI/UX, design, build, code review, QA, security assessment, release; each gate closed before the next opens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Security in the gate, not after it — OWASP-aligned review, SAST and DAST in the pipeline, penetration test before release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Production systems carrying multi-role approval chains, statutory calculation, immutable audit trails and regulated document output</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The architecture and agent designs in this deck — reviewable now, before you spend anything</a:t>
            </a:r>
            <a:endParaRPr lang="en-US" sz="1000" dirty="0"/>
          </a:p>
        </p:txBody>
      </p:sp>
      <p:sp>
        <p:nvSpPr>
          <p:cNvPr id="9" name="Shape 7"/>
          <p:cNvSpPr/>
          <p:nvPr/>
        </p:nvSpPr>
        <p:spPr>
          <a:xfrm>
            <a:off x="4322978" y="1965960"/>
            <a:ext cx="3545738" cy="3657600"/>
          </a:xfrm>
          <a:prstGeom prst="roundRect">
            <a:avLst>
              <a:gd name="adj" fmla="val 1547"/>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8"/>
          <p:cNvSpPr/>
          <p:nvPr/>
        </p:nvSpPr>
        <p:spPr>
          <a:xfrm>
            <a:off x="4542434" y="2167128"/>
            <a:ext cx="3106826" cy="219456"/>
          </a:xfrm>
          <a:prstGeom prst="rect">
            <a:avLst/>
          </a:prstGeom>
          <a:noFill/>
          <a:ln/>
        </p:spPr>
        <p:txBody>
          <a:bodyPr wrap="square" lIns="0" tIns="0" rIns="0" bIns="0" rtlCol="0" anchor="ctr"/>
          <a:lstStyle/>
          <a:p>
            <a:pPr indent="0" marL="0">
              <a:buNone/>
            </a:pPr>
            <a:r>
              <a:rPr lang="en-US" sz="900" b="1" spc="200" kern="0" dirty="0">
                <a:solidFill>
                  <a:srgbClr val="0E7C86"/>
                </a:solidFill>
                <a:latin typeface="Calibri" pitchFamily="34" charset="0"/>
                <a:ea typeface="Calibri" pitchFamily="34" charset="-122"/>
                <a:cs typeface="Calibri" pitchFamily="34" charset="-120"/>
              </a:rPr>
              <a:t>TRANSFERABLE — STRUCTURALLY IDENTICAL</a:t>
            </a:r>
            <a:endParaRPr lang="en-US" sz="900" dirty="0"/>
          </a:p>
        </p:txBody>
      </p:sp>
      <p:sp>
        <p:nvSpPr>
          <p:cNvPr id="11" name="Text 9"/>
          <p:cNvSpPr/>
          <p:nvPr/>
        </p:nvSpPr>
        <p:spPr>
          <a:xfrm>
            <a:off x="4542434" y="2423160"/>
            <a:ext cx="3106826" cy="566928"/>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A registry is a regulated workflow system</a:t>
            </a:r>
            <a:endParaRPr lang="en-US" sz="1500" dirty="0"/>
          </a:p>
        </p:txBody>
      </p:sp>
      <p:sp>
        <p:nvSpPr>
          <p:cNvPr id="12" name="Text 10"/>
          <p:cNvSpPr/>
          <p:nvPr/>
        </p:nvSpPr>
        <p:spPr>
          <a:xfrm>
            <a:off x="4542434" y="2990088"/>
            <a:ext cx="3106826" cy="2468880"/>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Multi-party, multi-stage approval with segregation of duties — the shape of registration, licensing and certification</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Immutable audit of every state change with before-and-after snapshots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Rule-driven calculation producing a legally consequential number — tonnage, fees, tariffs, risk scores</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Controlled document generation with versioning and revocation — certificate issue and withdrawal</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Role-scoped access across organisations — agencies, ROs, inter-agency clearance</a:t>
            </a:r>
            <a:endParaRPr lang="en-US" sz="1000" dirty="0"/>
          </a:p>
        </p:txBody>
      </p:sp>
      <p:sp>
        <p:nvSpPr>
          <p:cNvPr id="13" name="Shape 11"/>
          <p:cNvSpPr/>
          <p:nvPr/>
        </p:nvSpPr>
        <p:spPr>
          <a:xfrm>
            <a:off x="8143037" y="1965960"/>
            <a:ext cx="3545738" cy="3657600"/>
          </a:xfrm>
          <a:prstGeom prst="roundRect">
            <a:avLst>
              <a:gd name="adj" fmla="val 1547"/>
            </a:avLst>
          </a:prstGeom>
          <a:solidFill>
            <a:srgbClr val="FDF6F5"/>
          </a:solidFill>
          <a:ln w="12700">
            <a:solidFill>
              <a:srgbClr val="E2BDB9"/>
            </a:solidFill>
            <a:prstDash val="solid"/>
          </a:ln>
          <a:effectLst>
            <a:outerShdw sx="100000" sy="100000" kx="0" ky="0" algn="bl" rotWithShape="0" blurRad="101600" dist="12700" dir="5400000">
              <a:srgbClr val="0B1F2A">
                <a:alpha val="10000"/>
              </a:srgbClr>
            </a:outerShdw>
          </a:effectLst>
        </p:spPr>
      </p:sp>
      <p:sp>
        <p:nvSpPr>
          <p:cNvPr id="14" name="Text 12"/>
          <p:cNvSpPr/>
          <p:nvPr/>
        </p:nvSpPr>
        <p:spPr>
          <a:xfrm>
            <a:off x="8362493" y="2167128"/>
            <a:ext cx="3106826" cy="219456"/>
          </a:xfrm>
          <a:prstGeom prst="rect">
            <a:avLst/>
          </a:prstGeom>
          <a:noFill/>
          <a:ln/>
        </p:spPr>
        <p:txBody>
          <a:bodyPr wrap="square" lIns="0" tIns="0" rIns="0" bIns="0" rtlCol="0" anchor="ctr"/>
          <a:lstStyle/>
          <a:p>
            <a:pPr indent="0" marL="0">
              <a:buNone/>
            </a:pPr>
            <a:r>
              <a:rPr lang="en-US" sz="900" b="1" spc="200" kern="0" dirty="0">
                <a:solidFill>
                  <a:srgbClr val="A33229"/>
                </a:solidFill>
                <a:latin typeface="Calibri" pitchFamily="34" charset="0"/>
                <a:ea typeface="Calibri" pitchFamily="34" charset="-122"/>
                <a:cs typeface="Calibri" pitchFamily="34" charset="-120"/>
              </a:rPr>
              <a:t>NOT CLAIMED</a:t>
            </a:r>
            <a:endParaRPr lang="en-US" sz="900" dirty="0"/>
          </a:p>
        </p:txBody>
      </p:sp>
      <p:sp>
        <p:nvSpPr>
          <p:cNvPr id="15" name="Text 13"/>
          <p:cNvSpPr/>
          <p:nvPr/>
        </p:nvSpPr>
        <p:spPr>
          <a:xfrm>
            <a:off x="8362493" y="2423160"/>
            <a:ext cx="3106826"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Stated plainly, in writing</a:t>
            </a:r>
            <a:endParaRPr lang="en-US" sz="1500" dirty="0"/>
          </a:p>
        </p:txBody>
      </p:sp>
      <p:sp>
        <p:nvSpPr>
          <p:cNvPr id="16" name="Text 14"/>
          <p:cNvSpPr/>
          <p:nvPr/>
        </p:nvSpPr>
        <p:spPr>
          <a:xfrm>
            <a:off x="8362493" y="2788920"/>
            <a:ext cx="3106826" cy="2670048"/>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We have not previously delivered a national flag-state registry or Maritime Single Window in production</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We hold no maritime-authority reference you can call today</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Any figure marked “Modelled” is a design target from a stated baseline, not a measured outcome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Why say this: because you will check. A reference that evaporates under diligence costs the bid and the relationship</a:t>
            </a:r>
            <a:endParaRPr lang="en-US" sz="1000" dirty="0"/>
          </a:p>
        </p:txBody>
      </p:sp>
      <p:sp>
        <p:nvSpPr>
          <p:cNvPr id="17" name="Text 15"/>
          <p:cNvSpPr/>
          <p:nvPr/>
        </p:nvSpPr>
        <p:spPr>
          <a:xfrm>
            <a:off x="502920" y="5806440"/>
            <a:ext cx="11185855" cy="457200"/>
          </a:xfrm>
          <a:prstGeom prst="rect">
            <a:avLst/>
          </a:prstGeom>
          <a:noFill/>
          <a:ln/>
        </p:spPr>
        <p:txBody>
          <a:bodyPr wrap="square" lIns="0" tIns="0" rIns="0" bIns="0" rtlCol="0" anchor="ctr"/>
          <a:lstStyle/>
          <a:p>
            <a:pPr indent="0" marL="0">
              <a:buNone/>
            </a:pPr>
            <a:r>
              <a:rPr lang="en-US" sz="1000" i="1" dirty="0">
                <a:solidFill>
                  <a:srgbClr val="A33229"/>
                </a:solidFill>
                <a:latin typeface="Calibri" pitchFamily="34" charset="0"/>
                <a:ea typeface="Calibri" pitchFamily="34" charset="-122"/>
                <a:cs typeface="Calibri" pitchFamily="34" charset="-120"/>
              </a:rPr>
              <a:t>Corporate credentials to insert before issue: years in operation · engineering headcount · ISO certifications held · named public-sector clients · largest system by users · uptime record — each with a document reference.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THE OFFER</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Eight weeks. Your data. One real service, in production shape.</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Rather than ask you to believe a case study, we propose you watch us build — on your own records, in your own environment, against exit criteria you write before we start.</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5855" cy="914400"/>
        </p:xfrm>
        <a:graphic>
          <a:graphicData uri="http://schemas.openxmlformats.org/drawingml/2006/table">
            <a:tbl>
              <a:tblPr/>
              <a:tblGrid>
                <a:gridCol w="777240"/>
                <a:gridCol w="1828800"/>
                <a:gridCol w="5120640"/>
                <a:gridCol w="3456432"/>
              </a:tblGrid>
              <a:tr h="566928">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Weeks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Stage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is produced</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you can check</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56692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Service catalogue &amp; fit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Your full service list marked Core / Configure / Extend / Build; target-state process for the chosen service; data-quality assessment of the source records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Whether we understood your regulation, or only its vocabulary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Configure the core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The chosen service standing up on the configured platform — forms, workflow, roles, fees, documents, bilingual labels — with no bespoke code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Exactly how much is configuration, measured rather than asserted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56692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5–6</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Real data &amp; integration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Migration of a representative record set; one live integration; the audit ledger populated with real transactions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Whether your legacy data survives contact with a modern data model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Agent on the service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One agent in Tier 1 — drafting for officer approval, every output cited, nothing auto-executed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Whether the AI claim is substantive or decorative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56692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Assessment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Officer-run acceptance against your criteria; security scan results; measured cycle time against the pre-pilot baseline; full-programme estimate grounded in observed velocity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Everything at once — against criteria you wrote in week 0</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5257800"/>
            <a:ext cx="3545738" cy="1143000"/>
          </a:xfrm>
          <a:prstGeom prst="roundRect">
            <a:avLst>
              <a:gd name="adj" fmla="val 48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22376" y="545896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You keep the output</a:t>
            </a:r>
            <a:endParaRPr lang="en-US" sz="1500" dirty="0"/>
          </a:p>
        </p:txBody>
      </p:sp>
      <p:sp>
        <p:nvSpPr>
          <p:cNvPr id="8" name="Text 5"/>
          <p:cNvSpPr/>
          <p:nvPr/>
        </p:nvSpPr>
        <p:spPr>
          <a:xfrm>
            <a:off x="722376" y="573328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Configuration, migrated data, integration code and documentation are yours at the end of week 8 — whether or not you proceed with us.</a:t>
            </a:r>
            <a:endParaRPr lang="en-US" sz="1000" dirty="0"/>
          </a:p>
        </p:txBody>
      </p:sp>
      <p:sp>
        <p:nvSpPr>
          <p:cNvPr id="9" name="Shape 6"/>
          <p:cNvSpPr/>
          <p:nvPr/>
        </p:nvSpPr>
        <p:spPr>
          <a:xfrm>
            <a:off x="4322978" y="5257800"/>
            <a:ext cx="3545738" cy="1143000"/>
          </a:xfrm>
          <a:prstGeom prst="roundRect">
            <a:avLst>
              <a:gd name="adj" fmla="val 48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7"/>
          <p:cNvSpPr/>
          <p:nvPr/>
        </p:nvSpPr>
        <p:spPr>
          <a:xfrm>
            <a:off x="4542434" y="545896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Exit criteria are yours</a:t>
            </a:r>
            <a:endParaRPr lang="en-US" sz="1500" dirty="0"/>
          </a:p>
        </p:txBody>
      </p:sp>
      <p:sp>
        <p:nvSpPr>
          <p:cNvPr id="11" name="Text 8"/>
          <p:cNvSpPr/>
          <p:nvPr/>
        </p:nvSpPr>
        <p:spPr>
          <a:xfrm>
            <a:off x="4542434" y="573328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Written and signed before week 1. We do not mark our own work, and we do not move the line in week 7.</a:t>
            </a:r>
            <a:endParaRPr lang="en-US" sz="1000" dirty="0"/>
          </a:p>
        </p:txBody>
      </p:sp>
      <p:sp>
        <p:nvSpPr>
          <p:cNvPr id="12" name="Shape 9"/>
          <p:cNvSpPr/>
          <p:nvPr/>
        </p:nvSpPr>
        <p:spPr>
          <a:xfrm>
            <a:off x="8143037" y="5257800"/>
            <a:ext cx="3545738" cy="1143000"/>
          </a:xfrm>
          <a:prstGeom prst="roundRect">
            <a:avLst>
              <a:gd name="adj" fmla="val 4800"/>
            </a:avLst>
          </a:prstGeom>
          <a:solidFill>
            <a:srgbClr val="FDFAF4"/>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13" name="Text 10"/>
          <p:cNvSpPr/>
          <p:nvPr/>
        </p:nvSpPr>
        <p:spPr>
          <a:xfrm>
            <a:off x="8362493" y="545896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Recommended first service</a:t>
            </a:r>
            <a:endParaRPr lang="en-US" sz="1500" dirty="0"/>
          </a:p>
        </p:txBody>
      </p:sp>
      <p:sp>
        <p:nvSpPr>
          <p:cNvPr id="14" name="Text 11"/>
          <p:cNvSpPr/>
          <p:nvPr/>
        </p:nvSpPr>
        <p:spPr>
          <a:xfrm>
            <a:off x="8362493" y="573328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Small-craft registration or a single PSC inspection flow — high volume, well-bounded, low political risk, touching every layer.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PROGRAMME ROADMAP</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Sequenced so value lands before the hard integrations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The registry comes first because everything else references it. Port and centre integrations come later because they depend on external parties whose timelines you do not fully control — and a programme that front-loads those stalls in month three.</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85855" cy="914400"/>
        </p:xfrm>
        <a:graphic>
          <a:graphicData uri="http://schemas.openxmlformats.org/drawingml/2006/table">
            <a:tbl>
              <a:tblPr/>
              <a:tblGrid>
                <a:gridCol w="1234440"/>
                <a:gridCol w="1828800"/>
                <a:gridCol w="2651760"/>
                <a:gridCol w="3566160"/>
                <a:gridCol w="1901952"/>
              </a:tblGrid>
              <a:tr h="475488">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Scope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Domains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Goes live with</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External dependency</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0 · Wk 1–8</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Proof of capability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One service, one agent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 working service on real data</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1 · Mo 3–8</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Registry foundation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Ships · Facilities &amp; companies · Instrument base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Registration, certification, licensing, instrument base, public portal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Data migration; national SSO</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2 · Mo 7–13</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Competency &amp; field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Seafarers · Inspection &amp; audit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STCW certification, inspector mobile app, FSI and PSC, risk targeting</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Phase 1 registry; device rollout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3 · Mo 12–20</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Port &amp; single window</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Ports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FAL single window, port call lifecycle, tariffs, agency clearance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Customs, immigration, health, port bodies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4 · Mo 16–24</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Operations centre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National Maritime Centre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Fused tracking, incident and SAR, casualty, security levels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AIS/LRIT/VTS feeds; inter-agency accords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5 · Continuous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Agent expansion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All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Agents promoted tier by tier as evidence accumulates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Measured accuracy; governance approval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bl>
          </a:graphicData>
        </a:graphic>
      </p:graphicFrame>
      <p:sp>
        <p:nvSpPr>
          <p:cNvPr id="6" name="Shape 3"/>
          <p:cNvSpPr/>
          <p:nvPr/>
        </p:nvSpPr>
        <p:spPr>
          <a:xfrm>
            <a:off x="502920" y="5349240"/>
            <a:ext cx="2590724" cy="1097280"/>
          </a:xfrm>
          <a:prstGeom prst="roundRect">
            <a:avLst>
              <a:gd name="adj" fmla="val 50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22376" y="5550408"/>
            <a:ext cx="2151812" cy="256032"/>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Governance</a:t>
            </a:r>
            <a:endParaRPr lang="en-US" sz="1500" dirty="0"/>
          </a:p>
        </p:txBody>
      </p:sp>
      <p:sp>
        <p:nvSpPr>
          <p:cNvPr id="8" name="Text 5"/>
          <p:cNvSpPr/>
          <p:nvPr/>
        </p:nvSpPr>
        <p:spPr>
          <a:xfrm>
            <a:off x="722376" y="5806440"/>
            <a:ext cx="2151812" cy="731520"/>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Joint steering committee monthly; your programme director holds scope. Phase gates are signed by you, not reported to you.</a:t>
            </a:r>
            <a:endParaRPr lang="en-US" sz="950" dirty="0"/>
          </a:p>
        </p:txBody>
      </p:sp>
      <p:sp>
        <p:nvSpPr>
          <p:cNvPr id="9" name="Shape 6"/>
          <p:cNvSpPr/>
          <p:nvPr/>
        </p:nvSpPr>
        <p:spPr>
          <a:xfrm>
            <a:off x="3367964" y="5349240"/>
            <a:ext cx="2590724" cy="1097280"/>
          </a:xfrm>
          <a:prstGeom prst="roundRect">
            <a:avLst>
              <a:gd name="adj" fmla="val 50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0" name="Text 7"/>
          <p:cNvSpPr/>
          <p:nvPr/>
        </p:nvSpPr>
        <p:spPr>
          <a:xfrm>
            <a:off x="3587420" y="5550408"/>
            <a:ext cx="2151812" cy="256032"/>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Team</a:t>
            </a:r>
            <a:endParaRPr lang="en-US" sz="1500" dirty="0"/>
          </a:p>
        </p:txBody>
      </p:sp>
      <p:sp>
        <p:nvSpPr>
          <p:cNvPr id="11" name="Text 8"/>
          <p:cNvSpPr/>
          <p:nvPr/>
        </p:nvSpPr>
        <p:spPr>
          <a:xfrm>
            <a:off x="3587420" y="5806440"/>
            <a:ext cx="2151812" cy="731520"/>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Named individuals with committed allocation, not a rate card. Substitution requires your approval.</a:t>
            </a:r>
            <a:endParaRPr lang="en-US" sz="950" dirty="0"/>
          </a:p>
        </p:txBody>
      </p:sp>
      <p:sp>
        <p:nvSpPr>
          <p:cNvPr id="12" name="Shape 9"/>
          <p:cNvSpPr/>
          <p:nvPr/>
        </p:nvSpPr>
        <p:spPr>
          <a:xfrm>
            <a:off x="6233008" y="5349240"/>
            <a:ext cx="2590724" cy="1097280"/>
          </a:xfrm>
          <a:prstGeom prst="roundRect">
            <a:avLst>
              <a:gd name="adj" fmla="val 50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3" name="Text 10"/>
          <p:cNvSpPr/>
          <p:nvPr/>
        </p:nvSpPr>
        <p:spPr>
          <a:xfrm>
            <a:off x="6452464" y="5550408"/>
            <a:ext cx="2151812" cy="256032"/>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Transfer</a:t>
            </a:r>
            <a:endParaRPr lang="en-US" sz="1500" dirty="0"/>
          </a:p>
        </p:txBody>
      </p:sp>
      <p:sp>
        <p:nvSpPr>
          <p:cNvPr id="14" name="Text 11"/>
          <p:cNvSpPr/>
          <p:nvPr/>
        </p:nvSpPr>
        <p:spPr>
          <a:xfrm>
            <a:off x="6452464" y="5806440"/>
            <a:ext cx="2151812" cy="731520"/>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Your engineers embedded from Phase 1, not briefed at handover. Source and documentation in your repository throughout.</a:t>
            </a:r>
            <a:endParaRPr lang="en-US" sz="950" dirty="0"/>
          </a:p>
        </p:txBody>
      </p:sp>
      <p:sp>
        <p:nvSpPr>
          <p:cNvPr id="15" name="Shape 12"/>
          <p:cNvSpPr/>
          <p:nvPr/>
        </p:nvSpPr>
        <p:spPr>
          <a:xfrm>
            <a:off x="9098051" y="5349240"/>
            <a:ext cx="2590724" cy="1097280"/>
          </a:xfrm>
          <a:prstGeom prst="roundRect">
            <a:avLst>
              <a:gd name="adj" fmla="val 5000"/>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6" name="Text 13"/>
          <p:cNvSpPr/>
          <p:nvPr/>
        </p:nvSpPr>
        <p:spPr>
          <a:xfrm>
            <a:off x="9317507" y="5550408"/>
            <a:ext cx="2151812" cy="256032"/>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Exit</a:t>
            </a:r>
            <a:endParaRPr lang="en-US" sz="1500" dirty="0"/>
          </a:p>
        </p:txBody>
      </p:sp>
      <p:sp>
        <p:nvSpPr>
          <p:cNvPr id="17" name="Text 14"/>
          <p:cNvSpPr/>
          <p:nvPr/>
        </p:nvSpPr>
        <p:spPr>
          <a:xfrm>
            <a:off x="9317507" y="5806440"/>
            <a:ext cx="2151812" cy="731520"/>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Source-code escrow, documented runbooks, and a defined transition to your team or another supplier. Priced in, not negotiated later.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0E7C86"/>
                </a:solidFill>
                <a:latin typeface="Calibri" pitchFamily="34" charset="0"/>
                <a:ea typeface="Calibri" pitchFamily="34" charset="-122"/>
                <a:cs typeface="Calibri" pitchFamily="34" charset="-120"/>
              </a:rPr>
              <a:t>RISK REGISTER</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The risks in this programme, including the one that is us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A risk register that omits the supplier is not a risk register. Ours is listed first, with the mitigation you are entitled to demand.</a:t>
            </a:r>
            <a:endParaRPr lang="en-US" sz="12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11185855" cy="914400"/>
        </p:xfrm>
        <a:graphic>
          <a:graphicData uri="http://schemas.openxmlformats.org/drawingml/2006/table">
            <a:tbl>
              <a:tblPr/>
              <a:tblGrid>
                <a:gridCol w="2834640"/>
                <a:gridCol w="960120"/>
                <a:gridCol w="777240"/>
                <a:gridCol w="6611112"/>
              </a:tblGrid>
              <a:tr h="420624">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Likelihood</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Impact</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420624">
                <a:tc>
                  <a:txBody>
                    <a:bodyPr/>
                    <a:lstStyle/>
                    <a:p>
                      <a:pPr indent="0" marL="0">
                        <a:buNone/>
                      </a:pPr>
                      <a:r>
                        <a:rPr lang="en-US" sz="950" b="1" dirty="0">
                          <a:solidFill>
                            <a:srgbClr val="A33229"/>
                          </a:solidFill>
                          <a:latin typeface="Calibri" pitchFamily="34" charset="0"/>
                          <a:ea typeface="Calibri" pitchFamily="34" charset="-122"/>
                          <a:cs typeface="Calibri" pitchFamily="34" charset="-120"/>
                        </a:rPr>
                        <a:t>Supplier has no maritime production record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A33229"/>
                          </a:solidFill>
                          <a:latin typeface="Calibri" pitchFamily="34" charset="0"/>
                          <a:ea typeface="Calibri" pitchFamily="34" charset="-122"/>
                          <a:cs typeface="Calibri" pitchFamily="34" charset="-120"/>
                        </a:rPr>
                        <a:t>Certain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Phase 0 proof of capability on your data with your exit criteria; payment gated on phase acceptance; source and configuration in your repository from day one; escrow and a costed exit path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Legacy registry data incomplete or inconsistent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Data-quality assessment in Phase 0 before commitments are priced; migration with reconciliation reporting; a jointly owned remediation workstream, never silently absorbed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Inter-agency dependencies stall the single window</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Sequenced to Phase 3 after value has landed; agency onboarding tracked as a named dependency; the platform runs without any given agency, degraded rather than blocked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Officers do not adopt the field app</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Surveyors in the design from week 1; offline-first because a berth has no signal; must be faster than the paper form on day one or it has failed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AI output trusted beyond its evidence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Autonomy tiers enforced technically, not by policy; mandatory citation; a standing accuracy review that can demote an agent’s tier</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Regulation changes mid-programme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The instrument base is the point — regulatory change is configuration, not a change request; the regulatory-intelligence agent surfaces the impact list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Scope expands beyond the phase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The Core/Configure/Extend/Build catalogue is the scope baseline; anything marked Build enters a later phase by decision, not by drift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External data feeds carry commercial terms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Satellite AIS, SAR tasking and commercial ship databases priced as pass-through and named in the commercial schedule — not discovered in year 2</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42062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Key-person dependency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Named team with committed allocation; paired roles on every critical component; your engineers embedded from Phase 1</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620"/>
        </a:solidFill>
      </p:bgPr>
    </p:bg>
    <p:spTree>
      <p:nvGrpSpPr>
        <p:cNvPr id="1" name=""/>
        <p:cNvGrpSpPr/>
        <p:nvPr/>
      </p:nvGrpSpPr>
      <p:grpSpPr>
        <a:xfrm>
          <a:off x="0" y="0"/>
          <a:ext cx="0" cy="0"/>
          <a:chOff x="0" y="0"/>
          <a:chExt cx="0" cy="0"/>
        </a:xfrm>
      </p:grpSpPr>
      <p:sp>
        <p:nvSpPr>
          <p:cNvPr id="2" name="Text 0"/>
          <p:cNvSpPr/>
          <p:nvPr/>
        </p:nvSpPr>
        <p:spPr>
          <a:xfrm>
            <a:off x="502920" y="2286000"/>
            <a:ext cx="11185855" cy="320040"/>
          </a:xfrm>
          <a:prstGeom prst="rect">
            <a:avLst/>
          </a:prstGeom>
          <a:noFill/>
          <a:ln/>
        </p:spPr>
        <p:txBody>
          <a:bodyPr wrap="square" lIns="0" tIns="0" rIns="0" bIns="0" rtlCol="0" anchor="ctr"/>
          <a:lstStyle/>
          <a:p>
            <a:pPr indent="0" marL="0">
              <a:buNone/>
            </a:pPr>
            <a:r>
              <a:rPr lang="en-US" sz="1200" b="1" spc="400" kern="0" dirty="0">
                <a:solidFill>
                  <a:srgbClr val="E8B155"/>
                </a:solidFill>
                <a:latin typeface="Calibri" pitchFamily="34" charset="0"/>
                <a:ea typeface="Calibri" pitchFamily="34" charset="-122"/>
                <a:cs typeface="Calibri" pitchFamily="34" charset="-120"/>
              </a:rPr>
              <a:t>PART III</a:t>
            </a:r>
            <a:endParaRPr lang="en-US" sz="1200" dirty="0"/>
          </a:p>
        </p:txBody>
      </p:sp>
      <p:sp>
        <p:nvSpPr>
          <p:cNvPr id="3" name="Text 1"/>
          <p:cNvSpPr/>
          <p:nvPr/>
        </p:nvSpPr>
        <p:spPr>
          <a:xfrm>
            <a:off x="502920" y="2697480"/>
            <a:ext cx="8948684"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Agentic AI</a:t>
            </a:r>
            <a:endParaRPr lang="en-US" sz="4200" dirty="0"/>
          </a:p>
        </p:txBody>
      </p:sp>
      <p:sp>
        <p:nvSpPr>
          <p:cNvPr id="4" name="Text 2"/>
          <p:cNvSpPr/>
          <p:nvPr/>
        </p:nvSpPr>
        <p:spPr>
          <a:xfrm>
            <a:off x="502920" y="3749040"/>
            <a:ext cx="6935230" cy="731520"/>
          </a:xfrm>
          <a:prstGeom prst="rect">
            <a:avLst/>
          </a:prstGeom>
          <a:noFill/>
          <a:ln/>
        </p:spPr>
        <p:txBody>
          <a:bodyPr wrap="square" lIns="0" tIns="0" rIns="0" bIns="0" rtlCol="0" anchor="ctr"/>
          <a:lstStyle/>
          <a:p>
            <a:pPr indent="0" marL="0">
              <a:lnSpc>
                <a:spcPct val="120000"/>
              </a:lnSpc>
              <a:buNone/>
            </a:pPr>
            <a:r>
              <a:rPr lang="en-US" sz="1400" dirty="0">
                <a:solidFill>
                  <a:srgbClr val="AAC1C7"/>
                </a:solidFill>
                <a:latin typeface="Calibri" pitchFamily="34" charset="0"/>
                <a:ea typeface="Calibri" pitchFamily="34" charset="-122"/>
                <a:cs typeface="Calibri" pitchFamily="34" charset="-120"/>
              </a:rPr>
              <a:t>Ten scoped agents, four enforced autonomy tiers, mandatory citation, and an audit ledger designed before the agent.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A96F12"/>
                </a:solidFill>
                <a:latin typeface="Calibri" pitchFamily="34" charset="0"/>
                <a:ea typeface="Calibri" pitchFamily="34" charset="-122"/>
                <a:cs typeface="Calibri" pitchFamily="34" charset="-120"/>
              </a:rPr>
              <a:t>NOT BOLTED ON</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AI-native means the work arrives assembled</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Bolted-on AI adds a chat box to a form. AI-native changes what lands on the officer’s desk: not an application to process, but a dossier already read, cross-checked, sourced and flagged — with the decision left, deliberately, to the officer.</a:t>
            </a:r>
            <a:endParaRPr lang="en-US" sz="1250" dirty="0"/>
          </a:p>
        </p:txBody>
      </p:sp>
      <p:sp>
        <p:nvSpPr>
          <p:cNvPr id="5" name="Shape 3"/>
          <p:cNvSpPr/>
          <p:nvPr/>
        </p:nvSpPr>
        <p:spPr>
          <a:xfrm>
            <a:off x="502920" y="2148840"/>
            <a:ext cx="5410048" cy="2606040"/>
          </a:xfrm>
          <a:prstGeom prst="roundRect">
            <a:avLst>
              <a:gd name="adj" fmla="val 2105"/>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350008"/>
            <a:ext cx="4971136" cy="219456"/>
          </a:xfrm>
          <a:prstGeom prst="rect">
            <a:avLst/>
          </a:prstGeom>
          <a:noFill/>
          <a:ln/>
        </p:spPr>
        <p:txBody>
          <a:bodyPr wrap="square" lIns="0" tIns="0" rIns="0" bIns="0" rtlCol="0" anchor="ctr"/>
          <a:lstStyle/>
          <a:p>
            <a:pPr indent="0" marL="0">
              <a:buNone/>
            </a:pPr>
            <a:r>
              <a:rPr lang="en-US" sz="900" b="1" spc="200" kern="0" dirty="0">
                <a:solidFill>
                  <a:srgbClr val="6B838E"/>
                </a:solidFill>
                <a:latin typeface="Calibri" pitchFamily="34" charset="0"/>
                <a:ea typeface="Calibri" pitchFamily="34" charset="-122"/>
                <a:cs typeface="Calibri" pitchFamily="34" charset="-120"/>
              </a:rPr>
              <a:t>BOLTED ON</a:t>
            </a:r>
            <a:endParaRPr lang="en-US" sz="900" dirty="0"/>
          </a:p>
        </p:txBody>
      </p:sp>
      <p:sp>
        <p:nvSpPr>
          <p:cNvPr id="7" name="Text 5"/>
          <p:cNvSpPr/>
          <p:nvPr/>
        </p:nvSpPr>
        <p:spPr>
          <a:xfrm>
            <a:off x="722376" y="2606040"/>
            <a:ext cx="4971136"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A chatbot beside the queue</a:t>
            </a:r>
            <a:endParaRPr lang="en-US" sz="1500" dirty="0"/>
          </a:p>
        </p:txBody>
      </p:sp>
      <p:sp>
        <p:nvSpPr>
          <p:cNvPr id="8" name="Text 6"/>
          <p:cNvSpPr/>
          <p:nvPr/>
        </p:nvSpPr>
        <p:spPr>
          <a:xfrm>
            <a:off x="722376" y="2971800"/>
            <a:ext cx="4971136" cy="1618488"/>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Answers questions about the process; does no part of it</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Reads a knowledge base, not the live case record</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Cannot act, so its accuracy is never tested by consequence</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Officer workload unchanged — the queue is the same length tomorrow</a:t>
            </a:r>
            <a:endParaRPr lang="en-US" sz="1100" dirty="0"/>
          </a:p>
          <a:p>
            <a:pPr marL="342900" indent="-342900">
              <a:lnSpc>
                <a:spcPct val="108000"/>
              </a:lnSpc>
              <a:spcAft>
                <a:spcPts val="500"/>
              </a:spcAft>
              <a:buSzPct val="100000"/>
              <a:buChar char="•"/>
            </a:pPr>
            <a:r>
              <a:rPr lang="en-US" sz="1100" dirty="0">
                <a:solidFill>
                  <a:srgbClr val="3E5561"/>
                </a:solidFill>
                <a:latin typeface="Calibri" pitchFamily="34" charset="0"/>
                <a:ea typeface="Calibri" pitchFamily="34" charset="-122"/>
                <a:cs typeface="Calibri" pitchFamily="34" charset="-120"/>
              </a:rPr>
              <a:t>Impressive in the demonstration, unused by month four</a:t>
            </a:r>
            <a:endParaRPr lang="en-US" sz="1100" dirty="0"/>
          </a:p>
        </p:txBody>
      </p:sp>
      <p:sp>
        <p:nvSpPr>
          <p:cNvPr id="9" name="Shape 7"/>
          <p:cNvSpPr/>
          <p:nvPr/>
        </p:nvSpPr>
        <p:spPr>
          <a:xfrm>
            <a:off x="6278728" y="2148840"/>
            <a:ext cx="5410048" cy="2606040"/>
          </a:xfrm>
          <a:prstGeom prst="roundRect">
            <a:avLst>
              <a:gd name="adj" fmla="val 2105"/>
            </a:avLst>
          </a:prstGeom>
          <a:solidFill>
            <a:srgbClr val="FDFAF4"/>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10" name="Text 8"/>
          <p:cNvSpPr/>
          <p:nvPr/>
        </p:nvSpPr>
        <p:spPr>
          <a:xfrm>
            <a:off x="6498184" y="2350008"/>
            <a:ext cx="4971136" cy="219456"/>
          </a:xfrm>
          <a:prstGeom prst="rect">
            <a:avLst/>
          </a:prstGeom>
          <a:noFill/>
          <a:ln/>
        </p:spPr>
        <p:txBody>
          <a:bodyPr wrap="square" lIns="0" tIns="0" rIns="0" bIns="0" rtlCol="0" anchor="ctr"/>
          <a:lstStyle/>
          <a:p>
            <a:pPr indent="0" marL="0">
              <a:buNone/>
            </a:pPr>
            <a:r>
              <a:rPr lang="en-US" sz="900" b="1" spc="200" kern="0" dirty="0">
                <a:solidFill>
                  <a:srgbClr val="A96F12"/>
                </a:solidFill>
                <a:latin typeface="Calibri" pitchFamily="34" charset="0"/>
                <a:ea typeface="Calibri" pitchFamily="34" charset="-122"/>
                <a:cs typeface="Calibri" pitchFamily="34" charset="-120"/>
              </a:rPr>
              <a:t>AI-NATIVE</a:t>
            </a:r>
            <a:endParaRPr lang="en-US" sz="900" dirty="0"/>
          </a:p>
        </p:txBody>
      </p:sp>
      <p:sp>
        <p:nvSpPr>
          <p:cNvPr id="11" name="Text 9"/>
          <p:cNvSpPr/>
          <p:nvPr/>
        </p:nvSpPr>
        <p:spPr>
          <a:xfrm>
            <a:off x="6498184" y="2606040"/>
            <a:ext cx="4971136" cy="36576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Agents inside the workflow</a:t>
            </a:r>
            <a:endParaRPr lang="en-US" sz="1500" dirty="0"/>
          </a:p>
        </p:txBody>
      </p:sp>
      <p:sp>
        <p:nvSpPr>
          <p:cNvPr id="12" name="Text 10"/>
          <p:cNvSpPr/>
          <p:nvPr/>
        </p:nvSpPr>
        <p:spPr>
          <a:xfrm>
            <a:off x="6498184" y="2971800"/>
            <a:ext cx="4971136" cy="1618488"/>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An application enters the queue already assessed — documents read, entities extracted, registry cross-checked, gaps listed</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Every assertion carries a citation to the record or instrument that supports it</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Findings are ranked, and the uncertain ones are flagged as uncertain rather than smoothed over</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The officer’s first action is a judgement, not thirty minutes of assembly</a:t>
            </a:r>
            <a:endParaRPr lang="en-US" sz="1050" dirty="0"/>
          </a:p>
          <a:p>
            <a:pPr marL="342900" indent="-342900">
              <a:lnSpc>
                <a:spcPct val="108000"/>
              </a:lnSpc>
              <a:spcAft>
                <a:spcPts val="500"/>
              </a:spcAft>
              <a:buSzPct val="100000"/>
              <a:buChar char="•"/>
            </a:pPr>
            <a:r>
              <a:rPr lang="en-US" sz="1050" dirty="0">
                <a:solidFill>
                  <a:srgbClr val="3E5561"/>
                </a:solidFill>
                <a:latin typeface="Calibri" pitchFamily="34" charset="0"/>
                <a:ea typeface="Calibri" pitchFamily="34" charset="-122"/>
                <a:cs typeface="Calibri" pitchFamily="34" charset="-120"/>
              </a:rPr>
              <a:t>Accuracy is measured continuously, because it acts and the outcome is observable</a:t>
            </a:r>
            <a:endParaRPr lang="en-US" sz="1050" dirty="0"/>
          </a:p>
        </p:txBody>
      </p:sp>
      <p:sp>
        <p:nvSpPr>
          <p:cNvPr id="13" name="Shape 11"/>
          <p:cNvSpPr/>
          <p:nvPr/>
        </p:nvSpPr>
        <p:spPr>
          <a:xfrm>
            <a:off x="502920" y="5074920"/>
            <a:ext cx="3545738" cy="1325880"/>
          </a:xfrm>
          <a:prstGeom prst="roundRect">
            <a:avLst>
              <a:gd name="adj" fmla="val 413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4" name="Text 12"/>
          <p:cNvSpPr/>
          <p:nvPr/>
        </p:nvSpPr>
        <p:spPr>
          <a:xfrm>
            <a:off x="722376" y="527608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Grounded, not generative</a:t>
            </a:r>
            <a:endParaRPr lang="en-US" sz="1500" dirty="0"/>
          </a:p>
        </p:txBody>
      </p:sp>
      <p:sp>
        <p:nvSpPr>
          <p:cNvPr id="15" name="Text 13"/>
          <p:cNvSpPr/>
          <p:nvPr/>
        </p:nvSpPr>
        <p:spPr>
          <a:xfrm>
            <a:off x="722376" y="555040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Regulatory outputs are produced against the instrument base and the case record with mandatory citation. An assertion with no source is a defect, and is treated as one.</a:t>
            </a:r>
            <a:endParaRPr lang="en-US" sz="1000" dirty="0"/>
          </a:p>
        </p:txBody>
      </p:sp>
      <p:sp>
        <p:nvSpPr>
          <p:cNvPr id="16" name="Shape 14"/>
          <p:cNvSpPr/>
          <p:nvPr/>
        </p:nvSpPr>
        <p:spPr>
          <a:xfrm>
            <a:off x="4322978" y="5074920"/>
            <a:ext cx="3545738" cy="1325880"/>
          </a:xfrm>
          <a:prstGeom prst="roundRect">
            <a:avLst>
              <a:gd name="adj" fmla="val 413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7" name="Text 15"/>
          <p:cNvSpPr/>
          <p:nvPr/>
        </p:nvSpPr>
        <p:spPr>
          <a:xfrm>
            <a:off x="4542434" y="527608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Deterministic where it belongs</a:t>
            </a:r>
            <a:endParaRPr lang="en-US" sz="1500" dirty="0"/>
          </a:p>
        </p:txBody>
      </p:sp>
      <p:sp>
        <p:nvSpPr>
          <p:cNvPr id="18" name="Text 16"/>
          <p:cNvSpPr/>
          <p:nvPr/>
        </p:nvSpPr>
        <p:spPr>
          <a:xfrm>
            <a:off x="4542434" y="555040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Fee calculation, certificate applicability and risk weighting are rules, not inference. Agents read, reason and draft; they do not compute what a rule engine should compute.</a:t>
            </a:r>
            <a:endParaRPr lang="en-US" sz="1000" dirty="0"/>
          </a:p>
        </p:txBody>
      </p:sp>
      <p:sp>
        <p:nvSpPr>
          <p:cNvPr id="19" name="Shape 17"/>
          <p:cNvSpPr/>
          <p:nvPr/>
        </p:nvSpPr>
        <p:spPr>
          <a:xfrm>
            <a:off x="8143037" y="5074920"/>
            <a:ext cx="3545738" cy="1325880"/>
          </a:xfrm>
          <a:prstGeom prst="roundRect">
            <a:avLst>
              <a:gd name="adj" fmla="val 413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20" name="Text 18"/>
          <p:cNvSpPr/>
          <p:nvPr/>
        </p:nvSpPr>
        <p:spPr>
          <a:xfrm>
            <a:off x="8362493" y="5276088"/>
            <a:ext cx="3106826" cy="274320"/>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Bilingual throughout</a:t>
            </a:r>
            <a:endParaRPr lang="en-US" sz="1500" dirty="0"/>
          </a:p>
        </p:txBody>
      </p:sp>
      <p:sp>
        <p:nvSpPr>
          <p:cNvPr id="21" name="Text 19"/>
          <p:cNvSpPr/>
          <p:nvPr/>
        </p:nvSpPr>
        <p:spPr>
          <a:xfrm>
            <a:off x="8362493" y="5550408"/>
            <a:ext cx="3106826" cy="731520"/>
          </a:xfrm>
          <a:prstGeom prst="rect">
            <a:avLst/>
          </a:prstGeom>
          <a:noFill/>
          <a:ln/>
        </p:spPr>
        <p:txBody>
          <a:bodyPr wrap="square" lIns="0" tIns="0" rIns="0" bIns="0" rtlCol="0" anchor="t"/>
          <a:lstStyle/>
          <a:p>
            <a:pPr indent="0" marL="0">
              <a:lnSpc>
                <a:spcPct val="114000"/>
              </a:lnSpc>
              <a:buNone/>
            </a:pPr>
            <a:r>
              <a:rPr lang="en-US" sz="1000" dirty="0">
                <a:solidFill>
                  <a:srgbClr val="3E5561"/>
                </a:solidFill>
                <a:latin typeface="Calibri" pitchFamily="34" charset="0"/>
                <a:ea typeface="Calibri" pitchFamily="34" charset="-122"/>
                <a:cs typeface="Calibri" pitchFamily="34" charset="-120"/>
              </a:rPr>
              <a:t>Arabic and English are equal citizens — in the instrument base, in agent reasoning, in generated circulars and in the citizen assistant. Not an English system with a translation layer.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A96F12"/>
                </a:solidFill>
                <a:latin typeface="Calibri" pitchFamily="34" charset="0"/>
                <a:ea typeface="Calibri" pitchFamily="34" charset="-122"/>
                <a:cs typeface="Calibri" pitchFamily="34" charset="-120"/>
              </a:rPr>
              <a:t>THE AGENT MESH</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Ten agents, each with a scope narrow enough to govern</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One general-purpose assistant across a maritime administration is ungovernable — you cannot audit it, tier it, or demote it. Ten narrow agents can each be measured, evidenced and promoted independently.</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194560"/>
          <a:ext cx="11185855" cy="914400"/>
        </p:xfrm>
        <a:graphic>
          <a:graphicData uri="http://schemas.openxmlformats.org/drawingml/2006/table">
            <a:tbl>
              <a:tblPr/>
              <a:tblGrid>
                <a:gridCol w="457200"/>
                <a:gridCol w="1737360"/>
                <a:gridCol w="731520"/>
                <a:gridCol w="7452360"/>
                <a:gridCol w="804672"/>
              </a:tblGrid>
              <a:tr h="365760">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Domain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it does, end to end</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Launch tier</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Registry</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Reads builder’s certificate, bill of sale and deletion certificate; validates ship particulars; cross-checks IMO number and prior flag; walks the ownership chain and screens it against sanctions lists; returns a decision-ready dossier with every gap named</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02</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Certification</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Derives the statutory certificate set for the vessel’s type, tonnage and trade; holds HSSC survey windows; opens renewal tasks ahead of expiry; detects endorsements outside their permitted window</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03</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Risk &amp; targeting</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Recomputes ship risk profiles as evidence arrives; produces the daily targeting list against arrivals; explains every placement by factor; proposes weighting changes with a backtest, never applying them itself</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2</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04</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Inspection copilot</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Briefs the surveyor before boarding on this ship’s history and its sister vessels’ recurring deficiencies; suggests deficiency codes from photograph and note; drafts the report and detention justification against convention references</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Regulatory intelligence</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03</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Watches IMO, MoU and class circular feeds; diffs each change against the national instrument base; produces the downstream impact list; drafts the national circular in Arabic and English</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2</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06</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Seafarer verification</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02</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Validates certificate authenticity with the issuing administration; tests declared sea service against vessel movement history and crew lists; detects tampering; runs STCW gap analysis before endorsement</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07</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Port call orchestrator</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06</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Reconciles FAL declarations across agent, customs, immigration and health submissions; catches missing or contradictory data before arrival rather than at the berth; sequences pilot, tug and berth</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08</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Domain awareness</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04</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Scores AIS gaps, spoofing indicators, ship-to-ship transfers and voyage deviation; corroborates across sources; raises attention with a stated confidence — and never initiates enforcement</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3</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09</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Licensing</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07</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Tests completeness and eligibility against the licence matrix; schedules the inspection; drafts the technical evaluation; tracks conditions and prompts renewal before lapse</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3E5561"/>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Service assistant</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All</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The bilingual front door for owners, agents, seafarers and companies — explains requirements, pre-fills forms from held records, answers status queries, escalates to a named officer with full context</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00" dirty="0">
                          <a:solidFill>
                            <a:srgbClr val="3E5561"/>
                          </a:solidFill>
                          <a:latin typeface="Calibri" pitchFamily="34" charset="0"/>
                          <a:ea typeface="Calibri" pitchFamily="34" charset="-122"/>
                          <a:cs typeface="Calibri" pitchFamily="34" charset="-120"/>
                        </a:rPr>
                        <a:t>Tier 0/1</a:t>
                      </a:r>
                      <a:endParaRPr lang="en-US" sz="9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bl>
          </a:graphicData>
        </a:graphic>
      </p:graphicFrame>
      <p:sp>
        <p:nvSpPr>
          <p:cNvPr id="6" name="Text 3"/>
          <p:cNvSpPr/>
          <p:nvPr/>
        </p:nvSpPr>
        <p:spPr>
          <a:xfrm>
            <a:off x="502920" y="6035040"/>
            <a:ext cx="11185855" cy="365760"/>
          </a:xfrm>
          <a:prstGeom prst="rect">
            <a:avLst/>
          </a:prstGeom>
          <a:noFill/>
          <a:ln/>
        </p:spPr>
        <p:txBody>
          <a:bodyPr wrap="square" lIns="0" tIns="0" rIns="0" bIns="0" rtlCol="0" anchor="ctr"/>
          <a:lstStyle/>
          <a:p>
            <a:pPr indent="0" marL="0">
              <a:buNone/>
            </a:pPr>
            <a:r>
              <a:rPr lang="en-US" sz="1050" i="1" dirty="0">
                <a:solidFill>
                  <a:srgbClr val="3E5561"/>
                </a:solidFill>
                <a:latin typeface="Calibri" pitchFamily="34" charset="0"/>
                <a:ea typeface="Calibri" pitchFamily="34" charset="-122"/>
                <a:cs typeface="Calibri" pitchFamily="34" charset="-120"/>
              </a:rPr>
              <a:t>Scoped authority. Each agent’s tool set is an explicit allow-list, enforced at the gateway rather than requested in a prompt. The inspection copilot cannot alter a registry record; the service assistant cannot read enforcement files.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A96F12"/>
                </a:solidFill>
                <a:latin typeface="Calibri" pitchFamily="34" charset="0"/>
                <a:ea typeface="Calibri" pitchFamily="34" charset="-122"/>
                <a:cs typeface="Calibri" pitchFamily="34" charset="-120"/>
              </a:rPr>
              <a:t>AUTONOMY</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Four tiers, enforced in code, earned with evidence</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“Human in the loop” is a slogan until you say precisely which loop and which human. These four tiers are technical settings on each agent — and an agent moves up only on measured accuracy, approved by your governance board.</a:t>
            </a:r>
            <a:endParaRPr lang="en-US" sz="1250" dirty="0"/>
          </a:p>
        </p:txBody>
      </p:sp>
      <p:sp>
        <p:nvSpPr>
          <p:cNvPr id="5" name="Shape 3"/>
          <p:cNvSpPr/>
          <p:nvPr/>
        </p:nvSpPr>
        <p:spPr>
          <a:xfrm>
            <a:off x="502920" y="2194560"/>
            <a:ext cx="2590724" cy="3310128"/>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6" name="Text 4"/>
          <p:cNvSpPr/>
          <p:nvPr/>
        </p:nvSpPr>
        <p:spPr>
          <a:xfrm>
            <a:off x="722376" y="2395728"/>
            <a:ext cx="2151812" cy="219456"/>
          </a:xfrm>
          <a:prstGeom prst="rect">
            <a:avLst/>
          </a:prstGeom>
          <a:noFill/>
          <a:ln/>
        </p:spPr>
        <p:txBody>
          <a:bodyPr wrap="square" lIns="0" tIns="0" rIns="0" bIns="0" rtlCol="0" anchor="ctr"/>
          <a:lstStyle/>
          <a:p>
            <a:pPr indent="0" marL="0">
              <a:buNone/>
            </a:pPr>
            <a:r>
              <a:rPr lang="en-US" sz="900" b="1" spc="200" kern="0" dirty="0">
                <a:solidFill>
                  <a:srgbClr val="2C6E52"/>
                </a:solidFill>
                <a:latin typeface="Calibri" pitchFamily="34" charset="0"/>
                <a:ea typeface="Calibri" pitchFamily="34" charset="-122"/>
                <a:cs typeface="Calibri" pitchFamily="34" charset="-120"/>
              </a:rPr>
              <a:t>TIER 0 — AUTONOMOUS</a:t>
            </a:r>
            <a:endParaRPr lang="en-US" sz="900" dirty="0"/>
          </a:p>
        </p:txBody>
      </p:sp>
      <p:sp>
        <p:nvSpPr>
          <p:cNvPr id="7" name="Text 5"/>
          <p:cNvSpPr/>
          <p:nvPr/>
        </p:nvSpPr>
        <p:spPr>
          <a:xfrm>
            <a:off x="722376" y="2651760"/>
            <a:ext cx="2151812" cy="51206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Acts without review</a:t>
            </a:r>
            <a:endParaRPr lang="en-US" sz="1500" dirty="0"/>
          </a:p>
        </p:txBody>
      </p:sp>
      <p:sp>
        <p:nvSpPr>
          <p:cNvPr id="8" name="Text 6"/>
          <p:cNvSpPr/>
          <p:nvPr/>
        </p:nvSpPr>
        <p:spPr>
          <a:xfrm>
            <a:off x="722376" y="3163824"/>
            <a:ext cx="2151812" cy="658368"/>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Reversible, non-consequential, fully verifiable actions.</a:t>
            </a:r>
            <a:endParaRPr lang="en-US" sz="950" dirty="0"/>
          </a:p>
        </p:txBody>
      </p:sp>
      <p:sp>
        <p:nvSpPr>
          <p:cNvPr id="9" name="Text 7"/>
          <p:cNvSpPr/>
          <p:nvPr/>
        </p:nvSpPr>
        <p:spPr>
          <a:xfrm>
            <a:off x="722376" y="3822192"/>
            <a:ext cx="2151812" cy="151790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Status lookups and notifications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Reminders before expiry</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Document classification and filing</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Data-quality flagging</a:t>
            </a:r>
            <a:endParaRPr lang="en-US" sz="950" dirty="0"/>
          </a:p>
        </p:txBody>
      </p:sp>
      <p:sp>
        <p:nvSpPr>
          <p:cNvPr id="10" name="Text 8"/>
          <p:cNvSpPr/>
          <p:nvPr/>
        </p:nvSpPr>
        <p:spPr>
          <a:xfrm>
            <a:off x="722376" y="5596128"/>
            <a:ext cx="2151812" cy="365760"/>
          </a:xfrm>
          <a:prstGeom prst="rect">
            <a:avLst/>
          </a:prstGeom>
          <a:noFill/>
          <a:ln/>
        </p:spPr>
        <p:txBody>
          <a:bodyPr wrap="square" lIns="0" tIns="0" rIns="0" bIns="0" rtlCol="0" anchor="ctr"/>
          <a:lstStyle/>
          <a:p>
            <a:pPr indent="0" marL="0">
              <a:buNone/>
            </a:pPr>
            <a:r>
              <a:rPr lang="en-US" sz="900" i="1" dirty="0">
                <a:solidFill>
                  <a:srgbClr val="2C6E52"/>
                </a:solidFill>
                <a:latin typeface="Calibri" pitchFamily="34" charset="0"/>
                <a:ea typeface="Calibri" pitchFamily="34" charset="-122"/>
                <a:cs typeface="Calibri" pitchFamily="34" charset="-120"/>
              </a:rPr>
              <a:t>Reversal: automatic, no consequence.</a:t>
            </a:r>
            <a:endParaRPr lang="en-US" sz="900" dirty="0"/>
          </a:p>
        </p:txBody>
      </p:sp>
      <p:sp>
        <p:nvSpPr>
          <p:cNvPr id="11" name="Shape 9"/>
          <p:cNvSpPr/>
          <p:nvPr/>
        </p:nvSpPr>
        <p:spPr>
          <a:xfrm>
            <a:off x="3367964" y="2194560"/>
            <a:ext cx="2590724" cy="3310128"/>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2" name="Text 10"/>
          <p:cNvSpPr/>
          <p:nvPr/>
        </p:nvSpPr>
        <p:spPr>
          <a:xfrm>
            <a:off x="3587420" y="2395728"/>
            <a:ext cx="2151812" cy="219456"/>
          </a:xfrm>
          <a:prstGeom prst="rect">
            <a:avLst/>
          </a:prstGeom>
          <a:noFill/>
          <a:ln/>
        </p:spPr>
        <p:txBody>
          <a:bodyPr wrap="square" lIns="0" tIns="0" rIns="0" bIns="0" rtlCol="0" anchor="ctr"/>
          <a:lstStyle/>
          <a:p>
            <a:pPr indent="0" marL="0">
              <a:buNone/>
            </a:pPr>
            <a:r>
              <a:rPr lang="en-US" sz="900" b="1" spc="200" kern="0" dirty="0">
                <a:solidFill>
                  <a:srgbClr val="0E7C86"/>
                </a:solidFill>
                <a:latin typeface="Calibri" pitchFamily="34" charset="0"/>
                <a:ea typeface="Calibri" pitchFamily="34" charset="-122"/>
                <a:cs typeface="Calibri" pitchFamily="34" charset="-120"/>
              </a:rPr>
              <a:t>TIER 1 — DRAFTS</a:t>
            </a:r>
            <a:endParaRPr lang="en-US" sz="900" dirty="0"/>
          </a:p>
        </p:txBody>
      </p:sp>
      <p:sp>
        <p:nvSpPr>
          <p:cNvPr id="13" name="Text 11"/>
          <p:cNvSpPr/>
          <p:nvPr/>
        </p:nvSpPr>
        <p:spPr>
          <a:xfrm>
            <a:off x="3587420" y="2651760"/>
            <a:ext cx="2151812" cy="51206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Officer approves before effect</a:t>
            </a:r>
            <a:endParaRPr lang="en-US" sz="1500" dirty="0"/>
          </a:p>
        </p:txBody>
      </p:sp>
      <p:sp>
        <p:nvSpPr>
          <p:cNvPr id="14" name="Text 12"/>
          <p:cNvSpPr/>
          <p:nvPr/>
        </p:nvSpPr>
        <p:spPr>
          <a:xfrm>
            <a:off x="3587420" y="3163824"/>
            <a:ext cx="2151812" cy="658368"/>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The agent produces the complete output; nothing takes effect until a named officer signs.</a:t>
            </a:r>
            <a:endParaRPr lang="en-US" sz="950" dirty="0"/>
          </a:p>
        </p:txBody>
      </p:sp>
      <p:sp>
        <p:nvSpPr>
          <p:cNvPr id="15" name="Text 13"/>
          <p:cNvSpPr/>
          <p:nvPr/>
        </p:nvSpPr>
        <p:spPr>
          <a:xfrm>
            <a:off x="3587420" y="3822192"/>
            <a:ext cx="2151812" cy="151790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Registration dossiers and assessments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Inspection reports and deficiency codes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Licence technical evaluations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Circular drafts, both languages</a:t>
            </a:r>
            <a:endParaRPr lang="en-US" sz="950" dirty="0"/>
          </a:p>
        </p:txBody>
      </p:sp>
      <p:sp>
        <p:nvSpPr>
          <p:cNvPr id="16" name="Text 14"/>
          <p:cNvSpPr/>
          <p:nvPr/>
        </p:nvSpPr>
        <p:spPr>
          <a:xfrm>
            <a:off x="3587420" y="5596128"/>
            <a:ext cx="2151812" cy="365760"/>
          </a:xfrm>
          <a:prstGeom prst="rect">
            <a:avLst/>
          </a:prstGeom>
          <a:noFill/>
          <a:ln/>
        </p:spPr>
        <p:txBody>
          <a:bodyPr wrap="square" lIns="0" tIns="0" rIns="0" bIns="0" rtlCol="0" anchor="ctr"/>
          <a:lstStyle/>
          <a:p>
            <a:pPr indent="0" marL="0">
              <a:buNone/>
            </a:pPr>
            <a:r>
              <a:rPr lang="en-US" sz="900" i="1" dirty="0">
                <a:solidFill>
                  <a:srgbClr val="0E7C86"/>
                </a:solidFill>
                <a:latin typeface="Calibri" pitchFamily="34" charset="0"/>
                <a:ea typeface="Calibri" pitchFamily="34" charset="-122"/>
                <a:cs typeface="Calibri" pitchFamily="34" charset="-120"/>
              </a:rPr>
              <a:t>Reversal: reject the draft — nothing has happened.</a:t>
            </a:r>
            <a:endParaRPr lang="en-US" sz="900" dirty="0"/>
          </a:p>
        </p:txBody>
      </p:sp>
      <p:sp>
        <p:nvSpPr>
          <p:cNvPr id="17" name="Shape 15"/>
          <p:cNvSpPr/>
          <p:nvPr/>
        </p:nvSpPr>
        <p:spPr>
          <a:xfrm>
            <a:off x="6233008" y="2194560"/>
            <a:ext cx="2590724" cy="3310128"/>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18" name="Text 16"/>
          <p:cNvSpPr/>
          <p:nvPr/>
        </p:nvSpPr>
        <p:spPr>
          <a:xfrm>
            <a:off x="6452464" y="2395728"/>
            <a:ext cx="2151812" cy="219456"/>
          </a:xfrm>
          <a:prstGeom prst="rect">
            <a:avLst/>
          </a:prstGeom>
          <a:noFill/>
          <a:ln/>
        </p:spPr>
        <p:txBody>
          <a:bodyPr wrap="square" lIns="0" tIns="0" rIns="0" bIns="0" rtlCol="0" anchor="ctr"/>
          <a:lstStyle/>
          <a:p>
            <a:pPr indent="0" marL="0">
              <a:buNone/>
            </a:pPr>
            <a:r>
              <a:rPr lang="en-US" sz="900" b="1" spc="200" kern="0" dirty="0">
                <a:solidFill>
                  <a:srgbClr val="A96F12"/>
                </a:solidFill>
                <a:latin typeface="Calibri" pitchFamily="34" charset="0"/>
                <a:ea typeface="Calibri" pitchFamily="34" charset="-122"/>
                <a:cs typeface="Calibri" pitchFamily="34" charset="-120"/>
              </a:rPr>
              <a:t>TIER 2 — ADVISES</a:t>
            </a:r>
            <a:endParaRPr lang="en-US" sz="900" dirty="0"/>
          </a:p>
        </p:txBody>
      </p:sp>
      <p:sp>
        <p:nvSpPr>
          <p:cNvPr id="19" name="Text 17"/>
          <p:cNvSpPr/>
          <p:nvPr/>
        </p:nvSpPr>
        <p:spPr>
          <a:xfrm>
            <a:off x="6452464" y="2651760"/>
            <a:ext cx="2151812" cy="51206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Officer decides with evidence</a:t>
            </a:r>
            <a:endParaRPr lang="en-US" sz="1500" dirty="0"/>
          </a:p>
        </p:txBody>
      </p:sp>
      <p:sp>
        <p:nvSpPr>
          <p:cNvPr id="20" name="Text 18"/>
          <p:cNvSpPr/>
          <p:nvPr/>
        </p:nvSpPr>
        <p:spPr>
          <a:xfrm>
            <a:off x="6452464" y="3163824"/>
            <a:ext cx="2151812" cy="658368"/>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The agent assembles and argues; it does not draft the decision. The officer’s reasoning is the record.</a:t>
            </a:r>
            <a:endParaRPr lang="en-US" sz="950" dirty="0"/>
          </a:p>
        </p:txBody>
      </p:sp>
      <p:sp>
        <p:nvSpPr>
          <p:cNvPr id="21" name="Text 19"/>
          <p:cNvSpPr/>
          <p:nvPr/>
        </p:nvSpPr>
        <p:spPr>
          <a:xfrm>
            <a:off x="6452464" y="3822192"/>
            <a:ext cx="2151812" cy="151790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Targeting recommendations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Risk-weighting change proposals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Regulatory impact assessments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Anomaly escalations</a:t>
            </a:r>
            <a:endParaRPr lang="en-US" sz="950" dirty="0"/>
          </a:p>
        </p:txBody>
      </p:sp>
      <p:sp>
        <p:nvSpPr>
          <p:cNvPr id="22" name="Text 20"/>
          <p:cNvSpPr/>
          <p:nvPr/>
        </p:nvSpPr>
        <p:spPr>
          <a:xfrm>
            <a:off x="6452464" y="5596128"/>
            <a:ext cx="2151812" cy="365760"/>
          </a:xfrm>
          <a:prstGeom prst="rect">
            <a:avLst/>
          </a:prstGeom>
          <a:noFill/>
          <a:ln/>
        </p:spPr>
        <p:txBody>
          <a:bodyPr wrap="square" lIns="0" tIns="0" rIns="0" bIns="0" rtlCol="0" anchor="ctr"/>
          <a:lstStyle/>
          <a:p>
            <a:pPr indent="0" marL="0">
              <a:buNone/>
            </a:pPr>
            <a:r>
              <a:rPr lang="en-US" sz="900" i="1" dirty="0">
                <a:solidFill>
                  <a:srgbClr val="A96F12"/>
                </a:solidFill>
                <a:latin typeface="Calibri" pitchFamily="34" charset="0"/>
                <a:ea typeface="Calibri" pitchFamily="34" charset="-122"/>
                <a:cs typeface="Calibri" pitchFamily="34" charset="-120"/>
              </a:rPr>
              <a:t>Reversal: not applicable — the human decided.</a:t>
            </a:r>
            <a:endParaRPr lang="en-US" sz="900" dirty="0"/>
          </a:p>
        </p:txBody>
      </p:sp>
      <p:sp>
        <p:nvSpPr>
          <p:cNvPr id="23" name="Shape 21"/>
          <p:cNvSpPr/>
          <p:nvPr/>
        </p:nvSpPr>
        <p:spPr>
          <a:xfrm>
            <a:off x="9098051" y="2194560"/>
            <a:ext cx="2590724" cy="3310128"/>
          </a:xfrm>
          <a:prstGeom prst="roundRect">
            <a:avLst>
              <a:gd name="adj" fmla="val 2118"/>
            </a:avLst>
          </a:prstGeom>
          <a:solidFill>
            <a:srgbClr val="FFFFFF"/>
          </a:solidFill>
          <a:ln w="12700">
            <a:solidFill>
              <a:srgbClr val="E4EAE9"/>
            </a:solidFill>
            <a:prstDash val="solid"/>
          </a:ln>
          <a:effectLst>
            <a:outerShdw sx="100000" sy="100000" kx="0" ky="0" algn="bl" rotWithShape="0" blurRad="101600" dist="12700" dir="5400000">
              <a:srgbClr val="0B1F2A">
                <a:alpha val="10000"/>
              </a:srgbClr>
            </a:outerShdw>
          </a:effectLst>
        </p:spPr>
      </p:sp>
      <p:sp>
        <p:nvSpPr>
          <p:cNvPr id="24" name="Text 22"/>
          <p:cNvSpPr/>
          <p:nvPr/>
        </p:nvSpPr>
        <p:spPr>
          <a:xfrm>
            <a:off x="9317507" y="2395728"/>
            <a:ext cx="2151812" cy="219456"/>
          </a:xfrm>
          <a:prstGeom prst="rect">
            <a:avLst/>
          </a:prstGeom>
          <a:noFill/>
          <a:ln/>
        </p:spPr>
        <p:txBody>
          <a:bodyPr wrap="square" lIns="0" tIns="0" rIns="0" bIns="0" rtlCol="0" anchor="ctr"/>
          <a:lstStyle/>
          <a:p>
            <a:pPr indent="0" marL="0">
              <a:buNone/>
            </a:pPr>
            <a:r>
              <a:rPr lang="en-US" sz="900" b="1" spc="200" kern="0" dirty="0">
                <a:solidFill>
                  <a:srgbClr val="A33229"/>
                </a:solidFill>
                <a:latin typeface="Calibri" pitchFamily="34" charset="0"/>
                <a:ea typeface="Calibri" pitchFamily="34" charset="-122"/>
                <a:cs typeface="Calibri" pitchFamily="34" charset="-120"/>
              </a:rPr>
              <a:t>TIER 3 — EXCLUDED</a:t>
            </a:r>
            <a:endParaRPr lang="en-US" sz="900" dirty="0"/>
          </a:p>
        </p:txBody>
      </p:sp>
      <p:sp>
        <p:nvSpPr>
          <p:cNvPr id="25" name="Text 23"/>
          <p:cNvSpPr/>
          <p:nvPr/>
        </p:nvSpPr>
        <p:spPr>
          <a:xfrm>
            <a:off x="9317507" y="2651760"/>
            <a:ext cx="2151812" cy="51206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Never AI-determined</a:t>
            </a:r>
            <a:endParaRPr lang="en-US" sz="1500" dirty="0"/>
          </a:p>
        </p:txBody>
      </p:sp>
      <p:sp>
        <p:nvSpPr>
          <p:cNvPr id="26" name="Text 24"/>
          <p:cNvSpPr/>
          <p:nvPr/>
        </p:nvSpPr>
        <p:spPr>
          <a:xfrm>
            <a:off x="9317507" y="3163824"/>
            <a:ext cx="2151812" cy="658368"/>
          </a:xfrm>
          <a:prstGeom prst="rect">
            <a:avLst/>
          </a:prstGeom>
          <a:noFill/>
          <a:ln/>
        </p:spPr>
        <p:txBody>
          <a:bodyPr wrap="square" lIns="0" tIns="0" rIns="0" bIns="0" rtlCol="0" anchor="t"/>
          <a:lstStyle/>
          <a:p>
            <a:pPr indent="0" marL="0">
              <a:lnSpc>
                <a:spcPct val="114000"/>
              </a:lnSpc>
              <a:buNone/>
            </a:pPr>
            <a:r>
              <a:rPr lang="en-US" sz="950" dirty="0">
                <a:solidFill>
                  <a:srgbClr val="3E5561"/>
                </a:solidFill>
                <a:latin typeface="Calibri" pitchFamily="34" charset="0"/>
                <a:ea typeface="Calibri" pitchFamily="34" charset="-122"/>
                <a:cs typeface="Calibri" pitchFamily="34" charset="-120"/>
              </a:rPr>
              <a:t>Decisions with legal consequence for a person or vessel. AI may inform the file; it may not produce the finding.</a:t>
            </a:r>
            <a:endParaRPr lang="en-US" sz="950" dirty="0"/>
          </a:p>
        </p:txBody>
      </p:sp>
      <p:sp>
        <p:nvSpPr>
          <p:cNvPr id="27" name="Text 25"/>
          <p:cNvSpPr/>
          <p:nvPr/>
        </p:nvSpPr>
        <p:spPr>
          <a:xfrm>
            <a:off x="9317507" y="3822192"/>
            <a:ext cx="2151812" cy="1517904"/>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Detention and release</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Licence suspension or revocation</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Casualty investigation findings</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Prosecution and penalty</a:t>
            </a:r>
            <a:endParaRPr lang="en-US" sz="950" dirty="0"/>
          </a:p>
          <a:p>
            <a:pPr marL="342900" indent="-342900">
              <a:lnSpc>
                <a:spcPct val="108000"/>
              </a:lnSpc>
              <a:spcAft>
                <a:spcPts val="500"/>
              </a:spcAft>
              <a:buSzPct val="100000"/>
              <a:buChar char="•"/>
            </a:pPr>
            <a:r>
              <a:rPr lang="en-US" sz="950" dirty="0">
                <a:solidFill>
                  <a:srgbClr val="3E5561"/>
                </a:solidFill>
                <a:latin typeface="Calibri" pitchFamily="34" charset="0"/>
                <a:ea typeface="Calibri" pitchFamily="34" charset="-122"/>
                <a:cs typeface="Calibri" pitchFamily="34" charset="-120"/>
              </a:rPr>
              <a:t>Certificate withdrawal</a:t>
            </a:r>
            <a:endParaRPr lang="en-US" sz="950" dirty="0"/>
          </a:p>
        </p:txBody>
      </p:sp>
      <p:sp>
        <p:nvSpPr>
          <p:cNvPr id="28" name="Text 26"/>
          <p:cNvSpPr/>
          <p:nvPr/>
        </p:nvSpPr>
        <p:spPr>
          <a:xfrm>
            <a:off x="9317507" y="5596128"/>
            <a:ext cx="2151812" cy="365760"/>
          </a:xfrm>
          <a:prstGeom prst="rect">
            <a:avLst/>
          </a:prstGeom>
          <a:noFill/>
          <a:ln/>
        </p:spPr>
        <p:txBody>
          <a:bodyPr wrap="square" lIns="0" tIns="0" rIns="0" bIns="0" rtlCol="0" anchor="ctr"/>
          <a:lstStyle/>
          <a:p>
            <a:pPr indent="0" marL="0">
              <a:buNone/>
            </a:pPr>
            <a:r>
              <a:rPr lang="en-US" sz="900" i="1" dirty="0">
                <a:solidFill>
                  <a:srgbClr val="A33229"/>
                </a:solidFill>
                <a:latin typeface="Calibri" pitchFamily="34" charset="0"/>
                <a:ea typeface="Calibri" pitchFamily="34" charset="-122"/>
                <a:cs typeface="Calibri" pitchFamily="34" charset="-120"/>
              </a:rPr>
              <a:t>Enforcement: the tool is not exposed to the agent.</a:t>
            </a:r>
            <a:endParaRPr lang="en-US" sz="900" dirty="0"/>
          </a:p>
        </p:txBody>
      </p:sp>
      <p:sp>
        <p:nvSpPr>
          <p:cNvPr id="29" name="Text 27"/>
          <p:cNvSpPr/>
          <p:nvPr/>
        </p:nvSpPr>
        <p:spPr>
          <a:xfrm>
            <a:off x="502920" y="6053328"/>
            <a:ext cx="11185855" cy="548640"/>
          </a:xfrm>
          <a:prstGeom prst="rect">
            <a:avLst/>
          </a:prstGeom>
          <a:noFill/>
          <a:ln/>
        </p:spPr>
        <p:txBody>
          <a:bodyPr wrap="square" lIns="0" tIns="0" rIns="0" bIns="0" rtlCol="0" anchor="ctr"/>
          <a:lstStyle/>
          <a:p>
            <a:pPr indent="0" marL="0">
              <a:lnSpc>
                <a:spcPct val="110000"/>
              </a:lnSpc>
              <a:buNone/>
            </a:pPr>
            <a:r>
              <a:rPr lang="en-US" sz="1050" i="1" dirty="0">
                <a:solidFill>
                  <a:srgbClr val="3E5561"/>
                </a:solidFill>
                <a:latin typeface="Calibri" pitchFamily="34" charset="0"/>
                <a:ea typeface="Calibri" pitchFamily="34" charset="-122"/>
                <a:cs typeface="Calibri" pitchFamily="34" charset="-120"/>
              </a:rPr>
              <a:t>Promotion is earned. An agent enters service at its launch tier. Moving up requires a defined volume of decisions at a measured accuracy threshold, reviewed by your AI governance board and recorded as a versioned change — and accuracy falling below the threshold demotes it automatically. Promotion is a decision; demotion is a mechanism.</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A96F12"/>
                </a:solidFill>
                <a:latin typeface="Calibri" pitchFamily="34" charset="0"/>
                <a:ea typeface="Calibri" pitchFamily="34" charset="-122"/>
                <a:cs typeface="Calibri" pitchFamily="34" charset="-120"/>
              </a:rPr>
              <a:t>TRUST &amp; AUDIT</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Every agent action is a record you can subpoena</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A maritime administration is auditable by the IMO, by its own state audit office, and eventually by a tribunal. An AI action that cannot be reconstructed two years later is not usable in that setting — so the ledger is designed first and the agent second.</a:t>
            </a:r>
            <a:endParaRPr lang="en-US" sz="12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6487796" cy="914400"/>
        </p:xfrm>
        <a:graphic>
          <a:graphicData uri="http://schemas.openxmlformats.org/drawingml/2006/table">
            <a:tbl>
              <a:tblPr/>
              <a:tblGrid>
                <a:gridCol w="2468880"/>
                <a:gridCol w="4599432"/>
              </a:tblGrid>
              <a:tr h="384048">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Written on every agent action</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Why it is there</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Agent, version, tier</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Which agent acted, under which released configuration, at what authority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Model and prompt fingerprint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Reproducibility — the same inputs can be re-run against the same model version</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Inputs consulted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Every record, document and instrument the agent actually read, by identifier and version</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Tool calls made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Each governed API call, with parameters and result — the complete action trail</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Citations</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The specific clause, record or precedent behind each assertion in the output</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Confidence and uncertainty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What the agent was unsure of, stated at the time and not reconstructed later</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Human disposition</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Who reviewed it, what they changed, whether they accepted or rejected, and why</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3E5561"/>
                          </a:solidFill>
                          <a:latin typeface="Calibri" pitchFamily="34" charset="0"/>
                          <a:ea typeface="Calibri" pitchFamily="34" charset="-122"/>
                          <a:cs typeface="Calibri" pitchFamily="34" charset="-120"/>
                        </a:rPr>
                        <a:t>Outcome linkage</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1000" dirty="0">
                          <a:solidFill>
                            <a:srgbClr val="3E5561"/>
                          </a:solidFill>
                          <a:latin typeface="Calibri" pitchFamily="34" charset="0"/>
                          <a:ea typeface="Calibri" pitchFamily="34" charset="-122"/>
                          <a:cs typeface="Calibri" pitchFamily="34" charset="-120"/>
                        </a:rPr>
                        <a:t>What eventually happened — which is what makes accuracy measurable rather than asserted</a:t>
                      </a:r>
                      <a:endParaRPr lang="en-US" sz="100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bl>
          </a:graphicData>
        </a:graphic>
      </p:graphicFrame>
      <p:sp>
        <p:nvSpPr>
          <p:cNvPr id="6" name="Shape 3"/>
          <p:cNvSpPr/>
          <p:nvPr/>
        </p:nvSpPr>
        <p:spPr>
          <a:xfrm>
            <a:off x="7326292" y="2286000"/>
            <a:ext cx="4362484" cy="2880360"/>
          </a:xfrm>
          <a:prstGeom prst="roundRect">
            <a:avLst>
              <a:gd name="adj" fmla="val 1905"/>
            </a:avLst>
          </a:prstGeom>
          <a:solidFill>
            <a:srgbClr val="FDFAF4"/>
          </a:solidFill>
          <a:ln w="12700">
            <a:solidFill>
              <a:srgbClr val="E0CDA6"/>
            </a:solidFill>
            <a:prstDash val="solid"/>
          </a:ln>
          <a:effectLst>
            <a:outerShdw sx="100000" sy="100000" kx="0" ky="0" algn="bl" rotWithShape="0" blurRad="101600" dist="12700" dir="5400000">
              <a:srgbClr val="0B1F2A">
                <a:alpha val="10000"/>
              </a:srgbClr>
            </a:outerShdw>
          </a:effectLst>
        </p:spPr>
      </p:sp>
      <p:sp>
        <p:nvSpPr>
          <p:cNvPr id="7" name="Text 4"/>
          <p:cNvSpPr/>
          <p:nvPr/>
        </p:nvSpPr>
        <p:spPr>
          <a:xfrm>
            <a:off x="7545748" y="2487168"/>
            <a:ext cx="3923572" cy="329184"/>
          </a:xfrm>
          <a:prstGeom prst="rect">
            <a:avLst/>
          </a:prstGeom>
          <a:noFill/>
          <a:ln/>
        </p:spPr>
        <p:txBody>
          <a:bodyPr wrap="square" lIns="0" tIns="0" rIns="0" bIns="0" rtlCol="0" anchor="t"/>
          <a:lstStyle/>
          <a:p>
            <a:pPr indent="0" marL="0">
              <a:buNone/>
            </a:pPr>
            <a:r>
              <a:rPr lang="en-US" sz="1500" b="1" dirty="0">
                <a:solidFill>
                  <a:srgbClr val="0B1F2A"/>
                </a:solidFill>
                <a:latin typeface="Cambria" pitchFamily="34" charset="0"/>
                <a:ea typeface="Cambria" pitchFamily="34" charset="-122"/>
                <a:cs typeface="Cambria" pitchFamily="34" charset="-120"/>
              </a:rPr>
              <a:t>Guardrails that hold</a:t>
            </a:r>
            <a:endParaRPr lang="en-US" sz="1500" dirty="0"/>
          </a:p>
        </p:txBody>
      </p:sp>
      <p:sp>
        <p:nvSpPr>
          <p:cNvPr id="8" name="Text 5"/>
          <p:cNvSpPr/>
          <p:nvPr/>
        </p:nvSpPr>
        <p:spPr>
          <a:xfrm>
            <a:off x="7545748" y="2816352"/>
            <a:ext cx="3923572" cy="2185416"/>
          </a:xfrm>
          <a:prstGeom prst="rect">
            <a:avLst/>
          </a:prstGeom>
          <a:noFill/>
          <a:ln/>
        </p:spPr>
        <p:txBody>
          <a:bodyPr wrap="square" lIns="0" tIns="0" rIns="0" bIns="0" rtlCol="0" anchor="t"/>
          <a:lstStyle/>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Citation is mandatory — an unsourced assertion is suppressed and logged as a defect, not shown with a hedge</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Tool allow-lists at the gateway — prompt injection in an uploaded document cannot reach an ungranted tool</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Untrusted content is fenced — applicant documents and external feeds are data to be analysed, never instructions to follow</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PII minimised at the boundary — redaction before any external model call; classification-driven routing</a:t>
            </a:r>
            <a:endParaRPr lang="en-US" sz="1000" dirty="0"/>
          </a:p>
          <a:p>
            <a:pPr marL="342900" indent="-342900">
              <a:lnSpc>
                <a:spcPct val="108000"/>
              </a:lnSpc>
              <a:spcAft>
                <a:spcPts val="500"/>
              </a:spcAft>
              <a:buSzPct val="100000"/>
              <a:buChar char="•"/>
            </a:pPr>
            <a:r>
              <a:rPr lang="en-US" sz="1000" dirty="0">
                <a:solidFill>
                  <a:srgbClr val="3E5561"/>
                </a:solidFill>
                <a:latin typeface="Calibri" pitchFamily="34" charset="0"/>
                <a:ea typeface="Calibri" pitchFamily="34" charset="-122"/>
                <a:cs typeface="Calibri" pitchFamily="34" charset="-120"/>
              </a:rPr>
              <a:t>Deterministic fallback — model unavailability slows the administration, it never stops it</a:t>
            </a:r>
            <a:endParaRPr lang="en-US" sz="1000" dirty="0"/>
          </a:p>
        </p:txBody>
      </p:sp>
      <p:sp>
        <p:nvSpPr>
          <p:cNvPr id="9" name="Text 6"/>
          <p:cNvSpPr/>
          <p:nvPr/>
        </p:nvSpPr>
        <p:spPr>
          <a:xfrm>
            <a:off x="7326292" y="5303520"/>
            <a:ext cx="4362484" cy="82296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The metric that matters. Officers rejecting agent drafts is the honest signal of quality. We instrument it from day one, report it to your governance board, and treat a rising rate as a defect in the agent rather than as resistance from the officer.</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F4F3"/>
        </a:solidFill>
      </p:bgPr>
    </p:bg>
    <p:spTree>
      <p:nvGrpSpPr>
        <p:cNvPr id="1" name=""/>
        <p:cNvGrpSpPr/>
        <p:nvPr/>
      </p:nvGrpSpPr>
      <p:grpSpPr>
        <a:xfrm>
          <a:off x="0" y="0"/>
          <a:ext cx="0" cy="0"/>
          <a:chOff x="0" y="0"/>
          <a:chExt cx="0" cy="0"/>
        </a:xfrm>
      </p:grpSpPr>
      <p:sp>
        <p:nvSpPr>
          <p:cNvPr id="2" name="Text 0"/>
          <p:cNvSpPr/>
          <p:nvPr/>
        </p:nvSpPr>
        <p:spPr>
          <a:xfrm>
            <a:off x="502920" y="384048"/>
            <a:ext cx="11185855" cy="256032"/>
          </a:xfrm>
          <a:prstGeom prst="rect">
            <a:avLst/>
          </a:prstGeom>
          <a:noFill/>
          <a:ln/>
        </p:spPr>
        <p:txBody>
          <a:bodyPr wrap="square" lIns="0" tIns="0" rIns="0" bIns="0" rtlCol="0" anchor="ctr"/>
          <a:lstStyle/>
          <a:p>
            <a:pPr indent="0" marL="0">
              <a:buNone/>
            </a:pPr>
            <a:r>
              <a:rPr lang="en-US" sz="1050" b="1" spc="300" kern="0" dirty="0">
                <a:solidFill>
                  <a:srgbClr val="A96F12"/>
                </a:solidFill>
                <a:latin typeface="Calibri" pitchFamily="34" charset="0"/>
                <a:ea typeface="Calibri" pitchFamily="34" charset="-122"/>
                <a:cs typeface="Calibri" pitchFamily="34" charset="-120"/>
              </a:rPr>
              <a:t>MODELLED IMPACT</a:t>
            </a:r>
            <a:endParaRPr lang="en-US" sz="1050" dirty="0"/>
          </a:p>
        </p:txBody>
      </p:sp>
      <p:sp>
        <p:nvSpPr>
          <p:cNvPr id="3" name="Text 1"/>
          <p:cNvSpPr/>
          <p:nvPr/>
        </p:nvSpPr>
        <p:spPr>
          <a:xfrm>
            <a:off x="502920" y="676656"/>
            <a:ext cx="11185855" cy="566928"/>
          </a:xfrm>
          <a:prstGeom prst="rect">
            <a:avLst/>
          </a:prstGeom>
          <a:noFill/>
          <a:ln/>
        </p:spPr>
        <p:txBody>
          <a:bodyPr wrap="square" lIns="0" tIns="0" rIns="0" bIns="0" rtlCol="0" anchor="t"/>
          <a:lstStyle/>
          <a:p>
            <a:pPr indent="0" marL="0">
              <a:buNone/>
            </a:pPr>
            <a:r>
              <a:rPr lang="en-US" sz="2700" b="1" dirty="0">
                <a:solidFill>
                  <a:srgbClr val="0B1F2A"/>
                </a:solidFill>
                <a:latin typeface="Cambria" pitchFamily="34" charset="0"/>
                <a:ea typeface="Cambria" pitchFamily="34" charset="-122"/>
                <a:cs typeface="Cambria" pitchFamily="34" charset="-120"/>
              </a:rPr>
              <a:t>Where the officer’s time actually goes</a:t>
            </a:r>
            <a:endParaRPr lang="en-US" sz="2700" dirty="0"/>
          </a:p>
        </p:txBody>
      </p:sp>
      <p:sp>
        <p:nvSpPr>
          <p:cNvPr id="4" name="Text 2"/>
          <p:cNvSpPr/>
          <p:nvPr/>
        </p:nvSpPr>
        <p:spPr>
          <a:xfrm>
            <a:off x="502920" y="1298448"/>
            <a:ext cx="9619835" cy="658368"/>
          </a:xfrm>
          <a:prstGeom prst="rect">
            <a:avLst/>
          </a:prstGeom>
          <a:noFill/>
          <a:ln/>
        </p:spPr>
        <p:txBody>
          <a:bodyPr wrap="square" lIns="0" tIns="0" rIns="0" bIns="0" rtlCol="0" anchor="t"/>
          <a:lstStyle/>
          <a:p>
            <a:pPr indent="0" marL="0">
              <a:lnSpc>
                <a:spcPct val="115000"/>
              </a:lnSpc>
              <a:buNone/>
            </a:pPr>
            <a:r>
              <a:rPr lang="en-US" sz="1250" dirty="0">
                <a:solidFill>
                  <a:srgbClr val="3E5561"/>
                </a:solidFill>
                <a:latin typeface="Calibri" pitchFamily="34" charset="0"/>
                <a:ea typeface="Calibri" pitchFamily="34" charset="-122"/>
                <a:cs typeface="Calibri" pitchFamily="34" charset="-120"/>
              </a:rPr>
              <a:t>The arithmetic, shown rather than summarised. Every reduction below is modelled — derived from the task decomposition in column two, not measured in a prior deployment.</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11185855" cy="914400"/>
        </p:xfrm>
        <a:graphic>
          <a:graphicData uri="http://schemas.openxmlformats.org/drawingml/2006/table">
            <a:tbl>
              <a:tblPr/>
              <a:tblGrid>
                <a:gridCol w="1600200"/>
                <a:gridCol w="4114800"/>
                <a:gridCol w="4114800"/>
                <a:gridCol w="1353312"/>
              </a:tblGrid>
              <a:tr h="512064">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Process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consumes the time today</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What the agent removes</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c>
                  <a:txBody>
                    <a:bodyPr/>
                    <a:lstStyle/>
                    <a:p>
                      <a:pPr indent="0" marL="0">
                        <a:buNone/>
                      </a:pPr>
                      <a:r>
                        <a:rPr lang="en-US" sz="950" b="1" spc="120" kern="0" dirty="0">
                          <a:solidFill>
                            <a:srgbClr val="3E5561"/>
                          </a:solidFill>
                          <a:latin typeface="Calibri" pitchFamily="34" charset="0"/>
                          <a:ea typeface="Calibri" pitchFamily="34" charset="-122"/>
                          <a:cs typeface="Calibri" pitchFamily="34" charset="-120"/>
                        </a:rPr>
                        <a:t>Modelled</a:t>
                      </a:r>
                      <a:endParaRPr lang="en-US" sz="950" dirty="0">
                        <a:latin typeface="Calibri" charset="0"/>
                        <a:ea typeface="Calibri" charset="0"/>
                        <a:cs typeface="Calibri" charset="0"/>
                      </a:endParaRPr>
                    </a:p>
                  </a:txBody>
                  <a:tcPr marL="88900" marR="88900" marT="63500" marB="63500" anchor="ctr">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E4EAE9"/>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Ship registration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Reading and re-keying documents; chasing missing papers; manual ownership and sanctions checks; assembling the file for review</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Extraction, cross-checking, gap listing and dossier assembly — the officer receives a complete file and decides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−50 to 70%</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handling time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Certificate renewal</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Manual tracking of expiry across a fleet; late discovery of lapsed certificates; reactive chasing</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Derived matrix, window monitoring, and tasks opened before expiry rather than after</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Lapses →</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near zero</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PSC inspection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Pre-boarding history research; on-board note-taking; report typed back at the office; code lookup</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Briefing pack, on-device capture, code suggestion, report drafted before the surveyor leaves the ship</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−40 to 60%</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report time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Inspection targeting</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Manual list-building; targeting on what is visible rather than what is risky</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Continuous recomputation against live arrivals, with the selection explained</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Deficiency</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hit-rate ↑</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Seafarer endorsement</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Manual verification with issuing administrations; sea service checked against the applicant’s own declaration</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Automated verification and cross-checking against vessel movements and crew lists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−50 to 65%</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cycle time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Port call clearance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Same data submitted repeatedly to separate agencies; errors surfacing at the berth</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Once-only submission; contradictions caught pre-arrival, when they are still cheap to fix</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−60 to 80%</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submissions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1F4F3"/>
                    </a:solidFill>
                  </a:tcPr>
                </a:tc>
              </a:tr>
              <a:tr h="512064">
                <a:tc>
                  <a:txBody>
                    <a:bodyPr/>
                    <a:lstStyle/>
                    <a:p>
                      <a:pPr indent="0" marL="0">
                        <a:buNone/>
                      </a:pPr>
                      <a:r>
                        <a:rPr lang="en-US" sz="950" b="1" dirty="0">
                          <a:solidFill>
                            <a:srgbClr val="3E5561"/>
                          </a:solidFill>
                          <a:latin typeface="Calibri" pitchFamily="34" charset="0"/>
                          <a:ea typeface="Calibri" pitchFamily="34" charset="-122"/>
                          <a:cs typeface="Calibri" pitchFamily="34" charset="-120"/>
                        </a:rPr>
                        <a:t>Circular issuance</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Manual impact analysis across checklists and forms; bilingual drafting and review</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dirty="0">
                          <a:solidFill>
                            <a:srgbClr val="3E5561"/>
                          </a:solidFill>
                          <a:latin typeface="Calibri" pitchFamily="34" charset="0"/>
                          <a:ea typeface="Calibri" pitchFamily="34" charset="-122"/>
                          <a:cs typeface="Calibri" pitchFamily="34" charset="-120"/>
                        </a:rPr>
                        <a:t>Impact list generated from the instrument chain; bilingual draft prepared for legal review</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c>
                  <a:txBody>
                    <a:bodyPr/>
                    <a:lstStyle/>
                    <a:p>
                      <a:pPr indent="0" marL="0">
                        <a:buNone/>
                      </a:pPr>
                      <a:r>
                        <a:rPr lang="en-US" sz="950" b="1" dirty="0">
                          <a:solidFill>
                            <a:srgbClr val="A96F12"/>
                          </a:solidFill>
                          <a:latin typeface="Calibri" pitchFamily="34" charset="0"/>
                          <a:ea typeface="Calibri" pitchFamily="34" charset="-122"/>
                          <a:cs typeface="Calibri" pitchFamily="34" charset="-120"/>
                        </a:rPr>
                        <a:t>Weeks →</a:t>
                      </a:r>
                      <a:endParaRPr lang="en-US" sz="950" dirty="0">
                        <a:latin typeface="Calibri" charset="0"/>
                        <a:ea typeface="Calibri" charset="0"/>
                        <a:cs typeface="Calibri" charset="0"/>
                      </a:endParaRPr>
                    </a:p>
                    <a:p>
                      <a:pPr indent="0" marL="0">
                        <a:buNone/>
                      </a:pPr>
                      <a:r>
                        <a:rPr lang="en-US" sz="950" b="1" dirty="0">
                          <a:solidFill>
                            <a:srgbClr val="A96F12"/>
                          </a:solidFill>
                          <a:latin typeface="Calibri" pitchFamily="34" charset="0"/>
                          <a:ea typeface="Calibri" pitchFamily="34" charset="-122"/>
                          <a:cs typeface="Calibri" pitchFamily="34" charset="-120"/>
                        </a:rPr>
                        <a:t>days</a:t>
                      </a:r>
                      <a:endParaRPr lang="en-US" sz="950" dirty="0">
                        <a:latin typeface="Calibri" charset="0"/>
                        <a:ea typeface="Calibri" charset="0"/>
                        <a:cs typeface="Calibri" charset="0"/>
                      </a:endParaRPr>
                    </a:p>
                  </a:txBody>
                  <a:tcPr marL="88900" marR="88900" marT="63500" marB="63500" anchor="t">
                    <a:lnL w="9525" cap="flat" cmpd="sng" algn="ctr">
                      <a:solidFill>
                        <a:srgbClr val="E4EAE9"/>
                      </a:solidFill>
                      <a:prstDash val="solid"/>
                      <a:round/>
                      <a:headEnd type="none" w="med" len="med"/>
                      <a:tailEnd type="none" w="med" len="med"/>
                    </a:lnL>
                    <a:lnR w="9525" cap="flat" cmpd="sng" algn="ctr">
                      <a:solidFill>
                        <a:srgbClr val="E4EAE9"/>
                      </a:solidFill>
                      <a:prstDash val="solid"/>
                      <a:round/>
                      <a:headEnd type="none" w="med" len="med"/>
                      <a:tailEnd type="none" w="med" len="med"/>
                    </a:lnR>
                    <a:lnT w="9525" cap="flat" cmpd="sng" algn="ctr">
                      <a:solidFill>
                        <a:srgbClr val="E4EAE9"/>
                      </a:solidFill>
                      <a:prstDash val="solid"/>
                      <a:round/>
                      <a:headEnd type="none" w="med" len="med"/>
                      <a:tailEnd type="none" w="med" len="med"/>
                    </a:lnT>
                    <a:lnB w="9525" cap="flat" cmpd="sng" algn="ctr">
                      <a:solidFill>
                        <a:srgbClr val="E4EAE9"/>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5806440"/>
            <a:ext cx="11185855" cy="640080"/>
          </a:xfrm>
          <a:prstGeom prst="rect">
            <a:avLst/>
          </a:prstGeom>
          <a:noFill/>
          <a:ln/>
        </p:spPr>
        <p:txBody>
          <a:bodyPr wrap="square" lIns="0" tIns="0" rIns="0" bIns="0" rtlCol="0" anchor="ctr"/>
          <a:lstStyle/>
          <a:p>
            <a:pPr indent="0" marL="0">
              <a:lnSpc>
                <a:spcPct val="112000"/>
              </a:lnSpc>
              <a:buNone/>
            </a:pPr>
            <a:r>
              <a:rPr lang="en-US" sz="1050" i="1" dirty="0">
                <a:solidFill>
                  <a:srgbClr val="3E5561"/>
                </a:solidFill>
                <a:latin typeface="Calibri" pitchFamily="34" charset="0"/>
                <a:ea typeface="Calibri" pitchFamily="34" charset="-122"/>
                <a:cs typeface="Calibri" pitchFamily="34" charset="-120"/>
              </a:rPr>
              <a:t>Read the middle columns, not the last one. Any vendor can print a percentage. The question your evaluators should ask is whether the described task actually decomposes the way column three claims — if it does not, the number is worthless. These become commitments in Phase 0: week 0 measures your real baseline, week 8 measures the same process on the platform. From that point the numbers stop being modelled and start being observed.</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2A"/>
        </a:solidFill>
      </p:bgPr>
    </p:bg>
    <p:spTree>
      <p:nvGrpSpPr>
        <p:cNvPr id="1" name=""/>
        <p:cNvGrpSpPr/>
        <p:nvPr/>
      </p:nvGrpSpPr>
      <p:grpSpPr>
        <a:xfrm>
          <a:off x="0" y="0"/>
          <a:ext cx="0" cy="0"/>
          <a:chOff x="0" y="0"/>
          <a:chExt cx="0" cy="0"/>
        </a:xfrm>
      </p:grpSpPr>
      <p:sp>
        <p:nvSpPr>
          <p:cNvPr id="2" name="Text 0"/>
          <p:cNvSpPr/>
          <p:nvPr/>
        </p:nvSpPr>
        <p:spPr>
          <a:xfrm>
            <a:off x="502920" y="640080"/>
            <a:ext cx="11185855" cy="274320"/>
          </a:xfrm>
          <a:prstGeom prst="rect">
            <a:avLst/>
          </a:prstGeom>
          <a:noFill/>
          <a:ln/>
        </p:spPr>
        <p:txBody>
          <a:bodyPr wrap="square" lIns="0" tIns="0" rIns="0" bIns="0" rtlCol="0" anchor="ctr"/>
          <a:lstStyle/>
          <a:p>
            <a:pPr indent="0" marL="0">
              <a:buNone/>
            </a:pPr>
            <a:r>
              <a:rPr lang="en-US" sz="1100" b="1" spc="400" kern="0" dirty="0">
                <a:solidFill>
                  <a:srgbClr val="45BFC6"/>
                </a:solidFill>
                <a:latin typeface="Calibri" pitchFamily="34" charset="0"/>
                <a:ea typeface="Calibri" pitchFamily="34" charset="-122"/>
                <a:cs typeface="Calibri" pitchFamily="34" charset="-120"/>
              </a:rPr>
              <a:t>CLOSE</a:t>
            </a:r>
            <a:endParaRPr lang="en-US" sz="1100" dirty="0"/>
          </a:p>
        </p:txBody>
      </p:sp>
      <p:sp>
        <p:nvSpPr>
          <p:cNvPr id="3" name="Text 1"/>
          <p:cNvSpPr/>
          <p:nvPr/>
        </p:nvSpPr>
        <p:spPr>
          <a:xfrm>
            <a:off x="502920" y="1005840"/>
            <a:ext cx="8948684"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we would like to agree today</a:t>
            </a:r>
            <a:endParaRPr lang="en-US" sz="3600" dirty="0"/>
          </a:p>
        </p:txBody>
      </p:sp>
      <p:sp>
        <p:nvSpPr>
          <p:cNvPr id="4" name="Text 2"/>
          <p:cNvSpPr/>
          <p:nvPr/>
        </p:nvSpPr>
        <p:spPr>
          <a:xfrm>
            <a:off x="502920" y="1828800"/>
            <a:ext cx="7382664" cy="548640"/>
          </a:xfrm>
          <a:prstGeom prst="rect">
            <a:avLst/>
          </a:prstGeom>
          <a:noFill/>
          <a:ln/>
        </p:spPr>
        <p:txBody>
          <a:bodyPr wrap="square" lIns="0" tIns="0" rIns="0" bIns="0" rtlCol="0" anchor="ctr"/>
          <a:lstStyle/>
          <a:p>
            <a:pPr indent="0" marL="0">
              <a:lnSpc>
                <a:spcPct val="115000"/>
              </a:lnSpc>
              <a:buNone/>
            </a:pPr>
            <a:r>
              <a:rPr lang="en-US" sz="1350" dirty="0">
                <a:solidFill>
                  <a:srgbClr val="AAC1C7"/>
                </a:solidFill>
                <a:latin typeface="Calibri" pitchFamily="34" charset="0"/>
                <a:ea typeface="Calibri" pitchFamily="34" charset="-122"/>
                <a:cs typeface="Calibri" pitchFamily="34" charset="-120"/>
              </a:rPr>
              <a:t>Not a contract. A structured week that tells you more about us than any reference call would — and costs you a room and four of your officers.</a:t>
            </a:r>
            <a:endParaRPr lang="en-US" sz="1350" dirty="0"/>
          </a:p>
        </p:txBody>
      </p:sp>
      <p:sp>
        <p:nvSpPr>
          <p:cNvPr id="5" name="Shape 3"/>
          <p:cNvSpPr/>
          <p:nvPr/>
        </p:nvSpPr>
        <p:spPr>
          <a:xfrm>
            <a:off x="502920" y="2697480"/>
            <a:ext cx="3545738" cy="2057400"/>
          </a:xfrm>
          <a:prstGeom prst="roundRect">
            <a:avLst>
              <a:gd name="adj" fmla="val 2667"/>
            </a:avLst>
          </a:prstGeom>
          <a:solidFill>
            <a:srgbClr val="0F2A38"/>
          </a:solidFill>
          <a:ln w="12700">
            <a:solidFill>
              <a:srgbClr val="1C3F4F"/>
            </a:solidFill>
            <a:prstDash val="solid"/>
          </a:ln>
        </p:spPr>
      </p:sp>
      <p:sp>
        <p:nvSpPr>
          <p:cNvPr id="6" name="Text 4"/>
          <p:cNvSpPr/>
          <p:nvPr/>
        </p:nvSpPr>
        <p:spPr>
          <a:xfrm>
            <a:off x="740664" y="2880360"/>
            <a:ext cx="3070250" cy="219456"/>
          </a:xfrm>
          <a:prstGeom prst="rect">
            <a:avLst/>
          </a:prstGeom>
          <a:noFill/>
          <a:ln/>
        </p:spPr>
        <p:txBody>
          <a:bodyPr wrap="square" lIns="0" tIns="0" rIns="0" bIns="0" rtlCol="0" anchor="ctr"/>
          <a:lstStyle/>
          <a:p>
            <a:pPr indent="0" marL="0">
              <a:buNone/>
            </a:pPr>
            <a:r>
              <a:rPr lang="en-US" sz="900" b="1" spc="200" kern="0" dirty="0">
                <a:solidFill>
                  <a:srgbClr val="45BFC6"/>
                </a:solidFill>
                <a:latin typeface="Calibri" pitchFamily="34" charset="0"/>
                <a:ea typeface="Calibri" pitchFamily="34" charset="-122"/>
                <a:cs typeface="Calibri" pitchFamily="34" charset="-120"/>
              </a:rPr>
              <a:t>STEP ONE</a:t>
            </a:r>
            <a:endParaRPr lang="en-US" sz="900" dirty="0"/>
          </a:p>
        </p:txBody>
      </p:sp>
      <p:sp>
        <p:nvSpPr>
          <p:cNvPr id="7" name="Text 5"/>
          <p:cNvSpPr/>
          <p:nvPr/>
        </p:nvSpPr>
        <p:spPr>
          <a:xfrm>
            <a:off x="740664" y="3127248"/>
            <a:ext cx="3070250"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Two days with your officers</a:t>
            </a:r>
            <a:endParaRPr lang="en-US" sz="1500" dirty="0"/>
          </a:p>
        </p:txBody>
      </p:sp>
      <p:sp>
        <p:nvSpPr>
          <p:cNvPr id="8" name="Text 6"/>
          <p:cNvSpPr/>
          <p:nvPr/>
        </p:nvSpPr>
        <p:spPr>
          <a:xfrm>
            <a:off x="740664" y="3703320"/>
            <a:ext cx="3070250" cy="960120"/>
          </a:xfrm>
          <a:prstGeom prst="rect">
            <a:avLst/>
          </a:prstGeom>
          <a:noFill/>
          <a:ln/>
        </p:spPr>
        <p:txBody>
          <a:bodyPr wrap="square" lIns="0" tIns="0" rIns="0" bIns="0" rtlCol="0" anchor="t"/>
          <a:lstStyle/>
          <a:p>
            <a:pPr indent="0" marL="0">
              <a:lnSpc>
                <a:spcPct val="114000"/>
              </a:lnSpc>
              <a:buNone/>
            </a:pPr>
            <a:r>
              <a:rPr lang="en-US" sz="1050" dirty="0">
                <a:solidFill>
                  <a:srgbClr val="AAC1C7"/>
                </a:solidFill>
                <a:latin typeface="Calibri" pitchFamily="34" charset="0"/>
                <a:ea typeface="Calibri" pitchFamily="34" charset="-122"/>
                <a:cs typeface="Calibri" pitchFamily="34" charset="-120"/>
              </a:rPr>
              <a:t>Your service catalogue on the wall, marked live against Core / Configure / Extend / Build. You will see how we handle the services that do not fit — the only part that tells you anything.</a:t>
            </a:r>
            <a:endParaRPr lang="en-US" sz="1050" dirty="0"/>
          </a:p>
        </p:txBody>
      </p:sp>
      <p:sp>
        <p:nvSpPr>
          <p:cNvPr id="9" name="Shape 7"/>
          <p:cNvSpPr/>
          <p:nvPr/>
        </p:nvSpPr>
        <p:spPr>
          <a:xfrm>
            <a:off x="4322978" y="2697480"/>
            <a:ext cx="3545738" cy="2057400"/>
          </a:xfrm>
          <a:prstGeom prst="roundRect">
            <a:avLst>
              <a:gd name="adj" fmla="val 2667"/>
            </a:avLst>
          </a:prstGeom>
          <a:solidFill>
            <a:srgbClr val="0F2A38"/>
          </a:solidFill>
          <a:ln w="12700">
            <a:solidFill>
              <a:srgbClr val="1C3F4F"/>
            </a:solidFill>
            <a:prstDash val="solid"/>
          </a:ln>
        </p:spPr>
      </p:sp>
      <p:sp>
        <p:nvSpPr>
          <p:cNvPr id="10" name="Text 8"/>
          <p:cNvSpPr/>
          <p:nvPr/>
        </p:nvSpPr>
        <p:spPr>
          <a:xfrm>
            <a:off x="4560722" y="2880360"/>
            <a:ext cx="3070250" cy="219456"/>
          </a:xfrm>
          <a:prstGeom prst="rect">
            <a:avLst/>
          </a:prstGeom>
          <a:noFill/>
          <a:ln/>
        </p:spPr>
        <p:txBody>
          <a:bodyPr wrap="square" lIns="0" tIns="0" rIns="0" bIns="0" rtlCol="0" anchor="ctr"/>
          <a:lstStyle/>
          <a:p>
            <a:pPr indent="0" marL="0">
              <a:buNone/>
            </a:pPr>
            <a:r>
              <a:rPr lang="en-US" sz="900" b="1" spc="200" kern="0" dirty="0">
                <a:solidFill>
                  <a:srgbClr val="45BFC6"/>
                </a:solidFill>
                <a:latin typeface="Calibri" pitchFamily="34" charset="0"/>
                <a:ea typeface="Calibri" pitchFamily="34" charset="-122"/>
                <a:cs typeface="Calibri" pitchFamily="34" charset="-120"/>
              </a:rPr>
              <a:t>STEP TWO</a:t>
            </a:r>
            <a:endParaRPr lang="en-US" sz="900" dirty="0"/>
          </a:p>
        </p:txBody>
      </p:sp>
      <p:sp>
        <p:nvSpPr>
          <p:cNvPr id="11" name="Text 9"/>
          <p:cNvSpPr/>
          <p:nvPr/>
        </p:nvSpPr>
        <p:spPr>
          <a:xfrm>
            <a:off x="4560722" y="3127248"/>
            <a:ext cx="3070250"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Exit criteria, signed before we start</a:t>
            </a:r>
            <a:endParaRPr lang="en-US" sz="1500" dirty="0"/>
          </a:p>
        </p:txBody>
      </p:sp>
      <p:sp>
        <p:nvSpPr>
          <p:cNvPr id="12" name="Text 10"/>
          <p:cNvSpPr/>
          <p:nvPr/>
        </p:nvSpPr>
        <p:spPr>
          <a:xfrm>
            <a:off x="4560722" y="3703320"/>
            <a:ext cx="3070250" cy="960120"/>
          </a:xfrm>
          <a:prstGeom prst="rect">
            <a:avLst/>
          </a:prstGeom>
          <a:noFill/>
          <a:ln/>
        </p:spPr>
        <p:txBody>
          <a:bodyPr wrap="square" lIns="0" tIns="0" rIns="0" bIns="0" rtlCol="0" anchor="t"/>
          <a:lstStyle/>
          <a:p>
            <a:pPr indent="0" marL="0">
              <a:lnSpc>
                <a:spcPct val="114000"/>
              </a:lnSpc>
              <a:buNone/>
            </a:pPr>
            <a:r>
              <a:rPr lang="en-US" sz="1050" dirty="0">
                <a:solidFill>
                  <a:srgbClr val="AAC1C7"/>
                </a:solidFill>
                <a:latin typeface="Calibri" pitchFamily="34" charset="0"/>
                <a:ea typeface="Calibri" pitchFamily="34" charset="-122"/>
                <a:cs typeface="Calibri" pitchFamily="34" charset="-120"/>
              </a:rPr>
              <a:t>You choose the pilot service and define what success means in week 8. We do not get to mark our own work.</a:t>
            </a:r>
            <a:endParaRPr lang="en-US" sz="1050" dirty="0"/>
          </a:p>
        </p:txBody>
      </p:sp>
      <p:sp>
        <p:nvSpPr>
          <p:cNvPr id="13" name="Shape 11"/>
          <p:cNvSpPr/>
          <p:nvPr/>
        </p:nvSpPr>
        <p:spPr>
          <a:xfrm>
            <a:off x="8143037" y="2697480"/>
            <a:ext cx="3545738" cy="2057400"/>
          </a:xfrm>
          <a:prstGeom prst="roundRect">
            <a:avLst>
              <a:gd name="adj" fmla="val 2667"/>
            </a:avLst>
          </a:prstGeom>
          <a:solidFill>
            <a:srgbClr val="0F2A38"/>
          </a:solidFill>
          <a:ln w="12700">
            <a:solidFill>
              <a:srgbClr val="1C3F4F"/>
            </a:solidFill>
            <a:prstDash val="solid"/>
          </a:ln>
        </p:spPr>
      </p:sp>
      <p:sp>
        <p:nvSpPr>
          <p:cNvPr id="14" name="Text 12"/>
          <p:cNvSpPr/>
          <p:nvPr/>
        </p:nvSpPr>
        <p:spPr>
          <a:xfrm>
            <a:off x="8380781" y="2880360"/>
            <a:ext cx="3070250" cy="219456"/>
          </a:xfrm>
          <a:prstGeom prst="rect">
            <a:avLst/>
          </a:prstGeom>
          <a:noFill/>
          <a:ln/>
        </p:spPr>
        <p:txBody>
          <a:bodyPr wrap="square" lIns="0" tIns="0" rIns="0" bIns="0" rtlCol="0" anchor="ctr"/>
          <a:lstStyle/>
          <a:p>
            <a:pPr indent="0" marL="0">
              <a:buNone/>
            </a:pPr>
            <a:r>
              <a:rPr lang="en-US" sz="900" b="1" spc="200" kern="0" dirty="0">
                <a:solidFill>
                  <a:srgbClr val="E8B155"/>
                </a:solidFill>
                <a:latin typeface="Calibri" pitchFamily="34" charset="0"/>
                <a:ea typeface="Calibri" pitchFamily="34" charset="-122"/>
                <a:cs typeface="Calibri" pitchFamily="34" charset="-120"/>
              </a:rPr>
              <a:t>STEP THREE</a:t>
            </a:r>
            <a:endParaRPr lang="en-US" sz="900" dirty="0"/>
          </a:p>
        </p:txBody>
      </p:sp>
      <p:sp>
        <p:nvSpPr>
          <p:cNvPr id="15" name="Text 13"/>
          <p:cNvSpPr/>
          <p:nvPr/>
        </p:nvSpPr>
        <p:spPr>
          <a:xfrm>
            <a:off x="8380781" y="3127248"/>
            <a:ext cx="3070250" cy="5486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Proof of capability on your data</a:t>
            </a:r>
            <a:endParaRPr lang="en-US" sz="1500" dirty="0"/>
          </a:p>
        </p:txBody>
      </p:sp>
      <p:sp>
        <p:nvSpPr>
          <p:cNvPr id="16" name="Text 14"/>
          <p:cNvSpPr/>
          <p:nvPr/>
        </p:nvSpPr>
        <p:spPr>
          <a:xfrm>
            <a:off x="8380781" y="3703320"/>
            <a:ext cx="3070250" cy="960120"/>
          </a:xfrm>
          <a:prstGeom prst="rect">
            <a:avLst/>
          </a:prstGeom>
          <a:noFill/>
          <a:ln/>
        </p:spPr>
        <p:txBody>
          <a:bodyPr wrap="square" lIns="0" tIns="0" rIns="0" bIns="0" rtlCol="0" anchor="t"/>
          <a:lstStyle/>
          <a:p>
            <a:pPr indent="0" marL="0">
              <a:lnSpc>
                <a:spcPct val="114000"/>
              </a:lnSpc>
              <a:buNone/>
            </a:pPr>
            <a:r>
              <a:rPr lang="en-US" sz="1050" dirty="0">
                <a:solidFill>
                  <a:srgbClr val="AAC1C7"/>
                </a:solidFill>
                <a:latin typeface="Calibri" pitchFamily="34" charset="0"/>
                <a:ea typeface="Calibri" pitchFamily="34" charset="-122"/>
                <a:cs typeface="Calibri" pitchFamily="34" charset="-120"/>
              </a:rPr>
              <a:t>Eight weeks. One service, in your environment, with one agent in Tier 1. Then you decide about the programme — with evidence instead of a proposal.</a:t>
            </a:r>
            <a:endParaRPr lang="en-US" sz="1050" dirty="0"/>
          </a:p>
        </p:txBody>
      </p:sp>
      <p:sp>
        <p:nvSpPr>
          <p:cNvPr id="17" name="Text 15"/>
          <p:cNvSpPr/>
          <p:nvPr/>
        </p:nvSpPr>
        <p:spPr>
          <a:xfrm>
            <a:off x="502920" y="5074920"/>
            <a:ext cx="5033635"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argument in one line</a:t>
            </a:r>
            <a:endParaRPr lang="en-US" sz="1600" dirty="0"/>
          </a:p>
        </p:txBody>
      </p:sp>
      <p:sp>
        <p:nvSpPr>
          <p:cNvPr id="18" name="Text 16"/>
          <p:cNvSpPr/>
          <p:nvPr/>
        </p:nvSpPr>
        <p:spPr>
          <a:xfrm>
            <a:off x="502920" y="5394960"/>
            <a:ext cx="6264079" cy="731520"/>
          </a:xfrm>
          <a:prstGeom prst="rect">
            <a:avLst/>
          </a:prstGeom>
          <a:noFill/>
          <a:ln/>
        </p:spPr>
        <p:txBody>
          <a:bodyPr wrap="square" lIns="0" tIns="0" rIns="0" bIns="0" rtlCol="0" anchor="ctr"/>
          <a:lstStyle/>
          <a:p>
            <a:pPr indent="0" marL="0">
              <a:lnSpc>
                <a:spcPct val="118000"/>
              </a:lnSpc>
              <a:buNone/>
            </a:pPr>
            <a:r>
              <a:rPr lang="en-US" sz="1300" dirty="0">
                <a:solidFill>
                  <a:srgbClr val="45BFC6"/>
                </a:solidFill>
                <a:latin typeface="Calibri" pitchFamily="34" charset="0"/>
                <a:ea typeface="Calibri" pitchFamily="34" charset="-122"/>
                <a:cs typeface="Calibri" pitchFamily="34" charset="-120"/>
              </a:rPr>
              <a:t>The platform capability is real and demonstrable, the maritime track record is not yet there, and the proposal is built so that the second fact costs you nothing to verify.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Maritime Digital Platform</dc:title>
  <dc:subject>PptxGenJS Presentation</dc:subject>
  <dc:creator>Mobilise App Lab</dc:creator>
  <cp:lastModifiedBy>Mobilise App Lab</cp:lastModifiedBy>
  <cp:revision>1</cp:revision>
  <dcterms:created xsi:type="dcterms:W3CDTF">2026-08-23T06:19:22Z</dcterms:created>
  <dcterms:modified xsi:type="dcterms:W3CDTF">2026-08-23T06:19:22Z</dcterms:modified>
</cp:coreProperties>
</file>